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57" r:id="rId3"/>
    <p:sldId id="258" r:id="rId4"/>
    <p:sldId id="259" r:id="rId5"/>
    <p:sldId id="261" r:id="rId6"/>
    <p:sldId id="262" r:id="rId7"/>
    <p:sldId id="263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6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476F"/>
    <a:srgbClr val="FFD166"/>
    <a:srgbClr val="06D6A0"/>
    <a:srgbClr val="118AB2"/>
    <a:srgbClr val="073B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941" autoAdjust="0"/>
    <p:restoredTop sz="94660"/>
  </p:normalViewPr>
  <p:slideViewPr>
    <p:cSldViewPr snapToGrid="0" showGuides="1">
      <p:cViewPr varScale="1">
        <p:scale>
          <a:sx n="80" d="100"/>
          <a:sy n="80" d="100"/>
        </p:scale>
        <p:origin x="2165" y="58"/>
      </p:cViewPr>
      <p:guideLst>
        <p:guide orient="horz" pos="2160"/>
        <p:guide pos="26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5E9F5-796C-4080-B55D-A6A0F88300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84588C-6255-4107-A32D-8B5426538E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87BC0E-D968-44EF-85A6-B7559DEC6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C7608-D2BD-4DDE-8048-9354C7575B25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814382-88D1-467A-A493-C8E30BF16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C1942-9966-4C0F-A0A5-D7381E499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9BC97-CBB5-469E-A59B-0E68D922F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368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D2517-8854-4427-8265-6F0A15131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E1D4E-AFA1-4251-82DA-4DD6587FC5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9DAF0D-D885-4EC9-B1A8-57908861C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C7608-D2BD-4DDE-8048-9354C7575B25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79C31-8472-47A0-AC12-5D1E341F5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65869B-19FD-4BA4-82ED-0F6908DE1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9BC97-CBB5-469E-A59B-0E68D922F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050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B6062-217A-4DAD-B7FF-B46EE5F61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E481E4-53E4-4A80-9484-8BDE549F39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EEEBE8-49EE-4ED6-B889-5D10715E6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C7608-D2BD-4DDE-8048-9354C7575B25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BBB1EB-31A7-47FE-B36B-5C5BE5F07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7B735C-4409-4E1D-96D0-424AC7FBD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9BC97-CBB5-469E-A59B-0E68D922F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565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4CC1D-A0EB-44F2-9A03-037450A31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BCF0F-06D0-4E4B-888E-57EC7B60AE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12B54A-AED4-48C9-8901-B4E4E7D0D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E65E38-76AA-4D84-AE5B-2CA15DC89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C7608-D2BD-4DDE-8048-9354C7575B25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91031E-058F-42D8-8962-6757121DA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473A94-9085-4BA1-AFCF-6D8ED30E3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9BC97-CBB5-469E-A59B-0E68D922F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119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E45FC-8E4B-4F5C-88DC-631256C6B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F00260-6B70-4E6C-81F2-33778B4269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3BC3ED-4763-4C90-A348-BABDE20856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F3E03A-AEFB-4A4D-92E1-14B8A1881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EF54FD-D9ED-45FA-9AB7-3F4E186538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990922-6856-4940-AF50-E58BD9150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C7608-D2BD-4DDE-8048-9354C7575B25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7C3A9E-9CB2-4181-A510-760B1EF4B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8FF883-75F2-4225-B4C2-1716BB5AA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9BC97-CBB5-469E-A59B-0E68D922F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75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3FC0A-DEC4-412F-B6FD-505B033CE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E9E26D-FB66-46DF-ABD9-8CE7D87D7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C7608-D2BD-4DDE-8048-9354C7575B25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43876E-3CE9-4F47-9466-5B7108FF8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4C380E-D47D-45F4-A0E3-0413F4419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9BC97-CBB5-469E-A59B-0E68D922F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687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A8B198-B77A-4F16-9F33-CF828BA7C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C7608-D2BD-4DDE-8048-9354C7575B25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C1A510-F93F-4A9D-9B9A-807E617A4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01B9F6-E0FD-4540-B77C-05C37C7B1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9BC97-CBB5-469E-A59B-0E68D922FFA5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4EE5A2F5-15F8-4ADF-8F06-15BB9CDBC26A}"/>
              </a:ext>
            </a:extLst>
          </p:cNvPr>
          <p:cNvSpPr txBox="1">
            <a:spLocks/>
          </p:cNvSpPr>
          <p:nvPr userDrawn="1"/>
        </p:nvSpPr>
        <p:spPr>
          <a:xfrm>
            <a:off x="4191000" y="65087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Economica" panose="02000506040000020004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www.youtube.com/c/powerupwithpowerpoint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5774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728D1-77EC-402F-B9CE-351E64DD3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9AB4C-8C7D-4802-BBB2-22398E306E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80CA8E-80E8-476C-B757-72136081AD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34A274-F074-4742-BBC2-B7139A142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C7608-D2BD-4DDE-8048-9354C7575B25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0ECEBF-0A66-42F5-8173-59556257E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C6437E-B75F-4328-924D-D875D85DB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9BC97-CBB5-469E-A59B-0E68D922F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472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CDDB4-C887-40E1-ACA1-953FECBAB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E7C4A8-5BE9-4D69-9FBB-4733CE8A8A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5ED3E1-DD40-4EBC-8569-B51EBA5F62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93359C-2F7F-4206-8265-2F2DAB232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C7608-D2BD-4DDE-8048-9354C7575B25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CC234F-47FA-4AB2-ACC1-673F8EA05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378D0-ABDE-4516-86E3-B7794ECA5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9BC97-CBB5-469E-A59B-0E68D922F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049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811F4-D5D7-43D1-9A33-A4AED4FA1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E9242B-35F7-4F88-9BA0-828783D678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204E3B-EE2B-4946-978B-BA68AFF37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C7608-D2BD-4DDE-8048-9354C7575B25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B35CE8-1507-4DB1-AFD4-DDEA226F5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470E87-5621-4DD5-9F23-525387F75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9BC97-CBB5-469E-A59B-0E68D922F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363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9A704A-A4D4-45FA-91C7-DB018906E1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1635D8-0E8B-446C-9E02-3C170C1050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0C3E9F-3D36-4FD6-ABE3-1B55D8D41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C7608-D2BD-4DDE-8048-9354C7575B25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2459A0-B25C-4639-944D-5E40ED613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C5C9D-5D8F-4618-9B60-B97A80198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9BC97-CBB5-469E-A59B-0E68D922F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09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0F3135-259D-41E3-BEDC-C93B3675D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D1FC29-B80B-46FE-92EB-661ADB3B2E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166AA-236E-4CF6-864E-E1D43A158D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BC7608-D2BD-4DDE-8048-9354C7575B25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76CD3-3B0E-4248-9DC7-9261FBBFAD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3EED30-3B0F-4DD0-B5D3-179961C0F8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19BC97-CBB5-469E-A59B-0E68D922FF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182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Oval 53">
            <a:extLst>
              <a:ext uri="{FF2B5EF4-FFF2-40B4-BE49-F238E27FC236}">
                <a16:creationId xmlns:a16="http://schemas.microsoft.com/office/drawing/2014/main" id="{E75E415E-D168-4A64-BFEB-CF6E5E91C618}"/>
              </a:ext>
            </a:extLst>
          </p:cNvPr>
          <p:cNvSpPr/>
          <p:nvPr/>
        </p:nvSpPr>
        <p:spPr>
          <a:xfrm>
            <a:off x="14062340" y="7414998"/>
            <a:ext cx="3554083" cy="1174161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85000"/>
                  <a:alpha val="0"/>
                </a:schemeClr>
              </a:gs>
              <a:gs pos="95000">
                <a:schemeClr val="tx1">
                  <a:lumMod val="85000"/>
                  <a:lumOff val="15000"/>
                </a:schemeClr>
              </a:gs>
            </a:gsLst>
            <a:lin ang="0" scaled="1"/>
            <a:tileRect/>
          </a:gradFill>
          <a:ln>
            <a:noFill/>
          </a:ln>
          <a:effectLst>
            <a:softEdge rad="3048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59A91C9-5054-421D-8AB9-E071BA377352}"/>
              </a:ext>
            </a:extLst>
          </p:cNvPr>
          <p:cNvGrpSpPr/>
          <p:nvPr/>
        </p:nvGrpSpPr>
        <p:grpSpPr>
          <a:xfrm>
            <a:off x="15196201" y="6157606"/>
            <a:ext cx="3355676" cy="1400788"/>
            <a:chOff x="2038070" y="4505166"/>
            <a:chExt cx="3355676" cy="1400788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343157D5-4FF2-4FA1-9D59-419EF512DD63}"/>
                </a:ext>
              </a:extLst>
            </p:cNvPr>
            <p:cNvGrpSpPr/>
            <p:nvPr/>
          </p:nvGrpSpPr>
          <p:grpSpPr>
            <a:xfrm>
              <a:off x="2038070" y="4505166"/>
              <a:ext cx="3355676" cy="1400788"/>
              <a:chOff x="2596550" y="2775364"/>
              <a:chExt cx="4019910" cy="1678065"/>
            </a:xfrm>
            <a:scene3d>
              <a:camera prst="orthographicFront">
                <a:rot lat="0" lon="0" rev="19199999"/>
              </a:camera>
              <a:lightRig rig="threePt" dir="t"/>
            </a:scene3d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892C5BCC-B12D-4C7A-B111-34582936145D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B67A78B7-6B3D-456A-A208-4D26B1ABD8E3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1E2ED20F-42CC-4834-B53D-E458D5168208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EF476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475AEADC-907C-4D82-B7F4-153288554B19}"/>
                  </a:ext>
                </a:extLst>
              </p:cNvPr>
              <p:cNvSpPr/>
              <p:nvPr/>
            </p:nvSpPr>
            <p:spPr>
              <a:xfrm>
                <a:off x="2596550" y="2775364"/>
                <a:ext cx="4019910" cy="137394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alpha val="0"/>
                    </a:schemeClr>
                  </a:gs>
                  <a:gs pos="95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softEdge rad="266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4501ABC5-43E0-49AC-BC00-8C50BB95BF58}"/>
                </a:ext>
              </a:extLst>
            </p:cNvPr>
            <p:cNvSpPr txBox="1"/>
            <p:nvPr/>
          </p:nvSpPr>
          <p:spPr>
            <a:xfrm rot="2317436">
              <a:off x="3084625" y="5387604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EF476F"/>
                  </a:solidFill>
                  <a:latin typeface="Anton" panose="00000500000000000000" pitchFamily="2" charset="0"/>
                </a:rPr>
                <a:t>05</a:t>
              </a:r>
              <a:endParaRPr lang="en-US" sz="2000" spc="300" dirty="0">
                <a:solidFill>
                  <a:srgbClr val="EF476F"/>
                </a:solidFill>
                <a:latin typeface="Anton" panose="00000500000000000000" pitchFamily="2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0F3C0F4-B6E4-4C48-9EF4-98AD4F55FA69}"/>
              </a:ext>
            </a:extLst>
          </p:cNvPr>
          <p:cNvGrpSpPr/>
          <p:nvPr/>
        </p:nvGrpSpPr>
        <p:grpSpPr>
          <a:xfrm>
            <a:off x="15618096" y="5316231"/>
            <a:ext cx="3355676" cy="1400788"/>
            <a:chOff x="2459965" y="3663791"/>
            <a:chExt cx="3355676" cy="140078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A5F928E-6A3A-4AC3-B40D-78D692B6B9A6}"/>
                </a:ext>
              </a:extLst>
            </p:cNvPr>
            <p:cNvGrpSpPr/>
            <p:nvPr/>
          </p:nvGrpSpPr>
          <p:grpSpPr>
            <a:xfrm>
              <a:off x="2459965" y="3663791"/>
              <a:ext cx="3355676" cy="1400788"/>
              <a:chOff x="2596550" y="2775364"/>
              <a:chExt cx="4019910" cy="1678065"/>
            </a:xfrm>
            <a:scene3d>
              <a:camera prst="orthographicFront">
                <a:rot lat="0" lon="0" rev="20399999"/>
              </a:camera>
              <a:lightRig rig="threePt" dir="t"/>
            </a:scene3d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8B059B1-A6BA-41B1-862D-EFADE8A7E0E4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5A53785F-C2D2-4537-BF9E-41355E3DFB81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9D5353B7-0849-4523-BD12-172B32B20B51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FFD1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966420CD-FEF1-49EC-8302-619086DCC8A7}"/>
                  </a:ext>
                </a:extLst>
              </p:cNvPr>
              <p:cNvSpPr/>
              <p:nvPr/>
            </p:nvSpPr>
            <p:spPr>
              <a:xfrm>
                <a:off x="2596550" y="2775364"/>
                <a:ext cx="4019910" cy="137394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alpha val="0"/>
                    </a:schemeClr>
                  </a:gs>
                  <a:gs pos="95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softEdge rad="266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18C98E25-E4E3-49C9-BF77-2540DFCDED07}"/>
                </a:ext>
              </a:extLst>
            </p:cNvPr>
            <p:cNvSpPr txBox="1"/>
            <p:nvPr/>
          </p:nvSpPr>
          <p:spPr>
            <a:xfrm rot="962716">
              <a:off x="3693611" y="4653891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FFD166"/>
                  </a:solidFill>
                  <a:latin typeface="Anton" panose="00000500000000000000" pitchFamily="2" charset="0"/>
                </a:rPr>
                <a:t>04</a:t>
              </a:r>
              <a:endParaRPr lang="en-US" sz="2000" spc="300" dirty="0">
                <a:solidFill>
                  <a:srgbClr val="FFD166"/>
                </a:solidFill>
                <a:latin typeface="Anton" panose="00000500000000000000" pitchFamily="2" charset="0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A1592EFB-3A7E-45D6-A98E-2179EC9E0047}"/>
              </a:ext>
            </a:extLst>
          </p:cNvPr>
          <p:cNvGrpSpPr/>
          <p:nvPr/>
        </p:nvGrpSpPr>
        <p:grpSpPr>
          <a:xfrm>
            <a:off x="15747493" y="4381046"/>
            <a:ext cx="3355676" cy="1400788"/>
            <a:chOff x="2589362" y="2728606"/>
            <a:chExt cx="3355676" cy="1400788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F3D935D-0ECA-4D6F-BEFE-A1CB93FD10E7}"/>
                </a:ext>
              </a:extLst>
            </p:cNvPr>
            <p:cNvGrpSpPr/>
            <p:nvPr/>
          </p:nvGrpSpPr>
          <p:grpSpPr>
            <a:xfrm>
              <a:off x="2589362" y="2728606"/>
              <a:ext cx="3355676" cy="1400788"/>
              <a:chOff x="2596550" y="2775364"/>
              <a:chExt cx="4019910" cy="1678065"/>
            </a:xfrm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561C2D06-12A5-43AC-90FD-8DE901D4A5A9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1DACD449-33AF-4702-91CF-490058943DF5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97505746-BE53-4BA7-8480-35238ED37367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06D6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F200FD4-1487-46E5-900E-DE692E1F5E2C}"/>
                  </a:ext>
                </a:extLst>
              </p:cNvPr>
              <p:cNvSpPr/>
              <p:nvPr/>
            </p:nvSpPr>
            <p:spPr>
              <a:xfrm>
                <a:off x="2596550" y="2775364"/>
                <a:ext cx="4019910" cy="137394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alpha val="0"/>
                    </a:schemeClr>
                  </a:gs>
                  <a:gs pos="95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softEdge rad="266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A80DC888-46C4-49C5-8C75-8CDF81E54FAC}"/>
                </a:ext>
              </a:extLst>
            </p:cNvPr>
            <p:cNvSpPr txBox="1"/>
            <p:nvPr/>
          </p:nvSpPr>
          <p:spPr>
            <a:xfrm>
              <a:off x="3908292" y="3708324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06D6A0"/>
                  </a:solidFill>
                  <a:latin typeface="Anton" panose="00000500000000000000" pitchFamily="2" charset="0"/>
                </a:rPr>
                <a:t>03</a:t>
              </a:r>
              <a:endParaRPr lang="en-US" sz="2000" spc="300" dirty="0">
                <a:solidFill>
                  <a:srgbClr val="06D6A0"/>
                </a:solidFill>
                <a:latin typeface="Anton" panose="00000500000000000000" pitchFamily="2" charset="0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02B6B8B-8297-4273-8010-61142DF79695}"/>
              </a:ext>
            </a:extLst>
          </p:cNvPr>
          <p:cNvGrpSpPr/>
          <p:nvPr/>
        </p:nvGrpSpPr>
        <p:grpSpPr>
          <a:xfrm>
            <a:off x="15534662" y="3456477"/>
            <a:ext cx="3355676" cy="1428965"/>
            <a:chOff x="2376531" y="1804037"/>
            <a:chExt cx="3355676" cy="1428965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62C35E0C-2906-4AAF-8057-3A40B59EE48B}"/>
                </a:ext>
              </a:extLst>
            </p:cNvPr>
            <p:cNvGrpSpPr/>
            <p:nvPr/>
          </p:nvGrpSpPr>
          <p:grpSpPr>
            <a:xfrm>
              <a:off x="2376531" y="1804037"/>
              <a:ext cx="3355676" cy="1400788"/>
              <a:chOff x="2596550" y="2775364"/>
              <a:chExt cx="4019910" cy="1678065"/>
            </a:xfrm>
            <a:scene3d>
              <a:camera prst="orthographicFront">
                <a:rot lat="0" lon="0" rev="1200000"/>
              </a:camera>
              <a:lightRig rig="threePt" dir="t"/>
            </a:scene3d>
          </p:grpSpPr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129D9395-4F7F-469C-A275-CFE0E62E8CDB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A3AAFBC9-A40E-444C-AE46-4536C94E12FD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2BA9BCEE-9897-4C90-A035-492954969E3F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118A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3C0E6B84-CBA1-4654-8281-81A3F63EE4B8}"/>
                  </a:ext>
                </a:extLst>
              </p:cNvPr>
              <p:cNvSpPr/>
              <p:nvPr/>
            </p:nvSpPr>
            <p:spPr>
              <a:xfrm>
                <a:off x="2596550" y="2775364"/>
                <a:ext cx="4019910" cy="137394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alpha val="0"/>
                    </a:schemeClr>
                  </a:gs>
                  <a:gs pos="95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softEdge rad="266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0CBCCC58-A312-4FD0-A98A-20092941C790}"/>
                </a:ext>
              </a:extLst>
            </p:cNvPr>
            <p:cNvSpPr txBox="1"/>
            <p:nvPr/>
          </p:nvSpPr>
          <p:spPr>
            <a:xfrm rot="20409358">
              <a:off x="3733524" y="2832892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118AB2"/>
                  </a:solidFill>
                  <a:latin typeface="Anton" panose="00000500000000000000" pitchFamily="2" charset="0"/>
                </a:rPr>
                <a:t>02</a:t>
              </a:r>
              <a:endParaRPr lang="en-US" sz="2000" spc="300" dirty="0">
                <a:solidFill>
                  <a:srgbClr val="118AB2"/>
                </a:solidFill>
                <a:latin typeface="Anton" panose="00000500000000000000" pitchFamily="2" charset="0"/>
              </a:endParaRPr>
            </a:p>
          </p:txBody>
        </p:sp>
      </p:grp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11DDBD69-51C5-405D-BBBA-9C98635472A7}"/>
              </a:ext>
            </a:extLst>
          </p:cNvPr>
          <p:cNvCxnSpPr/>
          <p:nvPr/>
        </p:nvCxnSpPr>
        <p:spPr>
          <a:xfrm>
            <a:off x="12861843" y="2168644"/>
            <a:ext cx="2035978" cy="0"/>
          </a:xfrm>
          <a:prstGeom prst="line">
            <a:avLst/>
          </a:prstGeom>
          <a:ln w="19050">
            <a:solidFill>
              <a:srgbClr val="073B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B322033C-947B-45E0-B7B9-C72EDFB8F841}"/>
              </a:ext>
            </a:extLst>
          </p:cNvPr>
          <p:cNvCxnSpPr/>
          <p:nvPr/>
        </p:nvCxnSpPr>
        <p:spPr>
          <a:xfrm>
            <a:off x="12550594" y="3753030"/>
            <a:ext cx="2035978" cy="0"/>
          </a:xfrm>
          <a:prstGeom prst="line">
            <a:avLst/>
          </a:prstGeom>
          <a:ln w="19050">
            <a:solidFill>
              <a:srgbClr val="118A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5A413F8D-A016-4F17-9D7E-67A113EEAEB9}"/>
              </a:ext>
            </a:extLst>
          </p:cNvPr>
          <p:cNvCxnSpPr/>
          <p:nvPr/>
        </p:nvCxnSpPr>
        <p:spPr>
          <a:xfrm>
            <a:off x="12663213" y="5360150"/>
            <a:ext cx="2035978" cy="0"/>
          </a:xfrm>
          <a:prstGeom prst="line">
            <a:avLst/>
          </a:prstGeom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CE59764A-0547-492E-ADF3-0F1B714FE7D4}"/>
              </a:ext>
            </a:extLst>
          </p:cNvPr>
          <p:cNvCxnSpPr/>
          <p:nvPr/>
        </p:nvCxnSpPr>
        <p:spPr>
          <a:xfrm>
            <a:off x="12550594" y="6398030"/>
            <a:ext cx="2035978" cy="0"/>
          </a:xfrm>
          <a:prstGeom prst="line">
            <a:avLst/>
          </a:prstGeom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D08ABF5C-1D62-4495-AB80-6BAD31305015}"/>
              </a:ext>
            </a:extLst>
          </p:cNvPr>
          <p:cNvCxnSpPr/>
          <p:nvPr/>
        </p:nvCxnSpPr>
        <p:spPr>
          <a:xfrm>
            <a:off x="12550594" y="7187534"/>
            <a:ext cx="2035978" cy="0"/>
          </a:xfrm>
          <a:prstGeom prst="line">
            <a:avLst/>
          </a:prstGeom>
          <a:ln w="19050">
            <a:solidFill>
              <a:srgbClr val="EF47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F4173C33-F9C9-4068-BCB2-D6F11BAD3815}"/>
              </a:ext>
            </a:extLst>
          </p:cNvPr>
          <p:cNvGrpSpPr/>
          <p:nvPr/>
        </p:nvGrpSpPr>
        <p:grpSpPr>
          <a:xfrm>
            <a:off x="15240705" y="2916228"/>
            <a:ext cx="2553613" cy="1285380"/>
            <a:chOff x="2082574" y="1263788"/>
            <a:chExt cx="2553613" cy="1285380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454B8B73-02CD-45F2-A244-9B42C0DCFA48}"/>
                </a:ext>
              </a:extLst>
            </p:cNvPr>
            <p:cNvGrpSpPr/>
            <p:nvPr/>
          </p:nvGrpSpPr>
          <p:grpSpPr>
            <a:xfrm>
              <a:off x="2082574" y="1263788"/>
              <a:ext cx="2553613" cy="1285380"/>
              <a:chOff x="2737657" y="2913616"/>
              <a:chExt cx="3059084" cy="1539813"/>
            </a:xfrm>
            <a:scene3d>
              <a:camera prst="orthographicFront">
                <a:rot lat="0" lon="0" rev="2400000"/>
              </a:camera>
              <a:lightRig rig="threePt" dir="t"/>
            </a:scene3d>
          </p:grpSpPr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8F70A12A-955A-44CA-AD14-CF775C1316A4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EE2BC23F-E057-433F-AD42-8B238FA1B9CC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2ED7E8C7-0ACF-4CBA-A6AE-5E93363CFD54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073B4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21B79F32-9457-46C6-9309-0F1ECB18C1F2}"/>
                </a:ext>
              </a:extLst>
            </p:cNvPr>
            <p:cNvSpPr txBox="1"/>
            <p:nvPr/>
          </p:nvSpPr>
          <p:spPr>
            <a:xfrm rot="19173824">
              <a:off x="3304028" y="2073478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073B4C"/>
                  </a:solidFill>
                  <a:latin typeface="Anton" panose="00000500000000000000" pitchFamily="2" charset="0"/>
                </a:rPr>
                <a:t>01</a:t>
              </a:r>
              <a:endParaRPr lang="en-US" sz="2000" spc="300" dirty="0">
                <a:solidFill>
                  <a:srgbClr val="073B4C"/>
                </a:solidFill>
                <a:latin typeface="Anton" panose="00000500000000000000" pitchFamily="2" charset="0"/>
              </a:endParaRPr>
            </a:p>
          </p:txBody>
        </p:sp>
      </p:grpSp>
      <p:sp>
        <p:nvSpPr>
          <p:cNvPr id="149" name="TextBox 148">
            <a:extLst>
              <a:ext uri="{FF2B5EF4-FFF2-40B4-BE49-F238E27FC236}">
                <a16:creationId xmlns:a16="http://schemas.microsoft.com/office/drawing/2014/main" id="{55182AE9-631D-4DC8-BB96-2460DA99BD6D}"/>
              </a:ext>
            </a:extLst>
          </p:cNvPr>
          <p:cNvSpPr txBox="1"/>
          <p:nvPr/>
        </p:nvSpPr>
        <p:spPr>
          <a:xfrm>
            <a:off x="13233761" y="1089862"/>
            <a:ext cx="1962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073B4C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PROPONENTS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EBADC8B7-E6F2-4DE6-A5B6-756A57DE88DE}"/>
              </a:ext>
            </a:extLst>
          </p:cNvPr>
          <p:cNvSpPr txBox="1"/>
          <p:nvPr/>
        </p:nvSpPr>
        <p:spPr>
          <a:xfrm>
            <a:off x="12861843" y="2418702"/>
            <a:ext cx="1962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118AB2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RATIONALE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5EEE4FEB-1D13-46C0-B11F-64AE2B6474EB}"/>
              </a:ext>
            </a:extLst>
          </p:cNvPr>
          <p:cNvSpPr txBox="1"/>
          <p:nvPr/>
        </p:nvSpPr>
        <p:spPr>
          <a:xfrm>
            <a:off x="12736751" y="4129394"/>
            <a:ext cx="1962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06D6A0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OBJECTIVES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1135AB04-9581-4CE2-8074-1E0A50C351D4}"/>
              </a:ext>
            </a:extLst>
          </p:cNvPr>
          <p:cNvSpPr txBox="1"/>
          <p:nvPr/>
        </p:nvSpPr>
        <p:spPr>
          <a:xfrm>
            <a:off x="12736751" y="5652083"/>
            <a:ext cx="21610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FFD166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SCOPE AND LIMITATION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3AC86DB6-6075-4A43-BF54-11BD4D3DC9C1}"/>
              </a:ext>
            </a:extLst>
          </p:cNvPr>
          <p:cNvSpPr txBox="1"/>
          <p:nvPr/>
        </p:nvSpPr>
        <p:spPr>
          <a:xfrm>
            <a:off x="12365243" y="7461003"/>
            <a:ext cx="1962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EF476F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METHODOLOGY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A1EDEF-FC10-4312-B134-CA6096982D3B}"/>
              </a:ext>
            </a:extLst>
          </p:cNvPr>
          <p:cNvSpPr/>
          <p:nvPr/>
        </p:nvSpPr>
        <p:spPr>
          <a:xfrm>
            <a:off x="4424075" y="6603896"/>
            <a:ext cx="3608487" cy="2266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2C2E86-A043-4A7A-B2D3-F3FA78EF4CA6}"/>
              </a:ext>
            </a:extLst>
          </p:cNvPr>
          <p:cNvSpPr txBox="1"/>
          <p:nvPr/>
        </p:nvSpPr>
        <p:spPr>
          <a:xfrm>
            <a:off x="2647320" y="7630280"/>
            <a:ext cx="6457391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9997" algn="ctr" rtl="0">
              <a:spcBef>
                <a:spcPts val="0"/>
              </a:spcBef>
              <a:spcAft>
                <a:spcPts val="0"/>
              </a:spcAft>
            </a:pPr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SkoLide: An AI-Powered Presentation Generator with Prompt-Based Intelligent Content Creation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  <a:endParaRPr lang="en-US" sz="2800" b="0" dirty="0">
              <a:effectLst/>
            </a:endParaRPr>
          </a:p>
          <a:p>
            <a:br>
              <a:rPr lang="en-US" dirty="0"/>
            </a:b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C1F73AE-FE43-4DA7-8AA3-8D1AF0A82A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5355" y="577683"/>
            <a:ext cx="5833419" cy="5807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4869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Oval 53">
            <a:extLst>
              <a:ext uri="{FF2B5EF4-FFF2-40B4-BE49-F238E27FC236}">
                <a16:creationId xmlns:a16="http://schemas.microsoft.com/office/drawing/2014/main" id="{E75E415E-D168-4A64-BFEB-CF6E5E91C618}"/>
              </a:ext>
            </a:extLst>
          </p:cNvPr>
          <p:cNvSpPr/>
          <p:nvPr/>
        </p:nvSpPr>
        <p:spPr>
          <a:xfrm>
            <a:off x="6350158" y="5065002"/>
            <a:ext cx="3554083" cy="1174161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85000"/>
                  <a:alpha val="0"/>
                </a:schemeClr>
              </a:gs>
              <a:gs pos="95000">
                <a:schemeClr val="tx1">
                  <a:lumMod val="85000"/>
                  <a:lumOff val="15000"/>
                </a:schemeClr>
              </a:gs>
            </a:gsLst>
            <a:lin ang="0" scaled="1"/>
            <a:tileRect/>
          </a:gradFill>
          <a:ln>
            <a:noFill/>
          </a:ln>
          <a:effectLst>
            <a:softEdge rad="3048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59A91C9-5054-421D-8AB9-E071BA377352}"/>
              </a:ext>
            </a:extLst>
          </p:cNvPr>
          <p:cNvGrpSpPr/>
          <p:nvPr/>
        </p:nvGrpSpPr>
        <p:grpSpPr>
          <a:xfrm>
            <a:off x="7458117" y="4168344"/>
            <a:ext cx="3355676" cy="1400788"/>
            <a:chOff x="2038070" y="4505166"/>
            <a:chExt cx="3355676" cy="1400788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343157D5-4FF2-4FA1-9D59-419EF512DD63}"/>
                </a:ext>
              </a:extLst>
            </p:cNvPr>
            <p:cNvGrpSpPr/>
            <p:nvPr/>
          </p:nvGrpSpPr>
          <p:grpSpPr>
            <a:xfrm>
              <a:off x="2038070" y="4505166"/>
              <a:ext cx="3355676" cy="1400788"/>
              <a:chOff x="2596550" y="2775364"/>
              <a:chExt cx="4019910" cy="1678065"/>
            </a:xfrm>
            <a:scene3d>
              <a:camera prst="orthographicFront">
                <a:rot lat="0" lon="0" rev="19199999"/>
              </a:camera>
              <a:lightRig rig="threePt" dir="t"/>
            </a:scene3d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892C5BCC-B12D-4C7A-B111-34582936145D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B67A78B7-6B3D-456A-A208-4D26B1ABD8E3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1E2ED20F-42CC-4834-B53D-E458D5168208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EF476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475AEADC-907C-4D82-B7F4-153288554B19}"/>
                  </a:ext>
                </a:extLst>
              </p:cNvPr>
              <p:cNvSpPr/>
              <p:nvPr/>
            </p:nvSpPr>
            <p:spPr>
              <a:xfrm>
                <a:off x="2596550" y="2775364"/>
                <a:ext cx="4019910" cy="137394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alpha val="0"/>
                    </a:schemeClr>
                  </a:gs>
                  <a:gs pos="95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softEdge rad="266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4501ABC5-43E0-49AC-BC00-8C50BB95BF58}"/>
                </a:ext>
              </a:extLst>
            </p:cNvPr>
            <p:cNvSpPr txBox="1"/>
            <p:nvPr/>
          </p:nvSpPr>
          <p:spPr>
            <a:xfrm rot="2317436">
              <a:off x="3084625" y="5387604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EF476F"/>
                  </a:solidFill>
                  <a:latin typeface="Anton" panose="00000500000000000000" pitchFamily="2" charset="0"/>
                </a:rPr>
                <a:t>05</a:t>
              </a:r>
              <a:endParaRPr lang="en-US" sz="2000" spc="300" dirty="0">
                <a:solidFill>
                  <a:srgbClr val="EF476F"/>
                </a:solidFill>
                <a:latin typeface="Anton" panose="00000500000000000000" pitchFamily="2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0F3C0F4-B6E4-4C48-9EF4-98AD4F55FA69}"/>
              </a:ext>
            </a:extLst>
          </p:cNvPr>
          <p:cNvGrpSpPr/>
          <p:nvPr/>
        </p:nvGrpSpPr>
        <p:grpSpPr>
          <a:xfrm>
            <a:off x="7880012" y="3326969"/>
            <a:ext cx="3355676" cy="1400788"/>
            <a:chOff x="2459965" y="3663791"/>
            <a:chExt cx="3355676" cy="140078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A5F928E-6A3A-4AC3-B40D-78D692B6B9A6}"/>
                </a:ext>
              </a:extLst>
            </p:cNvPr>
            <p:cNvGrpSpPr/>
            <p:nvPr/>
          </p:nvGrpSpPr>
          <p:grpSpPr>
            <a:xfrm>
              <a:off x="2459965" y="3663791"/>
              <a:ext cx="3355676" cy="1400788"/>
              <a:chOff x="2596550" y="2775364"/>
              <a:chExt cx="4019910" cy="1678065"/>
            </a:xfrm>
            <a:scene3d>
              <a:camera prst="orthographicFront">
                <a:rot lat="0" lon="0" rev="20399999"/>
              </a:camera>
              <a:lightRig rig="threePt" dir="t"/>
            </a:scene3d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8B059B1-A6BA-41B1-862D-EFADE8A7E0E4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5A53785F-C2D2-4537-BF9E-41355E3DFB81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9D5353B7-0849-4523-BD12-172B32B20B51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FFD1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966420CD-FEF1-49EC-8302-619086DCC8A7}"/>
                  </a:ext>
                </a:extLst>
              </p:cNvPr>
              <p:cNvSpPr/>
              <p:nvPr/>
            </p:nvSpPr>
            <p:spPr>
              <a:xfrm>
                <a:off x="2596550" y="2775364"/>
                <a:ext cx="4019910" cy="137394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alpha val="0"/>
                    </a:schemeClr>
                  </a:gs>
                  <a:gs pos="95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softEdge rad="266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18C98E25-E4E3-49C9-BF77-2540DFCDED07}"/>
                </a:ext>
              </a:extLst>
            </p:cNvPr>
            <p:cNvSpPr txBox="1"/>
            <p:nvPr/>
          </p:nvSpPr>
          <p:spPr>
            <a:xfrm rot="962716">
              <a:off x="3693611" y="4653891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FFD166"/>
                  </a:solidFill>
                  <a:latin typeface="Anton" panose="00000500000000000000" pitchFamily="2" charset="0"/>
                </a:rPr>
                <a:t>04</a:t>
              </a:r>
              <a:endParaRPr lang="en-US" sz="2000" spc="300" dirty="0">
                <a:solidFill>
                  <a:srgbClr val="FFD166"/>
                </a:solidFill>
                <a:latin typeface="Anton" panose="00000500000000000000" pitchFamily="2" charset="0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A1592EFB-3A7E-45D6-A98E-2179EC9E0047}"/>
              </a:ext>
            </a:extLst>
          </p:cNvPr>
          <p:cNvGrpSpPr/>
          <p:nvPr/>
        </p:nvGrpSpPr>
        <p:grpSpPr>
          <a:xfrm>
            <a:off x="8009409" y="2391784"/>
            <a:ext cx="3355676" cy="1400788"/>
            <a:chOff x="2589362" y="2728606"/>
            <a:chExt cx="3355676" cy="1400788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F3D935D-0ECA-4D6F-BEFE-A1CB93FD10E7}"/>
                </a:ext>
              </a:extLst>
            </p:cNvPr>
            <p:cNvGrpSpPr/>
            <p:nvPr/>
          </p:nvGrpSpPr>
          <p:grpSpPr>
            <a:xfrm>
              <a:off x="2589362" y="2728606"/>
              <a:ext cx="3355676" cy="1400788"/>
              <a:chOff x="2596550" y="2775364"/>
              <a:chExt cx="4019910" cy="1678065"/>
            </a:xfrm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561C2D06-12A5-43AC-90FD-8DE901D4A5A9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1DACD449-33AF-4702-91CF-490058943DF5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97505746-BE53-4BA7-8480-35238ED37367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06D6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F200FD4-1487-46E5-900E-DE692E1F5E2C}"/>
                  </a:ext>
                </a:extLst>
              </p:cNvPr>
              <p:cNvSpPr/>
              <p:nvPr/>
            </p:nvSpPr>
            <p:spPr>
              <a:xfrm>
                <a:off x="2596550" y="2775364"/>
                <a:ext cx="4019910" cy="137394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alpha val="0"/>
                    </a:schemeClr>
                  </a:gs>
                  <a:gs pos="95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softEdge rad="266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A80DC888-46C4-49C5-8C75-8CDF81E54FAC}"/>
                </a:ext>
              </a:extLst>
            </p:cNvPr>
            <p:cNvSpPr txBox="1"/>
            <p:nvPr/>
          </p:nvSpPr>
          <p:spPr>
            <a:xfrm>
              <a:off x="3908292" y="3708324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06D6A0"/>
                  </a:solidFill>
                  <a:latin typeface="Anton" panose="00000500000000000000" pitchFamily="2" charset="0"/>
                </a:rPr>
                <a:t>03</a:t>
              </a:r>
              <a:endParaRPr lang="en-US" sz="2000" spc="300" dirty="0">
                <a:solidFill>
                  <a:srgbClr val="06D6A0"/>
                </a:solidFill>
                <a:latin typeface="Anton" panose="00000500000000000000" pitchFamily="2" charset="0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02B6B8B-8297-4273-8010-61142DF79695}"/>
              </a:ext>
            </a:extLst>
          </p:cNvPr>
          <p:cNvGrpSpPr/>
          <p:nvPr/>
        </p:nvGrpSpPr>
        <p:grpSpPr>
          <a:xfrm>
            <a:off x="7796578" y="1467215"/>
            <a:ext cx="3355676" cy="1428965"/>
            <a:chOff x="2376531" y="1804037"/>
            <a:chExt cx="3355676" cy="1428965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62C35E0C-2906-4AAF-8057-3A40B59EE48B}"/>
                </a:ext>
              </a:extLst>
            </p:cNvPr>
            <p:cNvGrpSpPr/>
            <p:nvPr/>
          </p:nvGrpSpPr>
          <p:grpSpPr>
            <a:xfrm>
              <a:off x="2376531" y="1804037"/>
              <a:ext cx="3355676" cy="1400788"/>
              <a:chOff x="2596550" y="2775364"/>
              <a:chExt cx="4019910" cy="1678065"/>
            </a:xfrm>
            <a:scene3d>
              <a:camera prst="orthographicFront">
                <a:rot lat="0" lon="0" rev="1200000"/>
              </a:camera>
              <a:lightRig rig="threePt" dir="t"/>
            </a:scene3d>
          </p:grpSpPr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129D9395-4F7F-469C-A275-CFE0E62E8CDB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A3AAFBC9-A40E-444C-AE46-4536C94E12FD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2BA9BCEE-9897-4C90-A035-492954969E3F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118A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3C0E6B84-CBA1-4654-8281-81A3F63EE4B8}"/>
                  </a:ext>
                </a:extLst>
              </p:cNvPr>
              <p:cNvSpPr/>
              <p:nvPr/>
            </p:nvSpPr>
            <p:spPr>
              <a:xfrm>
                <a:off x="2596550" y="2775364"/>
                <a:ext cx="4019910" cy="137394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alpha val="0"/>
                    </a:schemeClr>
                  </a:gs>
                  <a:gs pos="95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softEdge rad="266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0CBCCC58-A312-4FD0-A98A-20092941C790}"/>
                </a:ext>
              </a:extLst>
            </p:cNvPr>
            <p:cNvSpPr txBox="1"/>
            <p:nvPr/>
          </p:nvSpPr>
          <p:spPr>
            <a:xfrm rot="20409358">
              <a:off x="3733524" y="2832892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118AB2"/>
                  </a:solidFill>
                  <a:latin typeface="Anton" panose="00000500000000000000" pitchFamily="2" charset="0"/>
                </a:rPr>
                <a:t>02</a:t>
              </a:r>
              <a:endParaRPr lang="en-US" sz="2000" spc="300" dirty="0">
                <a:solidFill>
                  <a:srgbClr val="118AB2"/>
                </a:solidFill>
                <a:latin typeface="Anton" panose="00000500000000000000" pitchFamily="2" charset="0"/>
              </a:endParaRPr>
            </a:p>
          </p:txBody>
        </p:sp>
      </p:grp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11DDBD69-51C5-405D-BBBA-9C98635472A7}"/>
              </a:ext>
            </a:extLst>
          </p:cNvPr>
          <p:cNvCxnSpPr/>
          <p:nvPr/>
        </p:nvCxnSpPr>
        <p:spPr>
          <a:xfrm>
            <a:off x="12861843" y="2168644"/>
            <a:ext cx="2035978" cy="0"/>
          </a:xfrm>
          <a:prstGeom prst="line">
            <a:avLst/>
          </a:prstGeom>
          <a:ln w="19050">
            <a:solidFill>
              <a:srgbClr val="073B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B322033C-947B-45E0-B7B9-C72EDFB8F841}"/>
              </a:ext>
            </a:extLst>
          </p:cNvPr>
          <p:cNvCxnSpPr/>
          <p:nvPr/>
        </p:nvCxnSpPr>
        <p:spPr>
          <a:xfrm>
            <a:off x="12550594" y="3753030"/>
            <a:ext cx="2035978" cy="0"/>
          </a:xfrm>
          <a:prstGeom prst="line">
            <a:avLst/>
          </a:prstGeom>
          <a:ln w="19050">
            <a:solidFill>
              <a:srgbClr val="118A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5A413F8D-A016-4F17-9D7E-67A113EEAEB9}"/>
              </a:ext>
            </a:extLst>
          </p:cNvPr>
          <p:cNvCxnSpPr/>
          <p:nvPr/>
        </p:nvCxnSpPr>
        <p:spPr>
          <a:xfrm>
            <a:off x="12663213" y="5360150"/>
            <a:ext cx="2035978" cy="0"/>
          </a:xfrm>
          <a:prstGeom prst="line">
            <a:avLst/>
          </a:prstGeom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CE59764A-0547-492E-ADF3-0F1B714FE7D4}"/>
              </a:ext>
            </a:extLst>
          </p:cNvPr>
          <p:cNvCxnSpPr/>
          <p:nvPr/>
        </p:nvCxnSpPr>
        <p:spPr>
          <a:xfrm>
            <a:off x="12550594" y="6398030"/>
            <a:ext cx="2035978" cy="0"/>
          </a:xfrm>
          <a:prstGeom prst="line">
            <a:avLst/>
          </a:prstGeom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D08ABF5C-1D62-4495-AB80-6BAD31305015}"/>
              </a:ext>
            </a:extLst>
          </p:cNvPr>
          <p:cNvCxnSpPr/>
          <p:nvPr/>
        </p:nvCxnSpPr>
        <p:spPr>
          <a:xfrm>
            <a:off x="12550594" y="7187534"/>
            <a:ext cx="2035978" cy="0"/>
          </a:xfrm>
          <a:prstGeom prst="line">
            <a:avLst/>
          </a:prstGeom>
          <a:ln w="19050">
            <a:solidFill>
              <a:srgbClr val="EF47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F4173C33-F9C9-4068-BCB2-D6F11BAD3815}"/>
              </a:ext>
            </a:extLst>
          </p:cNvPr>
          <p:cNvGrpSpPr/>
          <p:nvPr/>
        </p:nvGrpSpPr>
        <p:grpSpPr>
          <a:xfrm>
            <a:off x="7502621" y="926966"/>
            <a:ext cx="2553613" cy="1285380"/>
            <a:chOff x="2082574" y="1263788"/>
            <a:chExt cx="2553613" cy="1285380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454B8B73-02CD-45F2-A244-9B42C0DCFA48}"/>
                </a:ext>
              </a:extLst>
            </p:cNvPr>
            <p:cNvGrpSpPr/>
            <p:nvPr/>
          </p:nvGrpSpPr>
          <p:grpSpPr>
            <a:xfrm>
              <a:off x="2082574" y="1263788"/>
              <a:ext cx="2553613" cy="1285380"/>
              <a:chOff x="2737657" y="2913616"/>
              <a:chExt cx="3059084" cy="1539813"/>
            </a:xfrm>
            <a:scene3d>
              <a:camera prst="orthographicFront">
                <a:rot lat="0" lon="0" rev="2400000"/>
              </a:camera>
              <a:lightRig rig="threePt" dir="t"/>
            </a:scene3d>
          </p:grpSpPr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8F70A12A-955A-44CA-AD14-CF775C1316A4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EE2BC23F-E057-433F-AD42-8B238FA1B9CC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2ED7E8C7-0ACF-4CBA-A6AE-5E93363CFD54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073B4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21B79F32-9457-46C6-9309-0F1ECB18C1F2}"/>
                </a:ext>
              </a:extLst>
            </p:cNvPr>
            <p:cNvSpPr txBox="1"/>
            <p:nvPr/>
          </p:nvSpPr>
          <p:spPr>
            <a:xfrm rot="19173824">
              <a:off x="3304028" y="2073478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073B4C"/>
                  </a:solidFill>
                  <a:latin typeface="Anton" panose="00000500000000000000" pitchFamily="2" charset="0"/>
                </a:rPr>
                <a:t>01</a:t>
              </a:r>
              <a:endParaRPr lang="en-US" sz="2000" spc="300" dirty="0">
                <a:solidFill>
                  <a:srgbClr val="073B4C"/>
                </a:solidFill>
                <a:latin typeface="Anton" panose="00000500000000000000" pitchFamily="2" charset="0"/>
              </a:endParaRPr>
            </a:p>
          </p:txBody>
        </p:sp>
      </p:grpSp>
      <p:sp>
        <p:nvSpPr>
          <p:cNvPr id="149" name="TextBox 148">
            <a:extLst>
              <a:ext uri="{FF2B5EF4-FFF2-40B4-BE49-F238E27FC236}">
                <a16:creationId xmlns:a16="http://schemas.microsoft.com/office/drawing/2014/main" id="{55182AE9-631D-4DC8-BB96-2460DA99BD6D}"/>
              </a:ext>
            </a:extLst>
          </p:cNvPr>
          <p:cNvSpPr txBox="1"/>
          <p:nvPr/>
        </p:nvSpPr>
        <p:spPr>
          <a:xfrm>
            <a:off x="13233761" y="1089862"/>
            <a:ext cx="1962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073B4C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PROPONENTS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EBADC8B7-E6F2-4DE6-A5B6-756A57DE88DE}"/>
              </a:ext>
            </a:extLst>
          </p:cNvPr>
          <p:cNvSpPr txBox="1"/>
          <p:nvPr/>
        </p:nvSpPr>
        <p:spPr>
          <a:xfrm>
            <a:off x="12861843" y="2418702"/>
            <a:ext cx="1962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118AB2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RATIONALE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5EEE4FEB-1D13-46C0-B11F-64AE2B6474EB}"/>
              </a:ext>
            </a:extLst>
          </p:cNvPr>
          <p:cNvSpPr txBox="1"/>
          <p:nvPr/>
        </p:nvSpPr>
        <p:spPr>
          <a:xfrm>
            <a:off x="12736751" y="4129394"/>
            <a:ext cx="1962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06D6A0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OBJECTIVES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1135AB04-9581-4CE2-8074-1E0A50C351D4}"/>
              </a:ext>
            </a:extLst>
          </p:cNvPr>
          <p:cNvSpPr txBox="1"/>
          <p:nvPr/>
        </p:nvSpPr>
        <p:spPr>
          <a:xfrm>
            <a:off x="12736751" y="5652083"/>
            <a:ext cx="21610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FFD166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SCOPE AND LIMITATION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3AC86DB6-6075-4A43-BF54-11BD4D3DC9C1}"/>
              </a:ext>
            </a:extLst>
          </p:cNvPr>
          <p:cNvSpPr txBox="1"/>
          <p:nvPr/>
        </p:nvSpPr>
        <p:spPr>
          <a:xfrm>
            <a:off x="12365243" y="7461003"/>
            <a:ext cx="1962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EF476F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METHODOLOGY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A1EDEF-FC10-4312-B134-CA6096982D3B}"/>
              </a:ext>
            </a:extLst>
          </p:cNvPr>
          <p:cNvSpPr/>
          <p:nvPr/>
        </p:nvSpPr>
        <p:spPr>
          <a:xfrm>
            <a:off x="4424075" y="6603896"/>
            <a:ext cx="3608487" cy="2266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2C2E86-A043-4A7A-B2D3-F3FA78EF4CA6}"/>
              </a:ext>
            </a:extLst>
          </p:cNvPr>
          <p:cNvSpPr txBox="1"/>
          <p:nvPr/>
        </p:nvSpPr>
        <p:spPr>
          <a:xfrm>
            <a:off x="1127917" y="2361048"/>
            <a:ext cx="6457391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9997" algn="ctr" rtl="0">
              <a:spcBef>
                <a:spcPts val="0"/>
              </a:spcBef>
              <a:spcAft>
                <a:spcPts val="0"/>
              </a:spcAft>
            </a:pPr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SkoLide: An AI-Powered Presentation Generator with Prompt-Based Intelligent Content Creation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  <a:endParaRPr lang="en-US" sz="2800" b="0" dirty="0">
              <a:effectLst/>
            </a:endParaRP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5132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Oval 53">
            <a:extLst>
              <a:ext uri="{FF2B5EF4-FFF2-40B4-BE49-F238E27FC236}">
                <a16:creationId xmlns:a16="http://schemas.microsoft.com/office/drawing/2014/main" id="{E75E415E-D168-4A64-BFEB-CF6E5E91C618}"/>
              </a:ext>
            </a:extLst>
          </p:cNvPr>
          <p:cNvSpPr/>
          <p:nvPr/>
        </p:nvSpPr>
        <p:spPr>
          <a:xfrm>
            <a:off x="1062384" y="5429735"/>
            <a:ext cx="3554083" cy="1174161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85000"/>
                  <a:alpha val="0"/>
                </a:schemeClr>
              </a:gs>
              <a:gs pos="95000">
                <a:schemeClr val="tx1">
                  <a:lumMod val="85000"/>
                  <a:lumOff val="15000"/>
                </a:schemeClr>
              </a:gs>
            </a:gsLst>
            <a:lin ang="0" scaled="1"/>
            <a:tileRect/>
          </a:gradFill>
          <a:ln>
            <a:noFill/>
          </a:ln>
          <a:effectLst>
            <a:softEdge rad="3048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59A91C9-5054-421D-8AB9-E071BA377352}"/>
              </a:ext>
            </a:extLst>
          </p:cNvPr>
          <p:cNvGrpSpPr/>
          <p:nvPr/>
        </p:nvGrpSpPr>
        <p:grpSpPr>
          <a:xfrm>
            <a:off x="2038070" y="4505166"/>
            <a:ext cx="3355676" cy="1400788"/>
            <a:chOff x="2038070" y="4505166"/>
            <a:chExt cx="3355676" cy="1400788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343157D5-4FF2-4FA1-9D59-419EF512DD63}"/>
                </a:ext>
              </a:extLst>
            </p:cNvPr>
            <p:cNvGrpSpPr/>
            <p:nvPr/>
          </p:nvGrpSpPr>
          <p:grpSpPr>
            <a:xfrm>
              <a:off x="2038070" y="4505166"/>
              <a:ext cx="3355676" cy="1400788"/>
              <a:chOff x="2596550" y="2775364"/>
              <a:chExt cx="4019910" cy="1678065"/>
            </a:xfrm>
            <a:scene3d>
              <a:camera prst="orthographicFront">
                <a:rot lat="0" lon="0" rev="19199999"/>
              </a:camera>
              <a:lightRig rig="threePt" dir="t"/>
            </a:scene3d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892C5BCC-B12D-4C7A-B111-34582936145D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B67A78B7-6B3D-456A-A208-4D26B1ABD8E3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1E2ED20F-42CC-4834-B53D-E458D5168208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EF476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475AEADC-907C-4D82-B7F4-153288554B19}"/>
                  </a:ext>
                </a:extLst>
              </p:cNvPr>
              <p:cNvSpPr/>
              <p:nvPr/>
            </p:nvSpPr>
            <p:spPr>
              <a:xfrm>
                <a:off x="2596550" y="2775364"/>
                <a:ext cx="4019910" cy="137394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alpha val="0"/>
                    </a:schemeClr>
                  </a:gs>
                  <a:gs pos="95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softEdge rad="266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4501ABC5-43E0-49AC-BC00-8C50BB95BF58}"/>
                </a:ext>
              </a:extLst>
            </p:cNvPr>
            <p:cNvSpPr txBox="1"/>
            <p:nvPr/>
          </p:nvSpPr>
          <p:spPr>
            <a:xfrm rot="2317436">
              <a:off x="3084625" y="5387604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EF476F"/>
                  </a:solidFill>
                  <a:latin typeface="Anton" panose="00000500000000000000" pitchFamily="2" charset="0"/>
                </a:rPr>
                <a:t>05</a:t>
              </a:r>
              <a:endParaRPr lang="en-US" sz="2000" spc="300" dirty="0">
                <a:solidFill>
                  <a:srgbClr val="EF476F"/>
                </a:solidFill>
                <a:latin typeface="Anton" panose="00000500000000000000" pitchFamily="2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0F3C0F4-B6E4-4C48-9EF4-98AD4F55FA69}"/>
              </a:ext>
            </a:extLst>
          </p:cNvPr>
          <p:cNvGrpSpPr/>
          <p:nvPr/>
        </p:nvGrpSpPr>
        <p:grpSpPr>
          <a:xfrm>
            <a:off x="2459965" y="3663791"/>
            <a:ext cx="3355676" cy="1400788"/>
            <a:chOff x="2459965" y="3663791"/>
            <a:chExt cx="3355676" cy="140078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A5F928E-6A3A-4AC3-B40D-78D692B6B9A6}"/>
                </a:ext>
              </a:extLst>
            </p:cNvPr>
            <p:cNvGrpSpPr/>
            <p:nvPr/>
          </p:nvGrpSpPr>
          <p:grpSpPr>
            <a:xfrm>
              <a:off x="2459965" y="3663791"/>
              <a:ext cx="3355676" cy="1400788"/>
              <a:chOff x="2596550" y="2775364"/>
              <a:chExt cx="4019910" cy="1678065"/>
            </a:xfrm>
            <a:scene3d>
              <a:camera prst="orthographicFront">
                <a:rot lat="0" lon="0" rev="20399999"/>
              </a:camera>
              <a:lightRig rig="threePt" dir="t"/>
            </a:scene3d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8B059B1-A6BA-41B1-862D-EFADE8A7E0E4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5A53785F-C2D2-4537-BF9E-41355E3DFB81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9D5353B7-0849-4523-BD12-172B32B20B51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FFD1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966420CD-FEF1-49EC-8302-619086DCC8A7}"/>
                  </a:ext>
                </a:extLst>
              </p:cNvPr>
              <p:cNvSpPr/>
              <p:nvPr/>
            </p:nvSpPr>
            <p:spPr>
              <a:xfrm>
                <a:off x="2596550" y="2775364"/>
                <a:ext cx="4019910" cy="137394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alpha val="0"/>
                    </a:schemeClr>
                  </a:gs>
                  <a:gs pos="95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softEdge rad="266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18C98E25-E4E3-49C9-BF77-2540DFCDED07}"/>
                </a:ext>
              </a:extLst>
            </p:cNvPr>
            <p:cNvSpPr txBox="1"/>
            <p:nvPr/>
          </p:nvSpPr>
          <p:spPr>
            <a:xfrm rot="962716">
              <a:off x="3693611" y="4653891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FFD166"/>
                  </a:solidFill>
                  <a:latin typeface="Anton" panose="00000500000000000000" pitchFamily="2" charset="0"/>
                </a:rPr>
                <a:t>04</a:t>
              </a:r>
              <a:endParaRPr lang="en-US" sz="2000" spc="300" dirty="0">
                <a:solidFill>
                  <a:srgbClr val="FFD166"/>
                </a:solidFill>
                <a:latin typeface="Anton" panose="00000500000000000000" pitchFamily="2" charset="0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A1592EFB-3A7E-45D6-A98E-2179EC9E0047}"/>
              </a:ext>
            </a:extLst>
          </p:cNvPr>
          <p:cNvGrpSpPr/>
          <p:nvPr/>
        </p:nvGrpSpPr>
        <p:grpSpPr>
          <a:xfrm>
            <a:off x="2589362" y="2728606"/>
            <a:ext cx="3355676" cy="1400788"/>
            <a:chOff x="2589362" y="2728606"/>
            <a:chExt cx="3355676" cy="1400788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F3D935D-0ECA-4D6F-BEFE-A1CB93FD10E7}"/>
                </a:ext>
              </a:extLst>
            </p:cNvPr>
            <p:cNvGrpSpPr/>
            <p:nvPr/>
          </p:nvGrpSpPr>
          <p:grpSpPr>
            <a:xfrm>
              <a:off x="2589362" y="2728606"/>
              <a:ext cx="3355676" cy="1400788"/>
              <a:chOff x="2596550" y="2775364"/>
              <a:chExt cx="4019910" cy="1678065"/>
            </a:xfrm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561C2D06-12A5-43AC-90FD-8DE901D4A5A9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1DACD449-33AF-4702-91CF-490058943DF5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97505746-BE53-4BA7-8480-35238ED37367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06D6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F200FD4-1487-46E5-900E-DE692E1F5E2C}"/>
                  </a:ext>
                </a:extLst>
              </p:cNvPr>
              <p:cNvSpPr/>
              <p:nvPr/>
            </p:nvSpPr>
            <p:spPr>
              <a:xfrm>
                <a:off x="2596550" y="2775364"/>
                <a:ext cx="4019910" cy="137394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alpha val="0"/>
                    </a:schemeClr>
                  </a:gs>
                  <a:gs pos="95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softEdge rad="266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A80DC888-46C4-49C5-8C75-8CDF81E54FAC}"/>
                </a:ext>
              </a:extLst>
            </p:cNvPr>
            <p:cNvSpPr txBox="1"/>
            <p:nvPr/>
          </p:nvSpPr>
          <p:spPr>
            <a:xfrm>
              <a:off x="3908292" y="3708324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06D6A0"/>
                  </a:solidFill>
                  <a:latin typeface="Anton" panose="00000500000000000000" pitchFamily="2" charset="0"/>
                </a:rPr>
                <a:t>03</a:t>
              </a:r>
              <a:endParaRPr lang="en-US" sz="2000" spc="300" dirty="0">
                <a:solidFill>
                  <a:srgbClr val="06D6A0"/>
                </a:solidFill>
                <a:latin typeface="Anton" panose="00000500000000000000" pitchFamily="2" charset="0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02B6B8B-8297-4273-8010-61142DF79695}"/>
              </a:ext>
            </a:extLst>
          </p:cNvPr>
          <p:cNvGrpSpPr/>
          <p:nvPr/>
        </p:nvGrpSpPr>
        <p:grpSpPr>
          <a:xfrm>
            <a:off x="2376531" y="1804037"/>
            <a:ext cx="3355676" cy="1428965"/>
            <a:chOff x="2376531" y="1804037"/>
            <a:chExt cx="3355676" cy="1428965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62C35E0C-2906-4AAF-8057-3A40B59EE48B}"/>
                </a:ext>
              </a:extLst>
            </p:cNvPr>
            <p:cNvGrpSpPr/>
            <p:nvPr/>
          </p:nvGrpSpPr>
          <p:grpSpPr>
            <a:xfrm>
              <a:off x="2376531" y="1804037"/>
              <a:ext cx="3355676" cy="1400788"/>
              <a:chOff x="2596550" y="2775364"/>
              <a:chExt cx="4019910" cy="1678065"/>
            </a:xfrm>
            <a:scene3d>
              <a:camera prst="orthographicFront">
                <a:rot lat="0" lon="0" rev="1200000"/>
              </a:camera>
              <a:lightRig rig="threePt" dir="t"/>
            </a:scene3d>
          </p:grpSpPr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129D9395-4F7F-469C-A275-CFE0E62E8CDB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A3AAFBC9-A40E-444C-AE46-4536C94E12FD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2BA9BCEE-9897-4C90-A035-492954969E3F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118A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3C0E6B84-CBA1-4654-8281-81A3F63EE4B8}"/>
                  </a:ext>
                </a:extLst>
              </p:cNvPr>
              <p:cNvSpPr/>
              <p:nvPr/>
            </p:nvSpPr>
            <p:spPr>
              <a:xfrm>
                <a:off x="2596550" y="2775364"/>
                <a:ext cx="4019910" cy="137394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alpha val="0"/>
                    </a:schemeClr>
                  </a:gs>
                  <a:gs pos="95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softEdge rad="266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0CBCCC58-A312-4FD0-A98A-20092941C790}"/>
                </a:ext>
              </a:extLst>
            </p:cNvPr>
            <p:cNvSpPr txBox="1"/>
            <p:nvPr/>
          </p:nvSpPr>
          <p:spPr>
            <a:xfrm rot="20409358">
              <a:off x="3733524" y="2832892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118AB2"/>
                  </a:solidFill>
                  <a:latin typeface="Anton" panose="00000500000000000000" pitchFamily="2" charset="0"/>
                </a:rPr>
                <a:t>02</a:t>
              </a:r>
              <a:endParaRPr lang="en-US" sz="2000" spc="300" dirty="0">
                <a:solidFill>
                  <a:srgbClr val="118AB2"/>
                </a:solidFill>
                <a:latin typeface="Anton" panose="00000500000000000000" pitchFamily="2" charset="0"/>
              </a:endParaRPr>
            </a:p>
          </p:txBody>
        </p:sp>
      </p:grp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11DDBD69-51C5-405D-BBBA-9C98635472A7}"/>
              </a:ext>
            </a:extLst>
          </p:cNvPr>
          <p:cNvCxnSpPr/>
          <p:nvPr/>
        </p:nvCxnSpPr>
        <p:spPr>
          <a:xfrm>
            <a:off x="4175043" y="931653"/>
            <a:ext cx="2035978" cy="0"/>
          </a:xfrm>
          <a:prstGeom prst="line">
            <a:avLst/>
          </a:prstGeom>
          <a:ln w="19050">
            <a:solidFill>
              <a:srgbClr val="073B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B322033C-947B-45E0-B7B9-C72EDFB8F841}"/>
              </a:ext>
            </a:extLst>
          </p:cNvPr>
          <p:cNvCxnSpPr/>
          <p:nvPr/>
        </p:nvCxnSpPr>
        <p:spPr>
          <a:xfrm>
            <a:off x="4927049" y="2011729"/>
            <a:ext cx="2035978" cy="0"/>
          </a:xfrm>
          <a:prstGeom prst="line">
            <a:avLst/>
          </a:prstGeom>
          <a:ln w="19050">
            <a:solidFill>
              <a:srgbClr val="118A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5A413F8D-A016-4F17-9D7E-67A113EEAEB9}"/>
              </a:ext>
            </a:extLst>
          </p:cNvPr>
          <p:cNvCxnSpPr/>
          <p:nvPr/>
        </p:nvCxnSpPr>
        <p:spPr>
          <a:xfrm>
            <a:off x="5260766" y="3292294"/>
            <a:ext cx="2035978" cy="0"/>
          </a:xfrm>
          <a:prstGeom prst="line">
            <a:avLst/>
          </a:prstGeom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CE59764A-0547-492E-ADF3-0F1B714FE7D4}"/>
              </a:ext>
            </a:extLst>
          </p:cNvPr>
          <p:cNvCxnSpPr/>
          <p:nvPr/>
        </p:nvCxnSpPr>
        <p:spPr>
          <a:xfrm>
            <a:off x="5114117" y="4501309"/>
            <a:ext cx="2035978" cy="0"/>
          </a:xfrm>
          <a:prstGeom prst="line">
            <a:avLst/>
          </a:prstGeom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D08ABF5C-1D62-4495-AB80-6BAD31305015}"/>
              </a:ext>
            </a:extLst>
          </p:cNvPr>
          <p:cNvCxnSpPr/>
          <p:nvPr/>
        </p:nvCxnSpPr>
        <p:spPr>
          <a:xfrm>
            <a:off x="4536148" y="5752139"/>
            <a:ext cx="2035978" cy="0"/>
          </a:xfrm>
          <a:prstGeom prst="line">
            <a:avLst/>
          </a:prstGeom>
          <a:ln w="19050">
            <a:solidFill>
              <a:srgbClr val="EF47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F4173C33-F9C9-4068-BCB2-D6F11BAD3815}"/>
              </a:ext>
            </a:extLst>
          </p:cNvPr>
          <p:cNvGrpSpPr/>
          <p:nvPr/>
        </p:nvGrpSpPr>
        <p:grpSpPr>
          <a:xfrm>
            <a:off x="2082574" y="1263788"/>
            <a:ext cx="2553613" cy="1285380"/>
            <a:chOff x="2082574" y="1263788"/>
            <a:chExt cx="2553613" cy="1285380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454B8B73-02CD-45F2-A244-9B42C0DCFA48}"/>
                </a:ext>
              </a:extLst>
            </p:cNvPr>
            <p:cNvGrpSpPr/>
            <p:nvPr/>
          </p:nvGrpSpPr>
          <p:grpSpPr>
            <a:xfrm>
              <a:off x="2082574" y="1263788"/>
              <a:ext cx="2553613" cy="1285380"/>
              <a:chOff x="2737657" y="2913616"/>
              <a:chExt cx="3059084" cy="1539813"/>
            </a:xfrm>
            <a:scene3d>
              <a:camera prst="orthographicFront">
                <a:rot lat="0" lon="0" rev="2400000"/>
              </a:camera>
              <a:lightRig rig="threePt" dir="t"/>
            </a:scene3d>
          </p:grpSpPr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8F70A12A-955A-44CA-AD14-CF775C1316A4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EE2BC23F-E057-433F-AD42-8B238FA1B9CC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2ED7E8C7-0ACF-4CBA-A6AE-5E93363CFD54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073B4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21B79F32-9457-46C6-9309-0F1ECB18C1F2}"/>
                </a:ext>
              </a:extLst>
            </p:cNvPr>
            <p:cNvSpPr txBox="1"/>
            <p:nvPr/>
          </p:nvSpPr>
          <p:spPr>
            <a:xfrm rot="19173824">
              <a:off x="3304028" y="2073478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073B4C"/>
                  </a:solidFill>
                  <a:latin typeface="Anton" panose="00000500000000000000" pitchFamily="2" charset="0"/>
                </a:rPr>
                <a:t>01</a:t>
              </a:r>
              <a:endParaRPr lang="en-US" sz="2000" spc="300" dirty="0">
                <a:solidFill>
                  <a:srgbClr val="073B4C"/>
                </a:solidFill>
                <a:latin typeface="Anton" panose="00000500000000000000" pitchFamily="2" charset="0"/>
              </a:endParaRPr>
            </a:p>
          </p:txBody>
        </p:sp>
      </p:grpSp>
      <p:sp>
        <p:nvSpPr>
          <p:cNvPr id="149" name="TextBox 148">
            <a:extLst>
              <a:ext uri="{FF2B5EF4-FFF2-40B4-BE49-F238E27FC236}">
                <a16:creationId xmlns:a16="http://schemas.microsoft.com/office/drawing/2014/main" id="{55182AE9-631D-4DC8-BB96-2460DA99BD6D}"/>
              </a:ext>
            </a:extLst>
          </p:cNvPr>
          <p:cNvSpPr txBox="1"/>
          <p:nvPr/>
        </p:nvSpPr>
        <p:spPr>
          <a:xfrm>
            <a:off x="5911486" y="731165"/>
            <a:ext cx="1962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073B4C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PROPONENTS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EBADC8B7-E6F2-4DE6-A5B6-756A57DE88DE}"/>
              </a:ext>
            </a:extLst>
          </p:cNvPr>
          <p:cNvSpPr txBox="1"/>
          <p:nvPr/>
        </p:nvSpPr>
        <p:spPr>
          <a:xfrm>
            <a:off x="6572126" y="1848758"/>
            <a:ext cx="1962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118AB2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RATIONALE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5EEE4FEB-1D13-46C0-B11F-64AE2B6474EB}"/>
              </a:ext>
            </a:extLst>
          </p:cNvPr>
          <p:cNvSpPr txBox="1"/>
          <p:nvPr/>
        </p:nvSpPr>
        <p:spPr>
          <a:xfrm>
            <a:off x="6907432" y="3114895"/>
            <a:ext cx="1962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06D6A0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OBJECTIVES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3AC86DB6-6075-4A43-BF54-11BD4D3DC9C1}"/>
              </a:ext>
            </a:extLst>
          </p:cNvPr>
          <p:cNvSpPr txBox="1"/>
          <p:nvPr/>
        </p:nvSpPr>
        <p:spPr>
          <a:xfrm>
            <a:off x="6346044" y="5574858"/>
            <a:ext cx="1962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EF476F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METHODOLOGY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A1EDEF-FC10-4312-B134-CA6096982D3B}"/>
              </a:ext>
            </a:extLst>
          </p:cNvPr>
          <p:cNvSpPr/>
          <p:nvPr/>
        </p:nvSpPr>
        <p:spPr>
          <a:xfrm>
            <a:off x="4424075" y="6603896"/>
            <a:ext cx="3608487" cy="2266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0C667C1-FD69-4DD7-8927-DC0624F487B0}"/>
              </a:ext>
            </a:extLst>
          </p:cNvPr>
          <p:cNvSpPr txBox="1"/>
          <p:nvPr/>
        </p:nvSpPr>
        <p:spPr>
          <a:xfrm>
            <a:off x="-6212102" y="3052376"/>
            <a:ext cx="609407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997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SkoLide: An AI-Powered Presentation Generator with Prompt-Based Intelligent Content Creation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 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98E4EDC3-F10E-46BD-9B3D-27EC26DEAA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3518" y="-4024170"/>
            <a:ext cx="3232829" cy="323282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DA7EA29B-3B74-46E2-958E-3D8A7D0C25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24244" y="6858000"/>
            <a:ext cx="2267154" cy="2267154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5EBCEB2-F506-48F9-B9E0-D0C185EF0B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693930" y="6219000"/>
            <a:ext cx="3344899" cy="337855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C9DDE8C5-F859-4C6F-ACC7-AEB1699A4E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210702" y="-3401869"/>
            <a:ext cx="3122042" cy="3122042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10EF7A5A-0B98-4281-835B-70546072CDDC}"/>
              </a:ext>
            </a:extLst>
          </p:cNvPr>
          <p:cNvSpPr txBox="1"/>
          <p:nvPr/>
        </p:nvSpPr>
        <p:spPr>
          <a:xfrm>
            <a:off x="1651819" y="-1460090"/>
            <a:ext cx="4293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GROUP MEMBERS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7A8F202-65C2-4F2B-8E3E-5E2B3D9BA10E}"/>
              </a:ext>
            </a:extLst>
          </p:cNvPr>
          <p:cNvSpPr txBox="1"/>
          <p:nvPr/>
        </p:nvSpPr>
        <p:spPr>
          <a:xfrm>
            <a:off x="7287471" y="4344876"/>
            <a:ext cx="21610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FFD166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SCOPE AND LIMITATION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4E33E36-CEE2-4CDB-B78C-3F0FD20AE389}"/>
              </a:ext>
            </a:extLst>
          </p:cNvPr>
          <p:cNvSpPr txBox="1"/>
          <p:nvPr/>
        </p:nvSpPr>
        <p:spPr>
          <a:xfrm>
            <a:off x="691340" y="7073829"/>
            <a:ext cx="1920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Matthew Pascua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2918A13-BF8F-472D-AF94-B112C62398DB}"/>
              </a:ext>
            </a:extLst>
          </p:cNvPr>
          <p:cNvSpPr txBox="1"/>
          <p:nvPr/>
        </p:nvSpPr>
        <p:spPr>
          <a:xfrm>
            <a:off x="2541095" y="7082815"/>
            <a:ext cx="1636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Leila Dichoso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62AB6E6-E229-4701-927A-DDBDE4F1F877}"/>
              </a:ext>
            </a:extLst>
          </p:cNvPr>
          <p:cNvSpPr txBox="1"/>
          <p:nvPr/>
        </p:nvSpPr>
        <p:spPr>
          <a:xfrm>
            <a:off x="4090228" y="7117172"/>
            <a:ext cx="1859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John Loyd Viray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7E0F41E-EB86-406F-8E2E-F9D0727AF4E0}"/>
              </a:ext>
            </a:extLst>
          </p:cNvPr>
          <p:cNvSpPr txBox="1"/>
          <p:nvPr/>
        </p:nvSpPr>
        <p:spPr>
          <a:xfrm>
            <a:off x="5973349" y="7073829"/>
            <a:ext cx="154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Cyruz Hapin</a:t>
            </a:r>
          </a:p>
        </p:txBody>
      </p:sp>
    </p:spTree>
    <p:extLst>
      <p:ext uri="{BB962C8B-B14F-4D97-AF65-F5344CB8AC3E}">
        <p14:creationId xmlns:p14="http://schemas.microsoft.com/office/powerpoint/2010/main" val="31689382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Oval 53">
            <a:extLst>
              <a:ext uri="{FF2B5EF4-FFF2-40B4-BE49-F238E27FC236}">
                <a16:creationId xmlns:a16="http://schemas.microsoft.com/office/drawing/2014/main" id="{E75E415E-D168-4A64-BFEB-CF6E5E91C618}"/>
              </a:ext>
            </a:extLst>
          </p:cNvPr>
          <p:cNvSpPr/>
          <p:nvPr/>
        </p:nvSpPr>
        <p:spPr>
          <a:xfrm>
            <a:off x="4124899" y="5517552"/>
            <a:ext cx="3554083" cy="1174161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85000"/>
                  <a:alpha val="0"/>
                </a:schemeClr>
              </a:gs>
              <a:gs pos="95000">
                <a:schemeClr val="tx1">
                  <a:lumMod val="85000"/>
                  <a:lumOff val="15000"/>
                </a:schemeClr>
              </a:gs>
            </a:gsLst>
            <a:lin ang="0" scaled="1"/>
            <a:tileRect/>
          </a:gradFill>
          <a:ln>
            <a:noFill/>
          </a:ln>
          <a:effectLst>
            <a:softEdge rad="3048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59A91C9-5054-421D-8AB9-E071BA377352}"/>
              </a:ext>
            </a:extLst>
          </p:cNvPr>
          <p:cNvGrpSpPr/>
          <p:nvPr/>
        </p:nvGrpSpPr>
        <p:grpSpPr>
          <a:xfrm>
            <a:off x="-5992225" y="6598845"/>
            <a:ext cx="3355676" cy="1400788"/>
            <a:chOff x="2038070" y="4505166"/>
            <a:chExt cx="3355676" cy="1400788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343157D5-4FF2-4FA1-9D59-419EF512DD63}"/>
                </a:ext>
              </a:extLst>
            </p:cNvPr>
            <p:cNvGrpSpPr/>
            <p:nvPr/>
          </p:nvGrpSpPr>
          <p:grpSpPr>
            <a:xfrm>
              <a:off x="2038070" y="4505166"/>
              <a:ext cx="3355676" cy="1400788"/>
              <a:chOff x="2596550" y="2775364"/>
              <a:chExt cx="4019910" cy="1678065"/>
            </a:xfrm>
            <a:scene3d>
              <a:camera prst="orthographicFront">
                <a:rot lat="0" lon="0" rev="19199999"/>
              </a:camera>
              <a:lightRig rig="threePt" dir="t"/>
            </a:scene3d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892C5BCC-B12D-4C7A-B111-34582936145D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B67A78B7-6B3D-456A-A208-4D26B1ABD8E3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1E2ED20F-42CC-4834-B53D-E458D5168208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EF476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475AEADC-907C-4D82-B7F4-153288554B19}"/>
                  </a:ext>
                </a:extLst>
              </p:cNvPr>
              <p:cNvSpPr/>
              <p:nvPr/>
            </p:nvSpPr>
            <p:spPr>
              <a:xfrm>
                <a:off x="2596550" y="2775364"/>
                <a:ext cx="4019910" cy="137394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alpha val="0"/>
                    </a:schemeClr>
                  </a:gs>
                  <a:gs pos="95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softEdge rad="266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4501ABC5-43E0-49AC-BC00-8C50BB95BF58}"/>
                </a:ext>
              </a:extLst>
            </p:cNvPr>
            <p:cNvSpPr txBox="1"/>
            <p:nvPr/>
          </p:nvSpPr>
          <p:spPr>
            <a:xfrm rot="2317436">
              <a:off x="3084625" y="5387604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EF476F"/>
                  </a:solidFill>
                  <a:latin typeface="Anton" panose="00000500000000000000" pitchFamily="2" charset="0"/>
                </a:rPr>
                <a:t>05</a:t>
              </a:r>
              <a:endParaRPr lang="en-US" sz="2000" spc="300" dirty="0">
                <a:solidFill>
                  <a:srgbClr val="EF476F"/>
                </a:solidFill>
                <a:latin typeface="Anton" panose="00000500000000000000" pitchFamily="2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0F3C0F4-B6E4-4C48-9EF4-98AD4F55FA69}"/>
              </a:ext>
            </a:extLst>
          </p:cNvPr>
          <p:cNvGrpSpPr/>
          <p:nvPr/>
        </p:nvGrpSpPr>
        <p:grpSpPr>
          <a:xfrm>
            <a:off x="-5868878" y="5927549"/>
            <a:ext cx="3355676" cy="1400788"/>
            <a:chOff x="2459965" y="3663791"/>
            <a:chExt cx="3355676" cy="140078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A5F928E-6A3A-4AC3-B40D-78D692B6B9A6}"/>
                </a:ext>
              </a:extLst>
            </p:cNvPr>
            <p:cNvGrpSpPr/>
            <p:nvPr/>
          </p:nvGrpSpPr>
          <p:grpSpPr>
            <a:xfrm>
              <a:off x="2459965" y="3663791"/>
              <a:ext cx="3355676" cy="1400788"/>
              <a:chOff x="2596550" y="2775364"/>
              <a:chExt cx="4019910" cy="1678065"/>
            </a:xfrm>
            <a:scene3d>
              <a:camera prst="orthographicFront">
                <a:rot lat="0" lon="0" rev="20399999"/>
              </a:camera>
              <a:lightRig rig="threePt" dir="t"/>
            </a:scene3d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8B059B1-A6BA-41B1-862D-EFADE8A7E0E4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5A53785F-C2D2-4537-BF9E-41355E3DFB81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9D5353B7-0849-4523-BD12-172B32B20B51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FFD1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966420CD-FEF1-49EC-8302-619086DCC8A7}"/>
                  </a:ext>
                </a:extLst>
              </p:cNvPr>
              <p:cNvSpPr/>
              <p:nvPr/>
            </p:nvSpPr>
            <p:spPr>
              <a:xfrm>
                <a:off x="2596550" y="2775364"/>
                <a:ext cx="4019910" cy="137394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alpha val="0"/>
                    </a:schemeClr>
                  </a:gs>
                  <a:gs pos="95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softEdge rad="266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18C98E25-E4E3-49C9-BF77-2540DFCDED07}"/>
                </a:ext>
              </a:extLst>
            </p:cNvPr>
            <p:cNvSpPr txBox="1"/>
            <p:nvPr/>
          </p:nvSpPr>
          <p:spPr>
            <a:xfrm rot="962716">
              <a:off x="3693611" y="4653891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FFD166"/>
                  </a:solidFill>
                  <a:latin typeface="Anton" panose="00000500000000000000" pitchFamily="2" charset="0"/>
                </a:rPr>
                <a:t>04</a:t>
              </a:r>
              <a:endParaRPr lang="en-US" sz="2000" spc="300" dirty="0">
                <a:solidFill>
                  <a:srgbClr val="FFD166"/>
                </a:solidFill>
                <a:latin typeface="Anton" panose="00000500000000000000" pitchFamily="2" charset="0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A1592EFB-3A7E-45D6-A98E-2179EC9E0047}"/>
              </a:ext>
            </a:extLst>
          </p:cNvPr>
          <p:cNvGrpSpPr/>
          <p:nvPr/>
        </p:nvGrpSpPr>
        <p:grpSpPr>
          <a:xfrm>
            <a:off x="-5766236" y="5342684"/>
            <a:ext cx="3355676" cy="1400788"/>
            <a:chOff x="2589362" y="2728606"/>
            <a:chExt cx="3355676" cy="1400788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F3D935D-0ECA-4D6F-BEFE-A1CB93FD10E7}"/>
                </a:ext>
              </a:extLst>
            </p:cNvPr>
            <p:cNvGrpSpPr/>
            <p:nvPr/>
          </p:nvGrpSpPr>
          <p:grpSpPr>
            <a:xfrm>
              <a:off x="2589362" y="2728606"/>
              <a:ext cx="3355676" cy="1400788"/>
              <a:chOff x="2596550" y="2775364"/>
              <a:chExt cx="4019910" cy="1678065"/>
            </a:xfrm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561C2D06-12A5-43AC-90FD-8DE901D4A5A9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1DACD449-33AF-4702-91CF-490058943DF5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97505746-BE53-4BA7-8480-35238ED37367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06D6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F200FD4-1487-46E5-900E-DE692E1F5E2C}"/>
                  </a:ext>
                </a:extLst>
              </p:cNvPr>
              <p:cNvSpPr/>
              <p:nvPr/>
            </p:nvSpPr>
            <p:spPr>
              <a:xfrm>
                <a:off x="2596550" y="2775364"/>
                <a:ext cx="4019910" cy="137394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alpha val="0"/>
                    </a:schemeClr>
                  </a:gs>
                  <a:gs pos="95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softEdge rad="266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A80DC888-46C4-49C5-8C75-8CDF81E54FAC}"/>
                </a:ext>
              </a:extLst>
            </p:cNvPr>
            <p:cNvSpPr txBox="1"/>
            <p:nvPr/>
          </p:nvSpPr>
          <p:spPr>
            <a:xfrm>
              <a:off x="3908292" y="3708324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06D6A0"/>
                  </a:solidFill>
                  <a:latin typeface="Anton" panose="00000500000000000000" pitchFamily="2" charset="0"/>
                </a:rPr>
                <a:t>03</a:t>
              </a:r>
              <a:endParaRPr lang="en-US" sz="2000" spc="300" dirty="0">
                <a:solidFill>
                  <a:srgbClr val="06D6A0"/>
                </a:solidFill>
                <a:latin typeface="Anton" panose="00000500000000000000" pitchFamily="2" charset="0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02B6B8B-8297-4273-8010-61142DF79695}"/>
              </a:ext>
            </a:extLst>
          </p:cNvPr>
          <p:cNvGrpSpPr/>
          <p:nvPr/>
        </p:nvGrpSpPr>
        <p:grpSpPr>
          <a:xfrm>
            <a:off x="-5971520" y="4873176"/>
            <a:ext cx="3355676" cy="1428965"/>
            <a:chOff x="2376531" y="1804037"/>
            <a:chExt cx="3355676" cy="1428965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62C35E0C-2906-4AAF-8057-3A40B59EE48B}"/>
                </a:ext>
              </a:extLst>
            </p:cNvPr>
            <p:cNvGrpSpPr/>
            <p:nvPr/>
          </p:nvGrpSpPr>
          <p:grpSpPr>
            <a:xfrm>
              <a:off x="2376531" y="1804037"/>
              <a:ext cx="3355676" cy="1400788"/>
              <a:chOff x="2596550" y="2775364"/>
              <a:chExt cx="4019910" cy="1678065"/>
            </a:xfrm>
            <a:scene3d>
              <a:camera prst="orthographicFront">
                <a:rot lat="0" lon="0" rev="1200000"/>
              </a:camera>
              <a:lightRig rig="threePt" dir="t"/>
            </a:scene3d>
          </p:grpSpPr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129D9395-4F7F-469C-A275-CFE0E62E8CDB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A3AAFBC9-A40E-444C-AE46-4536C94E12FD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2BA9BCEE-9897-4C90-A035-492954969E3F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118A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3C0E6B84-CBA1-4654-8281-81A3F63EE4B8}"/>
                  </a:ext>
                </a:extLst>
              </p:cNvPr>
              <p:cNvSpPr/>
              <p:nvPr/>
            </p:nvSpPr>
            <p:spPr>
              <a:xfrm>
                <a:off x="2596550" y="2775364"/>
                <a:ext cx="4019910" cy="137394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alpha val="0"/>
                    </a:schemeClr>
                  </a:gs>
                  <a:gs pos="95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softEdge rad="266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0CBCCC58-A312-4FD0-A98A-20092941C790}"/>
                </a:ext>
              </a:extLst>
            </p:cNvPr>
            <p:cNvSpPr txBox="1"/>
            <p:nvPr/>
          </p:nvSpPr>
          <p:spPr>
            <a:xfrm rot="20409358">
              <a:off x="3733524" y="2832892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118AB2"/>
                  </a:solidFill>
                  <a:latin typeface="Anton" panose="00000500000000000000" pitchFamily="2" charset="0"/>
                </a:rPr>
                <a:t>02</a:t>
              </a:r>
              <a:endParaRPr lang="en-US" sz="2000" spc="300" dirty="0">
                <a:solidFill>
                  <a:srgbClr val="118AB2"/>
                </a:solidFill>
                <a:latin typeface="Anton" panose="00000500000000000000" pitchFamily="2" charset="0"/>
              </a:endParaRPr>
            </a:p>
          </p:txBody>
        </p:sp>
      </p:grp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11DDBD69-51C5-405D-BBBA-9C98635472A7}"/>
              </a:ext>
            </a:extLst>
          </p:cNvPr>
          <p:cNvCxnSpPr>
            <a:cxnSpLocks/>
          </p:cNvCxnSpPr>
          <p:nvPr/>
        </p:nvCxnSpPr>
        <p:spPr>
          <a:xfrm>
            <a:off x="441800" y="6530410"/>
            <a:ext cx="11256644" cy="1"/>
          </a:xfrm>
          <a:prstGeom prst="line">
            <a:avLst/>
          </a:prstGeom>
          <a:ln w="19050">
            <a:solidFill>
              <a:srgbClr val="073B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B322033C-947B-45E0-B7B9-C72EDFB8F841}"/>
              </a:ext>
            </a:extLst>
          </p:cNvPr>
          <p:cNvCxnSpPr/>
          <p:nvPr/>
        </p:nvCxnSpPr>
        <p:spPr>
          <a:xfrm>
            <a:off x="0" y="8250297"/>
            <a:ext cx="2035978" cy="0"/>
          </a:xfrm>
          <a:prstGeom prst="line">
            <a:avLst/>
          </a:prstGeom>
          <a:ln w="19050">
            <a:solidFill>
              <a:srgbClr val="118A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5A413F8D-A016-4F17-9D7E-67A113EEAEB9}"/>
              </a:ext>
            </a:extLst>
          </p:cNvPr>
          <p:cNvCxnSpPr/>
          <p:nvPr/>
        </p:nvCxnSpPr>
        <p:spPr>
          <a:xfrm>
            <a:off x="2490090" y="8297946"/>
            <a:ext cx="2035978" cy="0"/>
          </a:xfrm>
          <a:prstGeom prst="line">
            <a:avLst/>
          </a:prstGeom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CE59764A-0547-492E-ADF3-0F1B714FE7D4}"/>
              </a:ext>
            </a:extLst>
          </p:cNvPr>
          <p:cNvCxnSpPr/>
          <p:nvPr/>
        </p:nvCxnSpPr>
        <p:spPr>
          <a:xfrm>
            <a:off x="4901985" y="8297946"/>
            <a:ext cx="2035978" cy="0"/>
          </a:xfrm>
          <a:prstGeom prst="line">
            <a:avLst/>
          </a:prstGeom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D08ABF5C-1D62-4495-AB80-6BAD31305015}"/>
              </a:ext>
            </a:extLst>
          </p:cNvPr>
          <p:cNvCxnSpPr/>
          <p:nvPr/>
        </p:nvCxnSpPr>
        <p:spPr>
          <a:xfrm>
            <a:off x="7211422" y="8298214"/>
            <a:ext cx="2035978" cy="0"/>
          </a:xfrm>
          <a:prstGeom prst="line">
            <a:avLst/>
          </a:prstGeom>
          <a:ln w="19050">
            <a:solidFill>
              <a:srgbClr val="EF47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F4173C33-F9C9-4068-BCB2-D6F11BAD3815}"/>
              </a:ext>
            </a:extLst>
          </p:cNvPr>
          <p:cNvGrpSpPr/>
          <p:nvPr/>
        </p:nvGrpSpPr>
        <p:grpSpPr>
          <a:xfrm rot="2373708">
            <a:off x="4872369" y="4906626"/>
            <a:ext cx="2553613" cy="1285380"/>
            <a:chOff x="2082574" y="1263788"/>
            <a:chExt cx="2553613" cy="1285380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454B8B73-02CD-45F2-A244-9B42C0DCFA48}"/>
                </a:ext>
              </a:extLst>
            </p:cNvPr>
            <p:cNvGrpSpPr/>
            <p:nvPr/>
          </p:nvGrpSpPr>
          <p:grpSpPr>
            <a:xfrm>
              <a:off x="2082574" y="1263788"/>
              <a:ext cx="2553613" cy="1285380"/>
              <a:chOff x="2737657" y="2913616"/>
              <a:chExt cx="3059084" cy="1539813"/>
            </a:xfrm>
            <a:scene3d>
              <a:camera prst="orthographicFront">
                <a:rot lat="0" lon="0" rev="2400000"/>
              </a:camera>
              <a:lightRig rig="threePt" dir="t"/>
            </a:scene3d>
          </p:grpSpPr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8F70A12A-955A-44CA-AD14-CF775C1316A4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EE2BC23F-E057-433F-AD42-8B238FA1B9CC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2ED7E8C7-0ACF-4CBA-A6AE-5E93363CFD54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073B4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21B79F32-9457-46C6-9309-0F1ECB18C1F2}"/>
                </a:ext>
              </a:extLst>
            </p:cNvPr>
            <p:cNvSpPr txBox="1"/>
            <p:nvPr/>
          </p:nvSpPr>
          <p:spPr>
            <a:xfrm rot="19173824">
              <a:off x="3304028" y="2073478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073B4C"/>
                  </a:solidFill>
                  <a:latin typeface="Anton" panose="00000500000000000000" pitchFamily="2" charset="0"/>
                </a:rPr>
                <a:t>01</a:t>
              </a:r>
              <a:endParaRPr lang="en-US" sz="2000" spc="300" dirty="0">
                <a:solidFill>
                  <a:srgbClr val="073B4C"/>
                </a:solidFill>
                <a:latin typeface="Anton" panose="00000500000000000000" pitchFamily="2" charset="0"/>
              </a:endParaRPr>
            </a:p>
          </p:txBody>
        </p:sp>
      </p:grpSp>
      <p:sp>
        <p:nvSpPr>
          <p:cNvPr id="149" name="TextBox 148">
            <a:extLst>
              <a:ext uri="{FF2B5EF4-FFF2-40B4-BE49-F238E27FC236}">
                <a16:creationId xmlns:a16="http://schemas.microsoft.com/office/drawing/2014/main" id="{55182AE9-631D-4DC8-BB96-2460DA99BD6D}"/>
              </a:ext>
            </a:extLst>
          </p:cNvPr>
          <p:cNvSpPr txBox="1"/>
          <p:nvPr/>
        </p:nvSpPr>
        <p:spPr>
          <a:xfrm>
            <a:off x="-2246185" y="7269687"/>
            <a:ext cx="1962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073B4C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PROPONENTS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EBADC8B7-E6F2-4DE6-A5B6-756A57DE88DE}"/>
              </a:ext>
            </a:extLst>
          </p:cNvPr>
          <p:cNvSpPr txBox="1"/>
          <p:nvPr/>
        </p:nvSpPr>
        <p:spPr>
          <a:xfrm>
            <a:off x="19629" y="7176331"/>
            <a:ext cx="1962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118AB2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RATIONALE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5EEE4FEB-1D13-46C0-B11F-64AE2B6474EB}"/>
              </a:ext>
            </a:extLst>
          </p:cNvPr>
          <p:cNvSpPr txBox="1"/>
          <p:nvPr/>
        </p:nvSpPr>
        <p:spPr>
          <a:xfrm>
            <a:off x="2573708" y="7117704"/>
            <a:ext cx="1962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06D6A0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OBJECTIVES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1135AB04-9581-4CE2-8074-1E0A50C351D4}"/>
              </a:ext>
            </a:extLst>
          </p:cNvPr>
          <p:cNvSpPr txBox="1"/>
          <p:nvPr/>
        </p:nvSpPr>
        <p:spPr>
          <a:xfrm>
            <a:off x="5088902" y="7081085"/>
            <a:ext cx="19624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FFD166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SCOPE AND LIMITATION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3AC86DB6-6075-4A43-BF54-11BD4D3DC9C1}"/>
              </a:ext>
            </a:extLst>
          </p:cNvPr>
          <p:cNvSpPr txBox="1"/>
          <p:nvPr/>
        </p:nvSpPr>
        <p:spPr>
          <a:xfrm>
            <a:off x="7284960" y="7157754"/>
            <a:ext cx="1962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EF476F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METHODOLOGY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A1EDEF-FC10-4312-B134-CA6096982D3B}"/>
              </a:ext>
            </a:extLst>
          </p:cNvPr>
          <p:cNvSpPr/>
          <p:nvPr/>
        </p:nvSpPr>
        <p:spPr>
          <a:xfrm>
            <a:off x="4424075" y="6603896"/>
            <a:ext cx="3608487" cy="2266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0C667C1-FD69-4DD7-8927-DC0624F487B0}"/>
              </a:ext>
            </a:extLst>
          </p:cNvPr>
          <p:cNvSpPr txBox="1"/>
          <p:nvPr/>
        </p:nvSpPr>
        <p:spPr>
          <a:xfrm>
            <a:off x="-6212102" y="3052376"/>
            <a:ext cx="609407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997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SkoLide: An AI-Powered Presentation Generator with Prompt-Based Intelligent Content Creation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 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98E4EDC3-F10E-46BD-9B3D-27EC26DEAA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3092" y="1688321"/>
            <a:ext cx="2126319" cy="212631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DA7EA29B-3B74-46E2-958E-3D8A7D0C25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6181" y="1825871"/>
            <a:ext cx="2134446" cy="1988769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5EBCEB2-F506-48F9-B9E0-D0C185EF0B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3134" y="1685341"/>
            <a:ext cx="2113187" cy="2134446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C9DDE8C5-F859-4C6F-ACC7-AEB1699A4E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043" y="1980046"/>
            <a:ext cx="1815882" cy="1815882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E7CFB0F8-F16C-4BCB-839C-E2118CE6AA87}"/>
              </a:ext>
            </a:extLst>
          </p:cNvPr>
          <p:cNvSpPr txBox="1"/>
          <p:nvPr/>
        </p:nvSpPr>
        <p:spPr>
          <a:xfrm>
            <a:off x="5175444" y="614147"/>
            <a:ext cx="2035978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GROUP MEMBERS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59C8673-F463-489E-A132-E1B356E09C28}"/>
              </a:ext>
            </a:extLst>
          </p:cNvPr>
          <p:cNvSpPr txBox="1"/>
          <p:nvPr/>
        </p:nvSpPr>
        <p:spPr>
          <a:xfrm>
            <a:off x="916043" y="3924933"/>
            <a:ext cx="1920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Matthew Pascua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C77112D-4CC8-40C1-BC99-BC2C8C68D31F}"/>
              </a:ext>
            </a:extLst>
          </p:cNvPr>
          <p:cNvSpPr txBox="1"/>
          <p:nvPr/>
        </p:nvSpPr>
        <p:spPr>
          <a:xfrm>
            <a:off x="3707783" y="3928767"/>
            <a:ext cx="1636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Leila Dichoso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2B7A972-4FE4-4029-8C6B-E6A2B08865A1}"/>
              </a:ext>
            </a:extLst>
          </p:cNvPr>
          <p:cNvSpPr txBox="1"/>
          <p:nvPr/>
        </p:nvSpPr>
        <p:spPr>
          <a:xfrm>
            <a:off x="6236502" y="3951652"/>
            <a:ext cx="1859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John Loyd Viray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098FD36-24F5-4148-BA72-CB2E0FDF73D2}"/>
              </a:ext>
            </a:extLst>
          </p:cNvPr>
          <p:cNvSpPr txBox="1"/>
          <p:nvPr/>
        </p:nvSpPr>
        <p:spPr>
          <a:xfrm>
            <a:off x="9262100" y="3924933"/>
            <a:ext cx="154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Cyruz Hapin</a:t>
            </a:r>
          </a:p>
        </p:txBody>
      </p:sp>
    </p:spTree>
    <p:extLst>
      <p:ext uri="{BB962C8B-B14F-4D97-AF65-F5344CB8AC3E}">
        <p14:creationId xmlns:p14="http://schemas.microsoft.com/office/powerpoint/2010/main" val="11687121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Oval 53">
            <a:extLst>
              <a:ext uri="{FF2B5EF4-FFF2-40B4-BE49-F238E27FC236}">
                <a16:creationId xmlns:a16="http://schemas.microsoft.com/office/drawing/2014/main" id="{E75E415E-D168-4A64-BFEB-CF6E5E91C618}"/>
              </a:ext>
            </a:extLst>
          </p:cNvPr>
          <p:cNvSpPr/>
          <p:nvPr/>
        </p:nvSpPr>
        <p:spPr>
          <a:xfrm>
            <a:off x="1062384" y="5429735"/>
            <a:ext cx="3554083" cy="1174161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85000"/>
                  <a:alpha val="0"/>
                </a:schemeClr>
              </a:gs>
              <a:gs pos="95000">
                <a:schemeClr val="tx1">
                  <a:lumMod val="85000"/>
                  <a:lumOff val="15000"/>
                </a:schemeClr>
              </a:gs>
            </a:gsLst>
            <a:lin ang="0" scaled="1"/>
            <a:tileRect/>
          </a:gradFill>
          <a:ln>
            <a:noFill/>
          </a:ln>
          <a:effectLst>
            <a:softEdge rad="3048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59A91C9-5054-421D-8AB9-E071BA377352}"/>
              </a:ext>
            </a:extLst>
          </p:cNvPr>
          <p:cNvGrpSpPr/>
          <p:nvPr/>
        </p:nvGrpSpPr>
        <p:grpSpPr>
          <a:xfrm>
            <a:off x="2038070" y="4505166"/>
            <a:ext cx="3355676" cy="1400788"/>
            <a:chOff x="2038070" y="4505166"/>
            <a:chExt cx="3355676" cy="1400788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343157D5-4FF2-4FA1-9D59-419EF512DD63}"/>
                </a:ext>
              </a:extLst>
            </p:cNvPr>
            <p:cNvGrpSpPr/>
            <p:nvPr/>
          </p:nvGrpSpPr>
          <p:grpSpPr>
            <a:xfrm>
              <a:off x="2038070" y="4505166"/>
              <a:ext cx="3355676" cy="1400788"/>
              <a:chOff x="2596550" y="2775364"/>
              <a:chExt cx="4019910" cy="1678065"/>
            </a:xfrm>
            <a:scene3d>
              <a:camera prst="orthographicFront">
                <a:rot lat="0" lon="0" rev="19199999"/>
              </a:camera>
              <a:lightRig rig="threePt" dir="t"/>
            </a:scene3d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892C5BCC-B12D-4C7A-B111-34582936145D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B67A78B7-6B3D-456A-A208-4D26B1ABD8E3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1E2ED20F-42CC-4834-B53D-E458D5168208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EF476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475AEADC-907C-4D82-B7F4-153288554B19}"/>
                  </a:ext>
                </a:extLst>
              </p:cNvPr>
              <p:cNvSpPr/>
              <p:nvPr/>
            </p:nvSpPr>
            <p:spPr>
              <a:xfrm>
                <a:off x="2596550" y="2775364"/>
                <a:ext cx="4019910" cy="137394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alpha val="0"/>
                    </a:schemeClr>
                  </a:gs>
                  <a:gs pos="95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softEdge rad="266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4501ABC5-43E0-49AC-BC00-8C50BB95BF58}"/>
                </a:ext>
              </a:extLst>
            </p:cNvPr>
            <p:cNvSpPr txBox="1"/>
            <p:nvPr/>
          </p:nvSpPr>
          <p:spPr>
            <a:xfrm rot="2317436">
              <a:off x="3084625" y="5387604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EF476F"/>
                  </a:solidFill>
                  <a:latin typeface="Anton" panose="00000500000000000000" pitchFamily="2" charset="0"/>
                </a:rPr>
                <a:t>05</a:t>
              </a:r>
              <a:endParaRPr lang="en-US" sz="2000" spc="300" dirty="0">
                <a:solidFill>
                  <a:srgbClr val="EF476F"/>
                </a:solidFill>
                <a:latin typeface="Anton" panose="00000500000000000000" pitchFamily="2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0F3C0F4-B6E4-4C48-9EF4-98AD4F55FA69}"/>
              </a:ext>
            </a:extLst>
          </p:cNvPr>
          <p:cNvGrpSpPr/>
          <p:nvPr/>
        </p:nvGrpSpPr>
        <p:grpSpPr>
          <a:xfrm>
            <a:off x="2459965" y="3663791"/>
            <a:ext cx="3355676" cy="1400788"/>
            <a:chOff x="2459965" y="3663791"/>
            <a:chExt cx="3355676" cy="140078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A5F928E-6A3A-4AC3-B40D-78D692B6B9A6}"/>
                </a:ext>
              </a:extLst>
            </p:cNvPr>
            <p:cNvGrpSpPr/>
            <p:nvPr/>
          </p:nvGrpSpPr>
          <p:grpSpPr>
            <a:xfrm>
              <a:off x="2459965" y="3663791"/>
              <a:ext cx="3355676" cy="1400788"/>
              <a:chOff x="2596550" y="2775364"/>
              <a:chExt cx="4019910" cy="1678065"/>
            </a:xfrm>
            <a:scene3d>
              <a:camera prst="orthographicFront">
                <a:rot lat="0" lon="0" rev="20399999"/>
              </a:camera>
              <a:lightRig rig="threePt" dir="t"/>
            </a:scene3d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8B059B1-A6BA-41B1-862D-EFADE8A7E0E4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5A53785F-C2D2-4537-BF9E-41355E3DFB81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9D5353B7-0849-4523-BD12-172B32B20B51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FFD1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966420CD-FEF1-49EC-8302-619086DCC8A7}"/>
                  </a:ext>
                </a:extLst>
              </p:cNvPr>
              <p:cNvSpPr/>
              <p:nvPr/>
            </p:nvSpPr>
            <p:spPr>
              <a:xfrm>
                <a:off x="2596550" y="2775364"/>
                <a:ext cx="4019910" cy="137394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alpha val="0"/>
                    </a:schemeClr>
                  </a:gs>
                  <a:gs pos="95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softEdge rad="266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18C98E25-E4E3-49C9-BF77-2540DFCDED07}"/>
                </a:ext>
              </a:extLst>
            </p:cNvPr>
            <p:cNvSpPr txBox="1"/>
            <p:nvPr/>
          </p:nvSpPr>
          <p:spPr>
            <a:xfrm rot="962716">
              <a:off x="3693611" y="4653891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FFD166"/>
                  </a:solidFill>
                  <a:latin typeface="Anton" panose="00000500000000000000" pitchFamily="2" charset="0"/>
                </a:rPr>
                <a:t>04</a:t>
              </a:r>
              <a:endParaRPr lang="en-US" sz="2000" spc="300" dirty="0">
                <a:solidFill>
                  <a:srgbClr val="FFD166"/>
                </a:solidFill>
                <a:latin typeface="Anton" panose="00000500000000000000" pitchFamily="2" charset="0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A1592EFB-3A7E-45D6-A98E-2179EC9E0047}"/>
              </a:ext>
            </a:extLst>
          </p:cNvPr>
          <p:cNvGrpSpPr/>
          <p:nvPr/>
        </p:nvGrpSpPr>
        <p:grpSpPr>
          <a:xfrm>
            <a:off x="2589362" y="2728606"/>
            <a:ext cx="3355676" cy="1400788"/>
            <a:chOff x="2589362" y="2728606"/>
            <a:chExt cx="3355676" cy="1400788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F3D935D-0ECA-4D6F-BEFE-A1CB93FD10E7}"/>
                </a:ext>
              </a:extLst>
            </p:cNvPr>
            <p:cNvGrpSpPr/>
            <p:nvPr/>
          </p:nvGrpSpPr>
          <p:grpSpPr>
            <a:xfrm>
              <a:off x="2589362" y="2728606"/>
              <a:ext cx="3355676" cy="1400788"/>
              <a:chOff x="2596550" y="2775364"/>
              <a:chExt cx="4019910" cy="1678065"/>
            </a:xfrm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561C2D06-12A5-43AC-90FD-8DE901D4A5A9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1DACD449-33AF-4702-91CF-490058943DF5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97505746-BE53-4BA7-8480-35238ED37367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06D6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F200FD4-1487-46E5-900E-DE692E1F5E2C}"/>
                  </a:ext>
                </a:extLst>
              </p:cNvPr>
              <p:cNvSpPr/>
              <p:nvPr/>
            </p:nvSpPr>
            <p:spPr>
              <a:xfrm>
                <a:off x="2596550" y="2775364"/>
                <a:ext cx="4019910" cy="137394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alpha val="0"/>
                    </a:schemeClr>
                  </a:gs>
                  <a:gs pos="95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softEdge rad="266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A80DC888-46C4-49C5-8C75-8CDF81E54FAC}"/>
                </a:ext>
              </a:extLst>
            </p:cNvPr>
            <p:cNvSpPr txBox="1"/>
            <p:nvPr/>
          </p:nvSpPr>
          <p:spPr>
            <a:xfrm>
              <a:off x="3908292" y="3708324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06D6A0"/>
                  </a:solidFill>
                  <a:latin typeface="Anton" panose="00000500000000000000" pitchFamily="2" charset="0"/>
                </a:rPr>
                <a:t>03</a:t>
              </a:r>
              <a:endParaRPr lang="en-US" sz="2000" spc="300" dirty="0">
                <a:solidFill>
                  <a:srgbClr val="06D6A0"/>
                </a:solidFill>
                <a:latin typeface="Anton" panose="00000500000000000000" pitchFamily="2" charset="0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02B6B8B-8297-4273-8010-61142DF79695}"/>
              </a:ext>
            </a:extLst>
          </p:cNvPr>
          <p:cNvGrpSpPr/>
          <p:nvPr/>
        </p:nvGrpSpPr>
        <p:grpSpPr>
          <a:xfrm>
            <a:off x="2376531" y="1804037"/>
            <a:ext cx="3355676" cy="1428965"/>
            <a:chOff x="2376531" y="1804037"/>
            <a:chExt cx="3355676" cy="1428965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62C35E0C-2906-4AAF-8057-3A40B59EE48B}"/>
                </a:ext>
              </a:extLst>
            </p:cNvPr>
            <p:cNvGrpSpPr/>
            <p:nvPr/>
          </p:nvGrpSpPr>
          <p:grpSpPr>
            <a:xfrm>
              <a:off x="2376531" y="1804037"/>
              <a:ext cx="3355676" cy="1400788"/>
              <a:chOff x="2596550" y="2775364"/>
              <a:chExt cx="4019910" cy="1678065"/>
            </a:xfrm>
            <a:scene3d>
              <a:camera prst="orthographicFront">
                <a:rot lat="0" lon="0" rev="1200000"/>
              </a:camera>
              <a:lightRig rig="threePt" dir="t"/>
            </a:scene3d>
          </p:grpSpPr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129D9395-4F7F-469C-A275-CFE0E62E8CDB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A3AAFBC9-A40E-444C-AE46-4536C94E12FD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2BA9BCEE-9897-4C90-A035-492954969E3F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118A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3C0E6B84-CBA1-4654-8281-81A3F63EE4B8}"/>
                  </a:ext>
                </a:extLst>
              </p:cNvPr>
              <p:cNvSpPr/>
              <p:nvPr/>
            </p:nvSpPr>
            <p:spPr>
              <a:xfrm>
                <a:off x="2596550" y="2775364"/>
                <a:ext cx="4019910" cy="137394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alpha val="0"/>
                    </a:schemeClr>
                  </a:gs>
                  <a:gs pos="95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softEdge rad="266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0CBCCC58-A312-4FD0-A98A-20092941C790}"/>
                </a:ext>
              </a:extLst>
            </p:cNvPr>
            <p:cNvSpPr txBox="1"/>
            <p:nvPr/>
          </p:nvSpPr>
          <p:spPr>
            <a:xfrm rot="20409358">
              <a:off x="3733524" y="2832892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118AB2"/>
                  </a:solidFill>
                  <a:latin typeface="Anton" panose="00000500000000000000" pitchFamily="2" charset="0"/>
                </a:rPr>
                <a:t>02</a:t>
              </a:r>
              <a:endParaRPr lang="en-US" sz="2000" spc="300" dirty="0">
                <a:solidFill>
                  <a:srgbClr val="118AB2"/>
                </a:solidFill>
                <a:latin typeface="Anton" panose="00000500000000000000" pitchFamily="2" charset="0"/>
              </a:endParaRPr>
            </a:p>
          </p:txBody>
        </p:sp>
      </p:grp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11DDBD69-51C5-405D-BBBA-9C98635472A7}"/>
              </a:ext>
            </a:extLst>
          </p:cNvPr>
          <p:cNvCxnSpPr/>
          <p:nvPr/>
        </p:nvCxnSpPr>
        <p:spPr>
          <a:xfrm>
            <a:off x="4175043" y="931653"/>
            <a:ext cx="2035978" cy="0"/>
          </a:xfrm>
          <a:prstGeom prst="line">
            <a:avLst/>
          </a:prstGeom>
          <a:ln w="19050">
            <a:solidFill>
              <a:srgbClr val="073B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B322033C-947B-45E0-B7B9-C72EDFB8F841}"/>
              </a:ext>
            </a:extLst>
          </p:cNvPr>
          <p:cNvCxnSpPr/>
          <p:nvPr/>
        </p:nvCxnSpPr>
        <p:spPr>
          <a:xfrm>
            <a:off x="4927049" y="2011729"/>
            <a:ext cx="2035978" cy="0"/>
          </a:xfrm>
          <a:prstGeom prst="line">
            <a:avLst/>
          </a:prstGeom>
          <a:ln w="19050">
            <a:solidFill>
              <a:srgbClr val="118A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5A413F8D-A016-4F17-9D7E-67A113EEAEB9}"/>
              </a:ext>
            </a:extLst>
          </p:cNvPr>
          <p:cNvCxnSpPr/>
          <p:nvPr/>
        </p:nvCxnSpPr>
        <p:spPr>
          <a:xfrm>
            <a:off x="5260766" y="3292294"/>
            <a:ext cx="2035978" cy="0"/>
          </a:xfrm>
          <a:prstGeom prst="line">
            <a:avLst/>
          </a:prstGeom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CE59764A-0547-492E-ADF3-0F1B714FE7D4}"/>
              </a:ext>
            </a:extLst>
          </p:cNvPr>
          <p:cNvCxnSpPr/>
          <p:nvPr/>
        </p:nvCxnSpPr>
        <p:spPr>
          <a:xfrm>
            <a:off x="5114117" y="4501309"/>
            <a:ext cx="2035978" cy="0"/>
          </a:xfrm>
          <a:prstGeom prst="line">
            <a:avLst/>
          </a:prstGeom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D08ABF5C-1D62-4495-AB80-6BAD31305015}"/>
              </a:ext>
            </a:extLst>
          </p:cNvPr>
          <p:cNvCxnSpPr/>
          <p:nvPr/>
        </p:nvCxnSpPr>
        <p:spPr>
          <a:xfrm>
            <a:off x="4536148" y="5752139"/>
            <a:ext cx="2035978" cy="0"/>
          </a:xfrm>
          <a:prstGeom prst="line">
            <a:avLst/>
          </a:prstGeom>
          <a:ln w="19050">
            <a:solidFill>
              <a:srgbClr val="EF47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F4173C33-F9C9-4068-BCB2-D6F11BAD3815}"/>
              </a:ext>
            </a:extLst>
          </p:cNvPr>
          <p:cNvGrpSpPr/>
          <p:nvPr/>
        </p:nvGrpSpPr>
        <p:grpSpPr>
          <a:xfrm>
            <a:off x="2082574" y="1263788"/>
            <a:ext cx="2553613" cy="1285380"/>
            <a:chOff x="2082574" y="1263788"/>
            <a:chExt cx="2553613" cy="1285380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454B8B73-02CD-45F2-A244-9B42C0DCFA48}"/>
                </a:ext>
              </a:extLst>
            </p:cNvPr>
            <p:cNvGrpSpPr/>
            <p:nvPr/>
          </p:nvGrpSpPr>
          <p:grpSpPr>
            <a:xfrm>
              <a:off x="2082574" y="1263788"/>
              <a:ext cx="2553613" cy="1285380"/>
              <a:chOff x="2737657" y="2913616"/>
              <a:chExt cx="3059084" cy="1539813"/>
            </a:xfrm>
            <a:scene3d>
              <a:camera prst="orthographicFront">
                <a:rot lat="0" lon="0" rev="2400000"/>
              </a:camera>
              <a:lightRig rig="threePt" dir="t"/>
            </a:scene3d>
          </p:grpSpPr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8F70A12A-955A-44CA-AD14-CF775C1316A4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EE2BC23F-E057-433F-AD42-8B238FA1B9CC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2ED7E8C7-0ACF-4CBA-A6AE-5E93363CFD54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073B4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21B79F32-9457-46C6-9309-0F1ECB18C1F2}"/>
                </a:ext>
              </a:extLst>
            </p:cNvPr>
            <p:cNvSpPr txBox="1"/>
            <p:nvPr/>
          </p:nvSpPr>
          <p:spPr>
            <a:xfrm rot="19173824">
              <a:off x="3304028" y="2073478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073B4C"/>
                  </a:solidFill>
                  <a:latin typeface="Anton" panose="00000500000000000000" pitchFamily="2" charset="0"/>
                </a:rPr>
                <a:t>01</a:t>
              </a:r>
              <a:endParaRPr lang="en-US" sz="2000" spc="300" dirty="0">
                <a:solidFill>
                  <a:srgbClr val="073B4C"/>
                </a:solidFill>
                <a:latin typeface="Anton" panose="00000500000000000000" pitchFamily="2" charset="0"/>
              </a:endParaRPr>
            </a:p>
          </p:txBody>
        </p:sp>
      </p:grpSp>
      <p:sp>
        <p:nvSpPr>
          <p:cNvPr id="149" name="TextBox 148">
            <a:extLst>
              <a:ext uri="{FF2B5EF4-FFF2-40B4-BE49-F238E27FC236}">
                <a16:creationId xmlns:a16="http://schemas.microsoft.com/office/drawing/2014/main" id="{55182AE9-631D-4DC8-BB96-2460DA99BD6D}"/>
              </a:ext>
            </a:extLst>
          </p:cNvPr>
          <p:cNvSpPr txBox="1"/>
          <p:nvPr/>
        </p:nvSpPr>
        <p:spPr>
          <a:xfrm>
            <a:off x="5911486" y="731165"/>
            <a:ext cx="1962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073B4C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PROPONENTS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EBADC8B7-E6F2-4DE6-A5B6-756A57DE88DE}"/>
              </a:ext>
            </a:extLst>
          </p:cNvPr>
          <p:cNvSpPr txBox="1"/>
          <p:nvPr/>
        </p:nvSpPr>
        <p:spPr>
          <a:xfrm>
            <a:off x="6572126" y="1848758"/>
            <a:ext cx="1962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118AB2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RATIONALE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5EEE4FEB-1D13-46C0-B11F-64AE2B6474EB}"/>
              </a:ext>
            </a:extLst>
          </p:cNvPr>
          <p:cNvSpPr txBox="1"/>
          <p:nvPr/>
        </p:nvSpPr>
        <p:spPr>
          <a:xfrm>
            <a:off x="6907432" y="3114895"/>
            <a:ext cx="1962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06D6A0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OBJECTIVES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1135AB04-9581-4CE2-8074-1E0A50C351D4}"/>
              </a:ext>
            </a:extLst>
          </p:cNvPr>
          <p:cNvSpPr txBox="1"/>
          <p:nvPr/>
        </p:nvSpPr>
        <p:spPr>
          <a:xfrm>
            <a:off x="7092167" y="4296958"/>
            <a:ext cx="2199185" cy="500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FFD166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SCOPE AND LIMITATION</a:t>
            </a:r>
          </a:p>
          <a:p>
            <a:pPr algn="ctr"/>
            <a:r>
              <a:rPr lang="en-IN" sz="1050" dirty="0">
                <a:latin typeface="Economica" panose="02000506040000020004" pitchFamily="2" charset="0"/>
              </a:rPr>
              <a:t>.</a:t>
            </a:r>
            <a:endParaRPr lang="en-US" sz="1050" dirty="0">
              <a:latin typeface="Economica" panose="02000506040000020004" pitchFamily="2" charset="0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3AC86DB6-6075-4A43-BF54-11BD4D3DC9C1}"/>
              </a:ext>
            </a:extLst>
          </p:cNvPr>
          <p:cNvSpPr txBox="1"/>
          <p:nvPr/>
        </p:nvSpPr>
        <p:spPr>
          <a:xfrm>
            <a:off x="6346044" y="5574858"/>
            <a:ext cx="1962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EF476F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METHODOLOGY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A1EDEF-FC10-4312-B134-CA6096982D3B}"/>
              </a:ext>
            </a:extLst>
          </p:cNvPr>
          <p:cNvSpPr/>
          <p:nvPr/>
        </p:nvSpPr>
        <p:spPr>
          <a:xfrm>
            <a:off x="4424075" y="6603896"/>
            <a:ext cx="3608487" cy="2266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0C667C1-FD69-4DD7-8927-DC0624F487B0}"/>
              </a:ext>
            </a:extLst>
          </p:cNvPr>
          <p:cNvSpPr txBox="1"/>
          <p:nvPr/>
        </p:nvSpPr>
        <p:spPr>
          <a:xfrm>
            <a:off x="-6212102" y="3052376"/>
            <a:ext cx="609407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997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SkoLide: An AI-Powered Presentation Generator with Prompt-Based Intelligent Content Creation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 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98E4EDC3-F10E-46BD-9B3D-27EC26DEAA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271758" y="6590878"/>
            <a:ext cx="3232829" cy="323282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DA7EA29B-3B74-46E2-958E-3D8A7D0C25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35074" y="-2809202"/>
            <a:ext cx="2267154" cy="2267154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5EBCEB2-F506-48F9-B9E0-D0C185EF0B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84137" y="-3636201"/>
            <a:ext cx="3344899" cy="337855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C9DDE8C5-F859-4C6F-ACC7-AEB1699A4E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5566" y="6817234"/>
            <a:ext cx="3122042" cy="3122042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10EF7A5A-0B98-4281-835B-70546072CDDC}"/>
              </a:ext>
            </a:extLst>
          </p:cNvPr>
          <p:cNvSpPr txBox="1"/>
          <p:nvPr/>
        </p:nvSpPr>
        <p:spPr>
          <a:xfrm>
            <a:off x="1651819" y="-1460090"/>
            <a:ext cx="4293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GROUP MEMBERS</a:t>
            </a:r>
          </a:p>
        </p:txBody>
      </p:sp>
    </p:spTree>
    <p:extLst>
      <p:ext uri="{BB962C8B-B14F-4D97-AF65-F5344CB8AC3E}">
        <p14:creationId xmlns:p14="http://schemas.microsoft.com/office/powerpoint/2010/main" val="26611284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Oval 53">
            <a:extLst>
              <a:ext uri="{FF2B5EF4-FFF2-40B4-BE49-F238E27FC236}">
                <a16:creationId xmlns:a16="http://schemas.microsoft.com/office/drawing/2014/main" id="{E75E415E-D168-4A64-BFEB-CF6E5E91C618}"/>
              </a:ext>
            </a:extLst>
          </p:cNvPr>
          <p:cNvSpPr/>
          <p:nvPr/>
        </p:nvSpPr>
        <p:spPr>
          <a:xfrm>
            <a:off x="4047279" y="5737493"/>
            <a:ext cx="3554083" cy="1174161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85000"/>
                  <a:alpha val="0"/>
                </a:schemeClr>
              </a:gs>
              <a:gs pos="95000">
                <a:schemeClr val="tx1">
                  <a:lumMod val="85000"/>
                  <a:lumOff val="15000"/>
                </a:schemeClr>
              </a:gs>
            </a:gsLst>
            <a:lin ang="0" scaled="1"/>
            <a:tileRect/>
          </a:gradFill>
          <a:ln>
            <a:noFill/>
          </a:ln>
          <a:effectLst>
            <a:softEdge rad="3048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59A91C9-5054-421D-8AB9-E071BA377352}"/>
              </a:ext>
            </a:extLst>
          </p:cNvPr>
          <p:cNvGrpSpPr/>
          <p:nvPr/>
        </p:nvGrpSpPr>
        <p:grpSpPr>
          <a:xfrm>
            <a:off x="-2211833" y="7941976"/>
            <a:ext cx="3355676" cy="1400788"/>
            <a:chOff x="2038070" y="4505166"/>
            <a:chExt cx="3355676" cy="1400788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343157D5-4FF2-4FA1-9D59-419EF512DD63}"/>
                </a:ext>
              </a:extLst>
            </p:cNvPr>
            <p:cNvGrpSpPr/>
            <p:nvPr/>
          </p:nvGrpSpPr>
          <p:grpSpPr>
            <a:xfrm>
              <a:off x="2038070" y="4505166"/>
              <a:ext cx="3355676" cy="1400788"/>
              <a:chOff x="2596550" y="2775364"/>
              <a:chExt cx="4019910" cy="1678065"/>
            </a:xfrm>
            <a:scene3d>
              <a:camera prst="orthographicFront">
                <a:rot lat="0" lon="0" rev="19199999"/>
              </a:camera>
              <a:lightRig rig="threePt" dir="t"/>
            </a:scene3d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892C5BCC-B12D-4C7A-B111-34582936145D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B67A78B7-6B3D-456A-A208-4D26B1ABD8E3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1E2ED20F-42CC-4834-B53D-E458D5168208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EF476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475AEADC-907C-4D82-B7F4-153288554B19}"/>
                  </a:ext>
                </a:extLst>
              </p:cNvPr>
              <p:cNvSpPr/>
              <p:nvPr/>
            </p:nvSpPr>
            <p:spPr>
              <a:xfrm>
                <a:off x="2596550" y="2775364"/>
                <a:ext cx="4019910" cy="137394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alpha val="0"/>
                    </a:schemeClr>
                  </a:gs>
                  <a:gs pos="95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softEdge rad="266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4501ABC5-43E0-49AC-BC00-8C50BB95BF58}"/>
                </a:ext>
              </a:extLst>
            </p:cNvPr>
            <p:cNvSpPr txBox="1"/>
            <p:nvPr/>
          </p:nvSpPr>
          <p:spPr>
            <a:xfrm rot="2317436">
              <a:off x="3084625" y="5387604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EF476F"/>
                  </a:solidFill>
                  <a:latin typeface="Anton" panose="00000500000000000000" pitchFamily="2" charset="0"/>
                </a:rPr>
                <a:t>05</a:t>
              </a:r>
              <a:endParaRPr lang="en-US" sz="2000" spc="300" dirty="0">
                <a:solidFill>
                  <a:srgbClr val="EF476F"/>
                </a:solidFill>
                <a:latin typeface="Anton" panose="00000500000000000000" pitchFamily="2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0F3C0F4-B6E4-4C48-9EF4-98AD4F55FA69}"/>
              </a:ext>
            </a:extLst>
          </p:cNvPr>
          <p:cNvGrpSpPr/>
          <p:nvPr/>
        </p:nvGrpSpPr>
        <p:grpSpPr>
          <a:xfrm>
            <a:off x="-4641178" y="7272936"/>
            <a:ext cx="3355676" cy="1400788"/>
            <a:chOff x="2459965" y="3663791"/>
            <a:chExt cx="3355676" cy="140078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A5F928E-6A3A-4AC3-B40D-78D692B6B9A6}"/>
                </a:ext>
              </a:extLst>
            </p:cNvPr>
            <p:cNvGrpSpPr/>
            <p:nvPr/>
          </p:nvGrpSpPr>
          <p:grpSpPr>
            <a:xfrm>
              <a:off x="2459965" y="3663791"/>
              <a:ext cx="3355676" cy="1400788"/>
              <a:chOff x="2596550" y="2775364"/>
              <a:chExt cx="4019910" cy="1678065"/>
            </a:xfrm>
            <a:scene3d>
              <a:camera prst="orthographicFront">
                <a:rot lat="0" lon="0" rev="20399999"/>
              </a:camera>
              <a:lightRig rig="threePt" dir="t"/>
            </a:scene3d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8B059B1-A6BA-41B1-862D-EFADE8A7E0E4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5A53785F-C2D2-4537-BF9E-41355E3DFB81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9D5353B7-0849-4523-BD12-172B32B20B51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FFD1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966420CD-FEF1-49EC-8302-619086DCC8A7}"/>
                  </a:ext>
                </a:extLst>
              </p:cNvPr>
              <p:cNvSpPr/>
              <p:nvPr/>
            </p:nvSpPr>
            <p:spPr>
              <a:xfrm>
                <a:off x="2596550" y="2775364"/>
                <a:ext cx="4019910" cy="137394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alpha val="0"/>
                    </a:schemeClr>
                  </a:gs>
                  <a:gs pos="95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softEdge rad="266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18C98E25-E4E3-49C9-BF77-2540DFCDED07}"/>
                </a:ext>
              </a:extLst>
            </p:cNvPr>
            <p:cNvSpPr txBox="1"/>
            <p:nvPr/>
          </p:nvSpPr>
          <p:spPr>
            <a:xfrm rot="962716">
              <a:off x="3693611" y="4653891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FFD166"/>
                  </a:solidFill>
                  <a:latin typeface="Anton" panose="00000500000000000000" pitchFamily="2" charset="0"/>
                </a:rPr>
                <a:t>04</a:t>
              </a:r>
              <a:endParaRPr lang="en-US" sz="2000" spc="300" dirty="0">
                <a:solidFill>
                  <a:srgbClr val="FFD166"/>
                </a:solidFill>
                <a:latin typeface="Anton" panose="00000500000000000000" pitchFamily="2" charset="0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A1592EFB-3A7E-45D6-A98E-2179EC9E0047}"/>
              </a:ext>
            </a:extLst>
          </p:cNvPr>
          <p:cNvGrpSpPr/>
          <p:nvPr/>
        </p:nvGrpSpPr>
        <p:grpSpPr>
          <a:xfrm>
            <a:off x="-4603115" y="5903502"/>
            <a:ext cx="3355676" cy="1400788"/>
            <a:chOff x="2589362" y="2728606"/>
            <a:chExt cx="3355676" cy="1400788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F3D935D-0ECA-4D6F-BEFE-A1CB93FD10E7}"/>
                </a:ext>
              </a:extLst>
            </p:cNvPr>
            <p:cNvGrpSpPr/>
            <p:nvPr/>
          </p:nvGrpSpPr>
          <p:grpSpPr>
            <a:xfrm>
              <a:off x="2589362" y="2728606"/>
              <a:ext cx="3355676" cy="1400788"/>
              <a:chOff x="2596550" y="2775364"/>
              <a:chExt cx="4019910" cy="1678065"/>
            </a:xfrm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561C2D06-12A5-43AC-90FD-8DE901D4A5A9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1DACD449-33AF-4702-91CF-490058943DF5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97505746-BE53-4BA7-8480-35238ED37367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06D6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F200FD4-1487-46E5-900E-DE692E1F5E2C}"/>
                  </a:ext>
                </a:extLst>
              </p:cNvPr>
              <p:cNvSpPr/>
              <p:nvPr/>
            </p:nvSpPr>
            <p:spPr>
              <a:xfrm>
                <a:off x="2596550" y="2775364"/>
                <a:ext cx="4019910" cy="137394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alpha val="0"/>
                    </a:schemeClr>
                  </a:gs>
                  <a:gs pos="95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softEdge rad="266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A80DC888-46C4-49C5-8C75-8CDF81E54FAC}"/>
                </a:ext>
              </a:extLst>
            </p:cNvPr>
            <p:cNvSpPr txBox="1"/>
            <p:nvPr/>
          </p:nvSpPr>
          <p:spPr>
            <a:xfrm>
              <a:off x="3908292" y="3708324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06D6A0"/>
                  </a:solidFill>
                  <a:latin typeface="Anton" panose="00000500000000000000" pitchFamily="2" charset="0"/>
                </a:rPr>
                <a:t>03</a:t>
              </a:r>
              <a:endParaRPr lang="en-US" sz="2000" spc="300" dirty="0">
                <a:solidFill>
                  <a:srgbClr val="06D6A0"/>
                </a:solidFill>
                <a:latin typeface="Anton" panose="00000500000000000000" pitchFamily="2" charset="0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02B6B8B-8297-4273-8010-61142DF79695}"/>
              </a:ext>
            </a:extLst>
          </p:cNvPr>
          <p:cNvGrpSpPr/>
          <p:nvPr/>
        </p:nvGrpSpPr>
        <p:grpSpPr>
          <a:xfrm rot="1121605">
            <a:off x="4625566" y="5005999"/>
            <a:ext cx="3355676" cy="1428965"/>
            <a:chOff x="2376531" y="1804037"/>
            <a:chExt cx="3355676" cy="1428965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62C35E0C-2906-4AAF-8057-3A40B59EE48B}"/>
                </a:ext>
              </a:extLst>
            </p:cNvPr>
            <p:cNvGrpSpPr/>
            <p:nvPr/>
          </p:nvGrpSpPr>
          <p:grpSpPr>
            <a:xfrm>
              <a:off x="2376531" y="1804037"/>
              <a:ext cx="3355676" cy="1400788"/>
              <a:chOff x="2596550" y="2775364"/>
              <a:chExt cx="4019910" cy="1678065"/>
            </a:xfrm>
            <a:scene3d>
              <a:camera prst="orthographicFront">
                <a:rot lat="0" lon="0" rev="1200000"/>
              </a:camera>
              <a:lightRig rig="threePt" dir="t"/>
            </a:scene3d>
          </p:grpSpPr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129D9395-4F7F-469C-A275-CFE0E62E8CDB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A3AAFBC9-A40E-444C-AE46-4536C94E12FD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2BA9BCEE-9897-4C90-A035-492954969E3F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118A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3C0E6B84-CBA1-4654-8281-81A3F63EE4B8}"/>
                  </a:ext>
                </a:extLst>
              </p:cNvPr>
              <p:cNvSpPr/>
              <p:nvPr/>
            </p:nvSpPr>
            <p:spPr>
              <a:xfrm>
                <a:off x="2596550" y="2775364"/>
                <a:ext cx="4019910" cy="137394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alpha val="0"/>
                    </a:schemeClr>
                  </a:gs>
                  <a:gs pos="95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softEdge rad="266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0CBCCC58-A312-4FD0-A98A-20092941C790}"/>
                </a:ext>
              </a:extLst>
            </p:cNvPr>
            <p:cNvSpPr txBox="1"/>
            <p:nvPr/>
          </p:nvSpPr>
          <p:spPr>
            <a:xfrm rot="20409358">
              <a:off x="3733524" y="2832892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118AB2"/>
                  </a:solidFill>
                  <a:latin typeface="Anton" panose="00000500000000000000" pitchFamily="2" charset="0"/>
                </a:rPr>
                <a:t>02</a:t>
              </a:r>
              <a:endParaRPr lang="en-US" sz="2000" spc="300" dirty="0">
                <a:solidFill>
                  <a:srgbClr val="118AB2"/>
                </a:solidFill>
                <a:latin typeface="Anton" panose="00000500000000000000" pitchFamily="2" charset="0"/>
              </a:endParaRPr>
            </a:p>
          </p:txBody>
        </p:sp>
      </p:grp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11DDBD69-51C5-405D-BBBA-9C98635472A7}"/>
              </a:ext>
            </a:extLst>
          </p:cNvPr>
          <p:cNvCxnSpPr/>
          <p:nvPr/>
        </p:nvCxnSpPr>
        <p:spPr>
          <a:xfrm>
            <a:off x="-344014" y="7785128"/>
            <a:ext cx="2035978" cy="0"/>
          </a:xfrm>
          <a:prstGeom prst="line">
            <a:avLst/>
          </a:prstGeom>
          <a:ln w="19050">
            <a:solidFill>
              <a:srgbClr val="073B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5A413F8D-A016-4F17-9D7E-67A113EEAEB9}"/>
              </a:ext>
            </a:extLst>
          </p:cNvPr>
          <p:cNvCxnSpPr/>
          <p:nvPr/>
        </p:nvCxnSpPr>
        <p:spPr>
          <a:xfrm>
            <a:off x="4110736" y="7486633"/>
            <a:ext cx="2035978" cy="0"/>
          </a:xfrm>
          <a:prstGeom prst="line">
            <a:avLst/>
          </a:prstGeom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CE59764A-0547-492E-ADF3-0F1B714FE7D4}"/>
              </a:ext>
            </a:extLst>
          </p:cNvPr>
          <p:cNvCxnSpPr/>
          <p:nvPr/>
        </p:nvCxnSpPr>
        <p:spPr>
          <a:xfrm>
            <a:off x="6228318" y="7487526"/>
            <a:ext cx="2035978" cy="0"/>
          </a:xfrm>
          <a:prstGeom prst="line">
            <a:avLst/>
          </a:prstGeom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D08ABF5C-1D62-4495-AB80-6BAD31305015}"/>
              </a:ext>
            </a:extLst>
          </p:cNvPr>
          <p:cNvCxnSpPr/>
          <p:nvPr/>
        </p:nvCxnSpPr>
        <p:spPr>
          <a:xfrm>
            <a:off x="8534566" y="7526686"/>
            <a:ext cx="2035978" cy="0"/>
          </a:xfrm>
          <a:prstGeom prst="line">
            <a:avLst/>
          </a:prstGeom>
          <a:ln w="19050">
            <a:solidFill>
              <a:srgbClr val="EF47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F4173C33-F9C9-4068-BCB2-D6F11BAD3815}"/>
              </a:ext>
            </a:extLst>
          </p:cNvPr>
          <p:cNvGrpSpPr/>
          <p:nvPr/>
        </p:nvGrpSpPr>
        <p:grpSpPr>
          <a:xfrm>
            <a:off x="-6104861" y="5511672"/>
            <a:ext cx="2553613" cy="1285380"/>
            <a:chOff x="2082574" y="1263788"/>
            <a:chExt cx="2553613" cy="1285380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454B8B73-02CD-45F2-A244-9B42C0DCFA48}"/>
                </a:ext>
              </a:extLst>
            </p:cNvPr>
            <p:cNvGrpSpPr/>
            <p:nvPr/>
          </p:nvGrpSpPr>
          <p:grpSpPr>
            <a:xfrm>
              <a:off x="2082574" y="1263788"/>
              <a:ext cx="2553613" cy="1285380"/>
              <a:chOff x="2737657" y="2913616"/>
              <a:chExt cx="3059084" cy="1539813"/>
            </a:xfrm>
            <a:scene3d>
              <a:camera prst="orthographicFront">
                <a:rot lat="0" lon="0" rev="2400000"/>
              </a:camera>
              <a:lightRig rig="threePt" dir="t"/>
            </a:scene3d>
          </p:grpSpPr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8F70A12A-955A-44CA-AD14-CF775C1316A4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EE2BC23F-E057-433F-AD42-8B238FA1B9CC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2ED7E8C7-0ACF-4CBA-A6AE-5E93363CFD54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073B4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21B79F32-9457-46C6-9309-0F1ECB18C1F2}"/>
                </a:ext>
              </a:extLst>
            </p:cNvPr>
            <p:cNvSpPr txBox="1"/>
            <p:nvPr/>
          </p:nvSpPr>
          <p:spPr>
            <a:xfrm rot="19173824">
              <a:off x="3304028" y="2073478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073B4C"/>
                  </a:solidFill>
                  <a:latin typeface="Anton" panose="00000500000000000000" pitchFamily="2" charset="0"/>
                </a:rPr>
                <a:t>01</a:t>
              </a:r>
              <a:endParaRPr lang="en-US" sz="2000" spc="300" dirty="0">
                <a:solidFill>
                  <a:srgbClr val="073B4C"/>
                </a:solidFill>
                <a:latin typeface="Anton" panose="00000500000000000000" pitchFamily="2" charset="0"/>
              </a:endParaRPr>
            </a:p>
          </p:txBody>
        </p:sp>
      </p:grpSp>
      <p:sp>
        <p:nvSpPr>
          <p:cNvPr id="149" name="TextBox 148">
            <a:extLst>
              <a:ext uri="{FF2B5EF4-FFF2-40B4-BE49-F238E27FC236}">
                <a16:creationId xmlns:a16="http://schemas.microsoft.com/office/drawing/2014/main" id="{55182AE9-631D-4DC8-BB96-2460DA99BD6D}"/>
              </a:ext>
            </a:extLst>
          </p:cNvPr>
          <p:cNvSpPr txBox="1"/>
          <p:nvPr/>
        </p:nvSpPr>
        <p:spPr>
          <a:xfrm>
            <a:off x="-270476" y="7135013"/>
            <a:ext cx="1962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073B4C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PROPONENTS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EBADC8B7-E6F2-4DE6-A5B6-756A57DE88DE}"/>
              </a:ext>
            </a:extLst>
          </p:cNvPr>
          <p:cNvSpPr txBox="1"/>
          <p:nvPr/>
        </p:nvSpPr>
        <p:spPr>
          <a:xfrm>
            <a:off x="1835988" y="7040765"/>
            <a:ext cx="1962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118AB2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RATIONALE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5EEE4FEB-1D13-46C0-B11F-64AE2B6474EB}"/>
              </a:ext>
            </a:extLst>
          </p:cNvPr>
          <p:cNvSpPr txBox="1"/>
          <p:nvPr/>
        </p:nvSpPr>
        <p:spPr>
          <a:xfrm>
            <a:off x="3922288" y="7114053"/>
            <a:ext cx="1962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06D6A0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OBJECTIVES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1135AB04-9581-4CE2-8074-1E0A50C351D4}"/>
              </a:ext>
            </a:extLst>
          </p:cNvPr>
          <p:cNvSpPr txBox="1"/>
          <p:nvPr/>
        </p:nvSpPr>
        <p:spPr>
          <a:xfrm>
            <a:off x="6146714" y="7126704"/>
            <a:ext cx="2199185" cy="500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FFD166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SCOPE AND LIMITATION</a:t>
            </a:r>
          </a:p>
          <a:p>
            <a:pPr algn="ctr"/>
            <a:r>
              <a:rPr lang="en-IN" sz="1050" dirty="0">
                <a:latin typeface="Economica" panose="02000506040000020004" pitchFamily="2" charset="0"/>
              </a:rPr>
              <a:t>.</a:t>
            </a:r>
            <a:endParaRPr lang="en-US" sz="1050" dirty="0">
              <a:latin typeface="Economica" panose="02000506040000020004" pitchFamily="2" charset="0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3AC86DB6-6075-4A43-BF54-11BD4D3DC9C1}"/>
              </a:ext>
            </a:extLst>
          </p:cNvPr>
          <p:cNvSpPr txBox="1"/>
          <p:nvPr/>
        </p:nvSpPr>
        <p:spPr>
          <a:xfrm>
            <a:off x="8869872" y="7135013"/>
            <a:ext cx="1962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EF476F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METHODOLOGY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A1EDEF-FC10-4312-B134-CA6096982D3B}"/>
              </a:ext>
            </a:extLst>
          </p:cNvPr>
          <p:cNvSpPr/>
          <p:nvPr/>
        </p:nvSpPr>
        <p:spPr>
          <a:xfrm>
            <a:off x="4424075" y="6603896"/>
            <a:ext cx="3608487" cy="2266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0C667C1-FD69-4DD7-8927-DC0624F487B0}"/>
              </a:ext>
            </a:extLst>
          </p:cNvPr>
          <p:cNvSpPr txBox="1"/>
          <p:nvPr/>
        </p:nvSpPr>
        <p:spPr>
          <a:xfrm>
            <a:off x="-6212102" y="3052376"/>
            <a:ext cx="609407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997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SkoLide: An AI-Powered Presentation Generator with Prompt-Based Intelligent Content Creation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 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0EF7A5A-0B98-4281-835B-70546072CDDC}"/>
              </a:ext>
            </a:extLst>
          </p:cNvPr>
          <p:cNvSpPr txBox="1"/>
          <p:nvPr/>
        </p:nvSpPr>
        <p:spPr>
          <a:xfrm>
            <a:off x="1651819" y="-1460090"/>
            <a:ext cx="4293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GROUP MEMBERS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A47159-09C9-402E-BFCC-A0C4C9CFFDAF}"/>
              </a:ext>
            </a:extLst>
          </p:cNvPr>
          <p:cNvSpPr txBox="1"/>
          <p:nvPr/>
        </p:nvSpPr>
        <p:spPr>
          <a:xfrm>
            <a:off x="4455193" y="1229195"/>
            <a:ext cx="35462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What is SkoLide?</a:t>
            </a:r>
          </a:p>
        </p:txBody>
      </p: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B322033C-947B-45E0-B7B9-C72EDFB8F841}"/>
              </a:ext>
            </a:extLst>
          </p:cNvPr>
          <p:cNvCxnSpPr>
            <a:cxnSpLocks/>
          </p:cNvCxnSpPr>
          <p:nvPr/>
        </p:nvCxnSpPr>
        <p:spPr>
          <a:xfrm>
            <a:off x="986931" y="6579977"/>
            <a:ext cx="10482773" cy="26933"/>
          </a:xfrm>
          <a:prstGeom prst="line">
            <a:avLst/>
          </a:prstGeom>
          <a:ln w="19050">
            <a:solidFill>
              <a:srgbClr val="118A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06A102F-28D9-4D8D-B581-73D33D7FC6F3}"/>
              </a:ext>
            </a:extLst>
          </p:cNvPr>
          <p:cNvSpPr txBox="1"/>
          <p:nvPr/>
        </p:nvSpPr>
        <p:spPr>
          <a:xfrm>
            <a:off x="2540000" y="2733746"/>
            <a:ext cx="711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Skolide is an AI-powered tool that transforms simple topics or prompts into complete, well-organized presentations. It eliminates the need for manual slide creation by automatically generating content—making the process faster, easier, and more efficient.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6D00AC-7741-E2DE-63F0-D3E19057BAB2}"/>
              </a:ext>
            </a:extLst>
          </p:cNvPr>
          <p:cNvSpPr txBox="1"/>
          <p:nvPr/>
        </p:nvSpPr>
        <p:spPr>
          <a:xfrm>
            <a:off x="506828" y="-4755575"/>
            <a:ext cx="1127977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Problem Statement / Need</a:t>
            </a:r>
          </a:p>
          <a:p>
            <a:r>
              <a:rPr lang="en-US" dirty="0"/>
              <a:t>Making presentations from scratch takes a lot of time and effort. It’s especially hard for students and busy people who don’t have strong skills in writing content or designing slides.</a:t>
            </a:r>
          </a:p>
          <a:p>
            <a:endParaRPr lang="en-US" dirty="0"/>
          </a:p>
          <a:p>
            <a:r>
              <a:rPr lang="en-US" b="1" dirty="0"/>
              <a:t>Importance / Relevance</a:t>
            </a:r>
          </a:p>
          <a:p>
            <a:r>
              <a:rPr lang="en-US" dirty="0"/>
              <a:t>Presentations are important for school, work, and professional use. But not everyone can quickly make a good one, especially if they’re in a rush or don’t know where to start.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b="1" dirty="0"/>
              <a:t>Gap / Opportunity </a:t>
            </a:r>
          </a:p>
          <a:p>
            <a:r>
              <a:rPr lang="en-US" dirty="0"/>
              <a:t>Most apps today still make you do everything by hand. While there are some smart tools out there, that you can put a topic and it will automatically generate your presentation. However, it is too expensive. 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b="1" dirty="0"/>
              <a:t>Your Approach</a:t>
            </a:r>
          </a:p>
          <a:p>
            <a:r>
              <a:rPr lang="en-US" dirty="0"/>
              <a:t>SkoLide is a smart presentation maker that helps users by letting them type a simple topic or idea. Then, the system creates well-organized and useful content for their slides automatically. It helps save time and makes the whole process easier.</a:t>
            </a:r>
          </a:p>
        </p:txBody>
      </p:sp>
    </p:spTree>
    <p:extLst>
      <p:ext uri="{BB962C8B-B14F-4D97-AF65-F5344CB8AC3E}">
        <p14:creationId xmlns:p14="http://schemas.microsoft.com/office/powerpoint/2010/main" val="41579393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Oval 53">
            <a:extLst>
              <a:ext uri="{FF2B5EF4-FFF2-40B4-BE49-F238E27FC236}">
                <a16:creationId xmlns:a16="http://schemas.microsoft.com/office/drawing/2014/main" id="{E75E415E-D168-4A64-BFEB-CF6E5E91C618}"/>
              </a:ext>
            </a:extLst>
          </p:cNvPr>
          <p:cNvSpPr/>
          <p:nvPr/>
        </p:nvSpPr>
        <p:spPr>
          <a:xfrm>
            <a:off x="4047279" y="5737493"/>
            <a:ext cx="3554083" cy="1174161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85000"/>
                  <a:alpha val="0"/>
                </a:schemeClr>
              </a:gs>
              <a:gs pos="95000">
                <a:schemeClr val="tx1">
                  <a:lumMod val="85000"/>
                  <a:lumOff val="15000"/>
                </a:schemeClr>
              </a:gs>
            </a:gsLst>
            <a:lin ang="0" scaled="1"/>
            <a:tileRect/>
          </a:gradFill>
          <a:ln>
            <a:noFill/>
          </a:ln>
          <a:effectLst>
            <a:softEdge rad="3048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59A91C9-5054-421D-8AB9-E071BA377352}"/>
              </a:ext>
            </a:extLst>
          </p:cNvPr>
          <p:cNvGrpSpPr/>
          <p:nvPr/>
        </p:nvGrpSpPr>
        <p:grpSpPr>
          <a:xfrm>
            <a:off x="-2211833" y="7941976"/>
            <a:ext cx="3355676" cy="1400788"/>
            <a:chOff x="2038070" y="4505166"/>
            <a:chExt cx="3355676" cy="1400788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343157D5-4FF2-4FA1-9D59-419EF512DD63}"/>
                </a:ext>
              </a:extLst>
            </p:cNvPr>
            <p:cNvGrpSpPr/>
            <p:nvPr/>
          </p:nvGrpSpPr>
          <p:grpSpPr>
            <a:xfrm>
              <a:off x="2038070" y="4505166"/>
              <a:ext cx="3355676" cy="1400788"/>
              <a:chOff x="2596550" y="2775364"/>
              <a:chExt cx="4019910" cy="1678065"/>
            </a:xfrm>
            <a:scene3d>
              <a:camera prst="orthographicFront">
                <a:rot lat="0" lon="0" rev="19199999"/>
              </a:camera>
              <a:lightRig rig="threePt" dir="t"/>
            </a:scene3d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892C5BCC-B12D-4C7A-B111-34582936145D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B67A78B7-6B3D-456A-A208-4D26B1ABD8E3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1E2ED20F-42CC-4834-B53D-E458D5168208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EF476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475AEADC-907C-4D82-B7F4-153288554B19}"/>
                  </a:ext>
                </a:extLst>
              </p:cNvPr>
              <p:cNvSpPr/>
              <p:nvPr/>
            </p:nvSpPr>
            <p:spPr>
              <a:xfrm>
                <a:off x="2596550" y="2775364"/>
                <a:ext cx="4019910" cy="137394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alpha val="0"/>
                    </a:schemeClr>
                  </a:gs>
                  <a:gs pos="95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softEdge rad="266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4501ABC5-43E0-49AC-BC00-8C50BB95BF58}"/>
                </a:ext>
              </a:extLst>
            </p:cNvPr>
            <p:cNvSpPr txBox="1"/>
            <p:nvPr/>
          </p:nvSpPr>
          <p:spPr>
            <a:xfrm rot="2317436">
              <a:off x="3084625" y="5387604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EF476F"/>
                  </a:solidFill>
                  <a:latin typeface="Anton" panose="00000500000000000000" pitchFamily="2" charset="0"/>
                </a:rPr>
                <a:t>05</a:t>
              </a:r>
              <a:endParaRPr lang="en-US" sz="2000" spc="300" dirty="0">
                <a:solidFill>
                  <a:srgbClr val="EF476F"/>
                </a:solidFill>
                <a:latin typeface="Anton" panose="00000500000000000000" pitchFamily="2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0F3C0F4-B6E4-4C48-9EF4-98AD4F55FA69}"/>
              </a:ext>
            </a:extLst>
          </p:cNvPr>
          <p:cNvGrpSpPr/>
          <p:nvPr/>
        </p:nvGrpSpPr>
        <p:grpSpPr>
          <a:xfrm>
            <a:off x="-4641178" y="7272936"/>
            <a:ext cx="3355676" cy="1400788"/>
            <a:chOff x="2459965" y="3663791"/>
            <a:chExt cx="3355676" cy="140078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A5F928E-6A3A-4AC3-B40D-78D692B6B9A6}"/>
                </a:ext>
              </a:extLst>
            </p:cNvPr>
            <p:cNvGrpSpPr/>
            <p:nvPr/>
          </p:nvGrpSpPr>
          <p:grpSpPr>
            <a:xfrm>
              <a:off x="2459965" y="3663791"/>
              <a:ext cx="3355676" cy="1400788"/>
              <a:chOff x="2596550" y="2775364"/>
              <a:chExt cx="4019910" cy="1678065"/>
            </a:xfrm>
            <a:scene3d>
              <a:camera prst="orthographicFront">
                <a:rot lat="0" lon="0" rev="20399999"/>
              </a:camera>
              <a:lightRig rig="threePt" dir="t"/>
            </a:scene3d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8B059B1-A6BA-41B1-862D-EFADE8A7E0E4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5A53785F-C2D2-4537-BF9E-41355E3DFB81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9D5353B7-0849-4523-BD12-172B32B20B51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FFD1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966420CD-FEF1-49EC-8302-619086DCC8A7}"/>
                  </a:ext>
                </a:extLst>
              </p:cNvPr>
              <p:cNvSpPr/>
              <p:nvPr/>
            </p:nvSpPr>
            <p:spPr>
              <a:xfrm>
                <a:off x="2596550" y="2775364"/>
                <a:ext cx="4019910" cy="137394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alpha val="0"/>
                    </a:schemeClr>
                  </a:gs>
                  <a:gs pos="95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softEdge rad="266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18C98E25-E4E3-49C9-BF77-2540DFCDED07}"/>
                </a:ext>
              </a:extLst>
            </p:cNvPr>
            <p:cNvSpPr txBox="1"/>
            <p:nvPr/>
          </p:nvSpPr>
          <p:spPr>
            <a:xfrm rot="962716">
              <a:off x="3693611" y="4653891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FFD166"/>
                  </a:solidFill>
                  <a:latin typeface="Anton" panose="00000500000000000000" pitchFamily="2" charset="0"/>
                </a:rPr>
                <a:t>04</a:t>
              </a:r>
              <a:endParaRPr lang="en-US" sz="2000" spc="300" dirty="0">
                <a:solidFill>
                  <a:srgbClr val="FFD166"/>
                </a:solidFill>
                <a:latin typeface="Anton" panose="00000500000000000000" pitchFamily="2" charset="0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A1592EFB-3A7E-45D6-A98E-2179EC9E0047}"/>
              </a:ext>
            </a:extLst>
          </p:cNvPr>
          <p:cNvGrpSpPr/>
          <p:nvPr/>
        </p:nvGrpSpPr>
        <p:grpSpPr>
          <a:xfrm>
            <a:off x="-4603115" y="5903502"/>
            <a:ext cx="3355676" cy="1400788"/>
            <a:chOff x="2589362" y="2728606"/>
            <a:chExt cx="3355676" cy="1400788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F3D935D-0ECA-4D6F-BEFE-A1CB93FD10E7}"/>
                </a:ext>
              </a:extLst>
            </p:cNvPr>
            <p:cNvGrpSpPr/>
            <p:nvPr/>
          </p:nvGrpSpPr>
          <p:grpSpPr>
            <a:xfrm>
              <a:off x="2589362" y="2728606"/>
              <a:ext cx="3355676" cy="1400788"/>
              <a:chOff x="2596550" y="2775364"/>
              <a:chExt cx="4019910" cy="1678065"/>
            </a:xfrm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561C2D06-12A5-43AC-90FD-8DE901D4A5A9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1DACD449-33AF-4702-91CF-490058943DF5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97505746-BE53-4BA7-8480-35238ED37367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06D6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F200FD4-1487-46E5-900E-DE692E1F5E2C}"/>
                  </a:ext>
                </a:extLst>
              </p:cNvPr>
              <p:cNvSpPr/>
              <p:nvPr/>
            </p:nvSpPr>
            <p:spPr>
              <a:xfrm>
                <a:off x="2596550" y="2775364"/>
                <a:ext cx="4019910" cy="137394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alpha val="0"/>
                    </a:schemeClr>
                  </a:gs>
                  <a:gs pos="95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softEdge rad="266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A80DC888-46C4-49C5-8C75-8CDF81E54FAC}"/>
                </a:ext>
              </a:extLst>
            </p:cNvPr>
            <p:cNvSpPr txBox="1"/>
            <p:nvPr/>
          </p:nvSpPr>
          <p:spPr>
            <a:xfrm>
              <a:off x="3908292" y="3708324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06D6A0"/>
                  </a:solidFill>
                  <a:latin typeface="Anton" panose="00000500000000000000" pitchFamily="2" charset="0"/>
                </a:rPr>
                <a:t>03</a:t>
              </a:r>
              <a:endParaRPr lang="en-US" sz="2000" spc="300" dirty="0">
                <a:solidFill>
                  <a:srgbClr val="06D6A0"/>
                </a:solidFill>
                <a:latin typeface="Anton" panose="00000500000000000000" pitchFamily="2" charset="0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02B6B8B-8297-4273-8010-61142DF79695}"/>
              </a:ext>
            </a:extLst>
          </p:cNvPr>
          <p:cNvGrpSpPr/>
          <p:nvPr/>
        </p:nvGrpSpPr>
        <p:grpSpPr>
          <a:xfrm rot="1121605">
            <a:off x="4652981" y="5090152"/>
            <a:ext cx="3355676" cy="1428965"/>
            <a:chOff x="2376531" y="1804037"/>
            <a:chExt cx="3355676" cy="1428965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62C35E0C-2906-4AAF-8057-3A40B59EE48B}"/>
                </a:ext>
              </a:extLst>
            </p:cNvPr>
            <p:cNvGrpSpPr/>
            <p:nvPr/>
          </p:nvGrpSpPr>
          <p:grpSpPr>
            <a:xfrm>
              <a:off x="2376531" y="1804037"/>
              <a:ext cx="3355676" cy="1400788"/>
              <a:chOff x="2596550" y="2775364"/>
              <a:chExt cx="4019910" cy="1678065"/>
            </a:xfrm>
            <a:scene3d>
              <a:camera prst="orthographicFront">
                <a:rot lat="0" lon="0" rev="1200000"/>
              </a:camera>
              <a:lightRig rig="threePt" dir="t"/>
            </a:scene3d>
          </p:grpSpPr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129D9395-4F7F-469C-A275-CFE0E62E8CDB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A3AAFBC9-A40E-444C-AE46-4536C94E12FD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2BA9BCEE-9897-4C90-A035-492954969E3F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118A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3C0E6B84-CBA1-4654-8281-81A3F63EE4B8}"/>
                  </a:ext>
                </a:extLst>
              </p:cNvPr>
              <p:cNvSpPr/>
              <p:nvPr/>
            </p:nvSpPr>
            <p:spPr>
              <a:xfrm>
                <a:off x="2596550" y="2775364"/>
                <a:ext cx="4019910" cy="137394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alpha val="0"/>
                    </a:schemeClr>
                  </a:gs>
                  <a:gs pos="95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softEdge rad="266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0CBCCC58-A312-4FD0-A98A-20092941C790}"/>
                </a:ext>
              </a:extLst>
            </p:cNvPr>
            <p:cNvSpPr txBox="1"/>
            <p:nvPr/>
          </p:nvSpPr>
          <p:spPr>
            <a:xfrm rot="20409358">
              <a:off x="3733524" y="2832892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118AB2"/>
                  </a:solidFill>
                  <a:latin typeface="Anton" panose="00000500000000000000" pitchFamily="2" charset="0"/>
                </a:rPr>
                <a:t>02</a:t>
              </a:r>
              <a:endParaRPr lang="en-US" sz="2000" spc="300" dirty="0">
                <a:solidFill>
                  <a:srgbClr val="118AB2"/>
                </a:solidFill>
                <a:latin typeface="Anton" panose="00000500000000000000" pitchFamily="2" charset="0"/>
              </a:endParaRPr>
            </a:p>
          </p:txBody>
        </p:sp>
      </p:grp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11DDBD69-51C5-405D-BBBA-9C98635472A7}"/>
              </a:ext>
            </a:extLst>
          </p:cNvPr>
          <p:cNvCxnSpPr/>
          <p:nvPr/>
        </p:nvCxnSpPr>
        <p:spPr>
          <a:xfrm>
            <a:off x="-344014" y="7785128"/>
            <a:ext cx="2035978" cy="0"/>
          </a:xfrm>
          <a:prstGeom prst="line">
            <a:avLst/>
          </a:prstGeom>
          <a:ln w="19050">
            <a:solidFill>
              <a:srgbClr val="073B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5A413F8D-A016-4F17-9D7E-67A113EEAEB9}"/>
              </a:ext>
            </a:extLst>
          </p:cNvPr>
          <p:cNvCxnSpPr/>
          <p:nvPr/>
        </p:nvCxnSpPr>
        <p:spPr>
          <a:xfrm>
            <a:off x="4110736" y="7486633"/>
            <a:ext cx="2035978" cy="0"/>
          </a:xfrm>
          <a:prstGeom prst="line">
            <a:avLst/>
          </a:prstGeom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CE59764A-0547-492E-ADF3-0F1B714FE7D4}"/>
              </a:ext>
            </a:extLst>
          </p:cNvPr>
          <p:cNvCxnSpPr/>
          <p:nvPr/>
        </p:nvCxnSpPr>
        <p:spPr>
          <a:xfrm>
            <a:off x="6228318" y="7487526"/>
            <a:ext cx="2035978" cy="0"/>
          </a:xfrm>
          <a:prstGeom prst="line">
            <a:avLst/>
          </a:prstGeom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D08ABF5C-1D62-4495-AB80-6BAD31305015}"/>
              </a:ext>
            </a:extLst>
          </p:cNvPr>
          <p:cNvCxnSpPr/>
          <p:nvPr/>
        </p:nvCxnSpPr>
        <p:spPr>
          <a:xfrm>
            <a:off x="8534566" y="7526686"/>
            <a:ext cx="2035978" cy="0"/>
          </a:xfrm>
          <a:prstGeom prst="line">
            <a:avLst/>
          </a:prstGeom>
          <a:ln w="19050">
            <a:solidFill>
              <a:srgbClr val="EF47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F4173C33-F9C9-4068-BCB2-D6F11BAD3815}"/>
              </a:ext>
            </a:extLst>
          </p:cNvPr>
          <p:cNvGrpSpPr/>
          <p:nvPr/>
        </p:nvGrpSpPr>
        <p:grpSpPr>
          <a:xfrm>
            <a:off x="-6104861" y="5511672"/>
            <a:ext cx="2553613" cy="1285380"/>
            <a:chOff x="2082574" y="1263788"/>
            <a:chExt cx="2553613" cy="1285380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454B8B73-02CD-45F2-A244-9B42C0DCFA48}"/>
                </a:ext>
              </a:extLst>
            </p:cNvPr>
            <p:cNvGrpSpPr/>
            <p:nvPr/>
          </p:nvGrpSpPr>
          <p:grpSpPr>
            <a:xfrm>
              <a:off x="2082574" y="1263788"/>
              <a:ext cx="2553613" cy="1285380"/>
              <a:chOff x="2737657" y="2913616"/>
              <a:chExt cx="3059084" cy="1539813"/>
            </a:xfrm>
            <a:scene3d>
              <a:camera prst="orthographicFront">
                <a:rot lat="0" lon="0" rev="2400000"/>
              </a:camera>
              <a:lightRig rig="threePt" dir="t"/>
            </a:scene3d>
          </p:grpSpPr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8F70A12A-955A-44CA-AD14-CF775C1316A4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EE2BC23F-E057-433F-AD42-8B238FA1B9CC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2ED7E8C7-0ACF-4CBA-A6AE-5E93363CFD54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073B4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21B79F32-9457-46C6-9309-0F1ECB18C1F2}"/>
                </a:ext>
              </a:extLst>
            </p:cNvPr>
            <p:cNvSpPr txBox="1"/>
            <p:nvPr/>
          </p:nvSpPr>
          <p:spPr>
            <a:xfrm rot="19173824">
              <a:off x="3304028" y="2073478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073B4C"/>
                  </a:solidFill>
                  <a:latin typeface="Anton" panose="00000500000000000000" pitchFamily="2" charset="0"/>
                </a:rPr>
                <a:t>01</a:t>
              </a:r>
              <a:endParaRPr lang="en-US" sz="2000" spc="300" dirty="0">
                <a:solidFill>
                  <a:srgbClr val="073B4C"/>
                </a:solidFill>
                <a:latin typeface="Anton" panose="00000500000000000000" pitchFamily="2" charset="0"/>
              </a:endParaRPr>
            </a:p>
          </p:txBody>
        </p:sp>
      </p:grpSp>
      <p:sp>
        <p:nvSpPr>
          <p:cNvPr id="149" name="TextBox 148">
            <a:extLst>
              <a:ext uri="{FF2B5EF4-FFF2-40B4-BE49-F238E27FC236}">
                <a16:creationId xmlns:a16="http://schemas.microsoft.com/office/drawing/2014/main" id="{55182AE9-631D-4DC8-BB96-2460DA99BD6D}"/>
              </a:ext>
            </a:extLst>
          </p:cNvPr>
          <p:cNvSpPr txBox="1"/>
          <p:nvPr/>
        </p:nvSpPr>
        <p:spPr>
          <a:xfrm>
            <a:off x="-270476" y="7135013"/>
            <a:ext cx="1962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073B4C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PROPONENTS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EBADC8B7-E6F2-4DE6-A5B6-756A57DE88DE}"/>
              </a:ext>
            </a:extLst>
          </p:cNvPr>
          <p:cNvSpPr txBox="1"/>
          <p:nvPr/>
        </p:nvSpPr>
        <p:spPr>
          <a:xfrm>
            <a:off x="1923079" y="7114053"/>
            <a:ext cx="1962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118AB2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RATIONALE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5EEE4FEB-1D13-46C0-B11F-64AE2B6474EB}"/>
              </a:ext>
            </a:extLst>
          </p:cNvPr>
          <p:cNvSpPr txBox="1"/>
          <p:nvPr/>
        </p:nvSpPr>
        <p:spPr>
          <a:xfrm>
            <a:off x="3922288" y="7114053"/>
            <a:ext cx="1962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06D6A0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OBJECTIVES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1135AB04-9581-4CE2-8074-1E0A50C351D4}"/>
              </a:ext>
            </a:extLst>
          </p:cNvPr>
          <p:cNvSpPr txBox="1"/>
          <p:nvPr/>
        </p:nvSpPr>
        <p:spPr>
          <a:xfrm>
            <a:off x="6146714" y="7126704"/>
            <a:ext cx="2199185" cy="500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FFD166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SCOPE AND LIMITATION</a:t>
            </a:r>
          </a:p>
          <a:p>
            <a:pPr algn="ctr"/>
            <a:r>
              <a:rPr lang="en-IN" sz="1050" dirty="0">
                <a:latin typeface="Economica" panose="02000506040000020004" pitchFamily="2" charset="0"/>
              </a:rPr>
              <a:t>.</a:t>
            </a:r>
            <a:endParaRPr lang="en-US" sz="1050" dirty="0">
              <a:latin typeface="Economica" panose="02000506040000020004" pitchFamily="2" charset="0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3AC86DB6-6075-4A43-BF54-11BD4D3DC9C1}"/>
              </a:ext>
            </a:extLst>
          </p:cNvPr>
          <p:cNvSpPr txBox="1"/>
          <p:nvPr/>
        </p:nvSpPr>
        <p:spPr>
          <a:xfrm>
            <a:off x="8869872" y="7135013"/>
            <a:ext cx="1962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EF476F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METHODOLOGY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A1EDEF-FC10-4312-B134-CA6096982D3B}"/>
              </a:ext>
            </a:extLst>
          </p:cNvPr>
          <p:cNvSpPr/>
          <p:nvPr/>
        </p:nvSpPr>
        <p:spPr>
          <a:xfrm>
            <a:off x="4424075" y="6603896"/>
            <a:ext cx="3608487" cy="2266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0C667C1-FD69-4DD7-8927-DC0624F487B0}"/>
              </a:ext>
            </a:extLst>
          </p:cNvPr>
          <p:cNvSpPr txBox="1"/>
          <p:nvPr/>
        </p:nvSpPr>
        <p:spPr>
          <a:xfrm>
            <a:off x="-6212102" y="3052376"/>
            <a:ext cx="609407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997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SkoLide: An AI-Powered Presentation Generator with Prompt-Based Intelligent Content Creation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 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0EF7A5A-0B98-4281-835B-70546072CDDC}"/>
              </a:ext>
            </a:extLst>
          </p:cNvPr>
          <p:cNvSpPr txBox="1"/>
          <p:nvPr/>
        </p:nvSpPr>
        <p:spPr>
          <a:xfrm>
            <a:off x="1651819" y="-1460090"/>
            <a:ext cx="4293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GROUP MEMBERS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A47159-09C9-402E-BFCC-A0C4C9CFFDAF}"/>
              </a:ext>
            </a:extLst>
          </p:cNvPr>
          <p:cNvSpPr txBox="1"/>
          <p:nvPr/>
        </p:nvSpPr>
        <p:spPr>
          <a:xfrm>
            <a:off x="4575477" y="-1773646"/>
            <a:ext cx="35462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What is SkoLide?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D55DDC-1133-40B6-806F-9CAC395F82E6}"/>
              </a:ext>
            </a:extLst>
          </p:cNvPr>
          <p:cNvSpPr txBox="1"/>
          <p:nvPr/>
        </p:nvSpPr>
        <p:spPr>
          <a:xfrm>
            <a:off x="393794" y="574014"/>
            <a:ext cx="1127977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Problem Statement / Need</a:t>
            </a:r>
          </a:p>
          <a:p>
            <a:r>
              <a:rPr lang="en-US" dirty="0"/>
              <a:t>Making presentations from scratch takes a lot of time and effort. It’s especially hard for students and busy people who don’t have strong skills in writing content or designing slides.</a:t>
            </a:r>
          </a:p>
          <a:p>
            <a:endParaRPr lang="en-US" dirty="0"/>
          </a:p>
          <a:p>
            <a:r>
              <a:rPr lang="en-US" b="1" dirty="0"/>
              <a:t>Importance / Relevance</a:t>
            </a:r>
          </a:p>
          <a:p>
            <a:r>
              <a:rPr lang="en-US" dirty="0"/>
              <a:t>Presentations are important for school, work, and professional use. But not everyone can quickly make a good one, especially if they’re in a rush or don’t know where to start.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b="1" dirty="0"/>
              <a:t>Gap / Opportunity </a:t>
            </a:r>
          </a:p>
          <a:p>
            <a:r>
              <a:rPr lang="en-US" dirty="0"/>
              <a:t>Most apps today still make you do everything by hand. While there are some smart tools out there, that you can put a topic and it will automatically generate your presentation. However, it is too expensive. 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b="1" dirty="0"/>
              <a:t>Your Approach</a:t>
            </a:r>
          </a:p>
          <a:p>
            <a:r>
              <a:rPr lang="en-US" dirty="0"/>
              <a:t>SkoLide is a smart presentation maker that helps users by letting them type a simple topic or idea. Then, the system creates well-organized and useful content for their slides automatically. It helps save time and makes the whole process easier.</a:t>
            </a:r>
          </a:p>
        </p:txBody>
      </p: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B322033C-947B-45E0-B7B9-C72EDFB8F841}"/>
              </a:ext>
            </a:extLst>
          </p:cNvPr>
          <p:cNvCxnSpPr>
            <a:cxnSpLocks/>
          </p:cNvCxnSpPr>
          <p:nvPr/>
        </p:nvCxnSpPr>
        <p:spPr>
          <a:xfrm>
            <a:off x="986931" y="6686578"/>
            <a:ext cx="10482773" cy="26933"/>
          </a:xfrm>
          <a:prstGeom prst="line">
            <a:avLst/>
          </a:prstGeom>
          <a:ln w="19050">
            <a:solidFill>
              <a:srgbClr val="118A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58A5B0F1-0EA0-4AED-AE98-A43FD1124F21}"/>
              </a:ext>
            </a:extLst>
          </p:cNvPr>
          <p:cNvSpPr txBox="1"/>
          <p:nvPr/>
        </p:nvSpPr>
        <p:spPr>
          <a:xfrm>
            <a:off x="2792601" y="8286742"/>
            <a:ext cx="711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Skolide is an AI-powered tool that transforms simple topics or prompts into complete, well-organized presentations. It eliminates the need for manual slide creation by automatically generating content—making the process faster, easier, and more efficient.</a:t>
            </a:r>
          </a:p>
        </p:txBody>
      </p:sp>
    </p:spTree>
    <p:extLst>
      <p:ext uri="{BB962C8B-B14F-4D97-AF65-F5344CB8AC3E}">
        <p14:creationId xmlns:p14="http://schemas.microsoft.com/office/powerpoint/2010/main" val="6113565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Oval 53">
            <a:extLst>
              <a:ext uri="{FF2B5EF4-FFF2-40B4-BE49-F238E27FC236}">
                <a16:creationId xmlns:a16="http://schemas.microsoft.com/office/drawing/2014/main" id="{E75E415E-D168-4A64-BFEB-CF6E5E91C618}"/>
              </a:ext>
            </a:extLst>
          </p:cNvPr>
          <p:cNvSpPr/>
          <p:nvPr/>
        </p:nvSpPr>
        <p:spPr>
          <a:xfrm>
            <a:off x="1062384" y="5429735"/>
            <a:ext cx="3554083" cy="1174161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85000"/>
                  <a:alpha val="0"/>
                </a:schemeClr>
              </a:gs>
              <a:gs pos="95000">
                <a:schemeClr val="tx1">
                  <a:lumMod val="85000"/>
                  <a:lumOff val="15000"/>
                </a:schemeClr>
              </a:gs>
            </a:gsLst>
            <a:lin ang="0" scaled="1"/>
            <a:tileRect/>
          </a:gradFill>
          <a:ln>
            <a:noFill/>
          </a:ln>
          <a:effectLst>
            <a:softEdge rad="3048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59A91C9-5054-421D-8AB9-E071BA377352}"/>
              </a:ext>
            </a:extLst>
          </p:cNvPr>
          <p:cNvGrpSpPr/>
          <p:nvPr/>
        </p:nvGrpSpPr>
        <p:grpSpPr>
          <a:xfrm>
            <a:off x="2038070" y="4505166"/>
            <a:ext cx="3355676" cy="1400788"/>
            <a:chOff x="2038070" y="4505166"/>
            <a:chExt cx="3355676" cy="1400788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343157D5-4FF2-4FA1-9D59-419EF512DD63}"/>
                </a:ext>
              </a:extLst>
            </p:cNvPr>
            <p:cNvGrpSpPr/>
            <p:nvPr/>
          </p:nvGrpSpPr>
          <p:grpSpPr>
            <a:xfrm>
              <a:off x="2038070" y="4505166"/>
              <a:ext cx="3355676" cy="1400788"/>
              <a:chOff x="2596550" y="2775364"/>
              <a:chExt cx="4019910" cy="1678065"/>
            </a:xfrm>
            <a:scene3d>
              <a:camera prst="orthographicFront">
                <a:rot lat="0" lon="0" rev="19199999"/>
              </a:camera>
              <a:lightRig rig="threePt" dir="t"/>
            </a:scene3d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892C5BCC-B12D-4C7A-B111-34582936145D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B67A78B7-6B3D-456A-A208-4D26B1ABD8E3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1E2ED20F-42CC-4834-B53D-E458D5168208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EF476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475AEADC-907C-4D82-B7F4-153288554B19}"/>
                  </a:ext>
                </a:extLst>
              </p:cNvPr>
              <p:cNvSpPr/>
              <p:nvPr/>
            </p:nvSpPr>
            <p:spPr>
              <a:xfrm>
                <a:off x="2596550" y="2775364"/>
                <a:ext cx="4019910" cy="137394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alpha val="0"/>
                    </a:schemeClr>
                  </a:gs>
                  <a:gs pos="95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softEdge rad="266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4501ABC5-43E0-49AC-BC00-8C50BB95BF58}"/>
                </a:ext>
              </a:extLst>
            </p:cNvPr>
            <p:cNvSpPr txBox="1"/>
            <p:nvPr/>
          </p:nvSpPr>
          <p:spPr>
            <a:xfrm rot="2317436">
              <a:off x="3084625" y="5387604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EF476F"/>
                  </a:solidFill>
                  <a:latin typeface="Anton" panose="00000500000000000000" pitchFamily="2" charset="0"/>
                </a:rPr>
                <a:t>05</a:t>
              </a:r>
              <a:endParaRPr lang="en-US" sz="2000" spc="300" dirty="0">
                <a:solidFill>
                  <a:srgbClr val="EF476F"/>
                </a:solidFill>
                <a:latin typeface="Anton" panose="00000500000000000000" pitchFamily="2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0F3C0F4-B6E4-4C48-9EF4-98AD4F55FA69}"/>
              </a:ext>
            </a:extLst>
          </p:cNvPr>
          <p:cNvGrpSpPr/>
          <p:nvPr/>
        </p:nvGrpSpPr>
        <p:grpSpPr>
          <a:xfrm>
            <a:off x="2459965" y="3663791"/>
            <a:ext cx="3355676" cy="1400788"/>
            <a:chOff x="2459965" y="3663791"/>
            <a:chExt cx="3355676" cy="140078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A5F928E-6A3A-4AC3-B40D-78D692B6B9A6}"/>
                </a:ext>
              </a:extLst>
            </p:cNvPr>
            <p:cNvGrpSpPr/>
            <p:nvPr/>
          </p:nvGrpSpPr>
          <p:grpSpPr>
            <a:xfrm>
              <a:off x="2459965" y="3663791"/>
              <a:ext cx="3355676" cy="1400788"/>
              <a:chOff x="2596550" y="2775364"/>
              <a:chExt cx="4019910" cy="1678065"/>
            </a:xfrm>
            <a:scene3d>
              <a:camera prst="orthographicFront">
                <a:rot lat="0" lon="0" rev="20399999"/>
              </a:camera>
              <a:lightRig rig="threePt" dir="t"/>
            </a:scene3d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8B059B1-A6BA-41B1-862D-EFADE8A7E0E4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5A53785F-C2D2-4537-BF9E-41355E3DFB81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9D5353B7-0849-4523-BD12-172B32B20B51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FFD1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966420CD-FEF1-49EC-8302-619086DCC8A7}"/>
                  </a:ext>
                </a:extLst>
              </p:cNvPr>
              <p:cNvSpPr/>
              <p:nvPr/>
            </p:nvSpPr>
            <p:spPr>
              <a:xfrm>
                <a:off x="2596550" y="2775364"/>
                <a:ext cx="4019910" cy="137394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alpha val="0"/>
                    </a:schemeClr>
                  </a:gs>
                  <a:gs pos="95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softEdge rad="266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18C98E25-E4E3-49C9-BF77-2540DFCDED07}"/>
                </a:ext>
              </a:extLst>
            </p:cNvPr>
            <p:cNvSpPr txBox="1"/>
            <p:nvPr/>
          </p:nvSpPr>
          <p:spPr>
            <a:xfrm rot="962716">
              <a:off x="3693611" y="4653891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FFD166"/>
                  </a:solidFill>
                  <a:latin typeface="Anton" panose="00000500000000000000" pitchFamily="2" charset="0"/>
                </a:rPr>
                <a:t>04</a:t>
              </a:r>
              <a:endParaRPr lang="en-US" sz="2000" spc="300" dirty="0">
                <a:solidFill>
                  <a:srgbClr val="FFD166"/>
                </a:solidFill>
                <a:latin typeface="Anton" panose="00000500000000000000" pitchFamily="2" charset="0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A1592EFB-3A7E-45D6-A98E-2179EC9E0047}"/>
              </a:ext>
            </a:extLst>
          </p:cNvPr>
          <p:cNvGrpSpPr/>
          <p:nvPr/>
        </p:nvGrpSpPr>
        <p:grpSpPr>
          <a:xfrm>
            <a:off x="2589362" y="2728606"/>
            <a:ext cx="3355676" cy="1400788"/>
            <a:chOff x="2589362" y="2728606"/>
            <a:chExt cx="3355676" cy="1400788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F3D935D-0ECA-4D6F-BEFE-A1CB93FD10E7}"/>
                </a:ext>
              </a:extLst>
            </p:cNvPr>
            <p:cNvGrpSpPr/>
            <p:nvPr/>
          </p:nvGrpSpPr>
          <p:grpSpPr>
            <a:xfrm>
              <a:off x="2589362" y="2728606"/>
              <a:ext cx="3355676" cy="1400788"/>
              <a:chOff x="2596550" y="2775364"/>
              <a:chExt cx="4019910" cy="1678065"/>
            </a:xfrm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561C2D06-12A5-43AC-90FD-8DE901D4A5A9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1DACD449-33AF-4702-91CF-490058943DF5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97505746-BE53-4BA7-8480-35238ED37367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06D6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F200FD4-1487-46E5-900E-DE692E1F5E2C}"/>
                  </a:ext>
                </a:extLst>
              </p:cNvPr>
              <p:cNvSpPr/>
              <p:nvPr/>
            </p:nvSpPr>
            <p:spPr>
              <a:xfrm>
                <a:off x="2596550" y="2775364"/>
                <a:ext cx="4019910" cy="137394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alpha val="0"/>
                    </a:schemeClr>
                  </a:gs>
                  <a:gs pos="95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softEdge rad="266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A80DC888-46C4-49C5-8C75-8CDF81E54FAC}"/>
                </a:ext>
              </a:extLst>
            </p:cNvPr>
            <p:cNvSpPr txBox="1"/>
            <p:nvPr/>
          </p:nvSpPr>
          <p:spPr>
            <a:xfrm>
              <a:off x="3908292" y="3708324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06D6A0"/>
                  </a:solidFill>
                  <a:latin typeface="Anton" panose="00000500000000000000" pitchFamily="2" charset="0"/>
                </a:rPr>
                <a:t>03</a:t>
              </a:r>
              <a:endParaRPr lang="en-US" sz="2000" spc="300" dirty="0">
                <a:solidFill>
                  <a:srgbClr val="06D6A0"/>
                </a:solidFill>
                <a:latin typeface="Anton" panose="00000500000000000000" pitchFamily="2" charset="0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02B6B8B-8297-4273-8010-61142DF79695}"/>
              </a:ext>
            </a:extLst>
          </p:cNvPr>
          <p:cNvGrpSpPr/>
          <p:nvPr/>
        </p:nvGrpSpPr>
        <p:grpSpPr>
          <a:xfrm>
            <a:off x="2376531" y="1804037"/>
            <a:ext cx="3355676" cy="1428965"/>
            <a:chOff x="2376531" y="1804037"/>
            <a:chExt cx="3355676" cy="1428965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62C35E0C-2906-4AAF-8057-3A40B59EE48B}"/>
                </a:ext>
              </a:extLst>
            </p:cNvPr>
            <p:cNvGrpSpPr/>
            <p:nvPr/>
          </p:nvGrpSpPr>
          <p:grpSpPr>
            <a:xfrm>
              <a:off x="2376531" y="1804037"/>
              <a:ext cx="3355676" cy="1400788"/>
              <a:chOff x="2596550" y="2775364"/>
              <a:chExt cx="4019910" cy="1678065"/>
            </a:xfrm>
            <a:scene3d>
              <a:camera prst="orthographicFront">
                <a:rot lat="0" lon="0" rev="1200000"/>
              </a:camera>
              <a:lightRig rig="threePt" dir="t"/>
            </a:scene3d>
          </p:grpSpPr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129D9395-4F7F-469C-A275-CFE0E62E8CDB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A3AAFBC9-A40E-444C-AE46-4536C94E12FD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2BA9BCEE-9897-4C90-A035-492954969E3F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118A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3C0E6B84-CBA1-4654-8281-81A3F63EE4B8}"/>
                  </a:ext>
                </a:extLst>
              </p:cNvPr>
              <p:cNvSpPr/>
              <p:nvPr/>
            </p:nvSpPr>
            <p:spPr>
              <a:xfrm>
                <a:off x="2596550" y="2775364"/>
                <a:ext cx="4019910" cy="137394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alpha val="0"/>
                    </a:schemeClr>
                  </a:gs>
                  <a:gs pos="95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softEdge rad="266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0CBCCC58-A312-4FD0-A98A-20092941C790}"/>
                </a:ext>
              </a:extLst>
            </p:cNvPr>
            <p:cNvSpPr txBox="1"/>
            <p:nvPr/>
          </p:nvSpPr>
          <p:spPr>
            <a:xfrm rot="20409358">
              <a:off x="3733524" y="2832892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118AB2"/>
                  </a:solidFill>
                  <a:latin typeface="Anton" panose="00000500000000000000" pitchFamily="2" charset="0"/>
                </a:rPr>
                <a:t>02</a:t>
              </a:r>
              <a:endParaRPr lang="en-US" sz="2000" spc="300" dirty="0">
                <a:solidFill>
                  <a:srgbClr val="118AB2"/>
                </a:solidFill>
                <a:latin typeface="Anton" panose="00000500000000000000" pitchFamily="2" charset="0"/>
              </a:endParaRPr>
            </a:p>
          </p:txBody>
        </p:sp>
      </p:grp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11DDBD69-51C5-405D-BBBA-9C98635472A7}"/>
              </a:ext>
            </a:extLst>
          </p:cNvPr>
          <p:cNvCxnSpPr/>
          <p:nvPr/>
        </p:nvCxnSpPr>
        <p:spPr>
          <a:xfrm>
            <a:off x="4175043" y="931653"/>
            <a:ext cx="2035978" cy="0"/>
          </a:xfrm>
          <a:prstGeom prst="line">
            <a:avLst/>
          </a:prstGeom>
          <a:ln w="19050">
            <a:solidFill>
              <a:srgbClr val="073B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B322033C-947B-45E0-B7B9-C72EDFB8F841}"/>
              </a:ext>
            </a:extLst>
          </p:cNvPr>
          <p:cNvCxnSpPr/>
          <p:nvPr/>
        </p:nvCxnSpPr>
        <p:spPr>
          <a:xfrm>
            <a:off x="4927049" y="2011729"/>
            <a:ext cx="2035978" cy="0"/>
          </a:xfrm>
          <a:prstGeom prst="line">
            <a:avLst/>
          </a:prstGeom>
          <a:ln w="19050">
            <a:solidFill>
              <a:srgbClr val="118A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5A413F8D-A016-4F17-9D7E-67A113EEAEB9}"/>
              </a:ext>
            </a:extLst>
          </p:cNvPr>
          <p:cNvCxnSpPr/>
          <p:nvPr/>
        </p:nvCxnSpPr>
        <p:spPr>
          <a:xfrm>
            <a:off x="5260766" y="3292294"/>
            <a:ext cx="2035978" cy="0"/>
          </a:xfrm>
          <a:prstGeom prst="line">
            <a:avLst/>
          </a:prstGeom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CE59764A-0547-492E-ADF3-0F1B714FE7D4}"/>
              </a:ext>
            </a:extLst>
          </p:cNvPr>
          <p:cNvCxnSpPr/>
          <p:nvPr/>
        </p:nvCxnSpPr>
        <p:spPr>
          <a:xfrm>
            <a:off x="5114117" y="4501309"/>
            <a:ext cx="2035978" cy="0"/>
          </a:xfrm>
          <a:prstGeom prst="line">
            <a:avLst/>
          </a:prstGeom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D08ABF5C-1D62-4495-AB80-6BAD31305015}"/>
              </a:ext>
            </a:extLst>
          </p:cNvPr>
          <p:cNvCxnSpPr/>
          <p:nvPr/>
        </p:nvCxnSpPr>
        <p:spPr>
          <a:xfrm>
            <a:off x="4536148" y="5752139"/>
            <a:ext cx="2035978" cy="0"/>
          </a:xfrm>
          <a:prstGeom prst="line">
            <a:avLst/>
          </a:prstGeom>
          <a:ln w="19050">
            <a:solidFill>
              <a:srgbClr val="EF47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F4173C33-F9C9-4068-BCB2-D6F11BAD3815}"/>
              </a:ext>
            </a:extLst>
          </p:cNvPr>
          <p:cNvGrpSpPr/>
          <p:nvPr/>
        </p:nvGrpSpPr>
        <p:grpSpPr>
          <a:xfrm>
            <a:off x="2082574" y="1263788"/>
            <a:ext cx="2553613" cy="1285380"/>
            <a:chOff x="2082574" y="1263788"/>
            <a:chExt cx="2553613" cy="1285380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454B8B73-02CD-45F2-A244-9B42C0DCFA48}"/>
                </a:ext>
              </a:extLst>
            </p:cNvPr>
            <p:cNvGrpSpPr/>
            <p:nvPr/>
          </p:nvGrpSpPr>
          <p:grpSpPr>
            <a:xfrm>
              <a:off x="2082574" y="1263788"/>
              <a:ext cx="2553613" cy="1285380"/>
              <a:chOff x="2737657" y="2913616"/>
              <a:chExt cx="3059084" cy="1539813"/>
            </a:xfrm>
            <a:scene3d>
              <a:camera prst="orthographicFront">
                <a:rot lat="0" lon="0" rev="2400000"/>
              </a:camera>
              <a:lightRig rig="threePt" dir="t"/>
            </a:scene3d>
          </p:grpSpPr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8F70A12A-955A-44CA-AD14-CF775C1316A4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EE2BC23F-E057-433F-AD42-8B238FA1B9CC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2ED7E8C7-0ACF-4CBA-A6AE-5E93363CFD54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073B4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21B79F32-9457-46C6-9309-0F1ECB18C1F2}"/>
                </a:ext>
              </a:extLst>
            </p:cNvPr>
            <p:cNvSpPr txBox="1"/>
            <p:nvPr/>
          </p:nvSpPr>
          <p:spPr>
            <a:xfrm rot="19173824">
              <a:off x="3304028" y="2073478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073B4C"/>
                  </a:solidFill>
                  <a:latin typeface="Anton" panose="00000500000000000000" pitchFamily="2" charset="0"/>
                </a:rPr>
                <a:t>01</a:t>
              </a:r>
              <a:endParaRPr lang="en-US" sz="2000" spc="300" dirty="0">
                <a:solidFill>
                  <a:srgbClr val="073B4C"/>
                </a:solidFill>
                <a:latin typeface="Anton" panose="00000500000000000000" pitchFamily="2" charset="0"/>
              </a:endParaRPr>
            </a:p>
          </p:txBody>
        </p:sp>
      </p:grpSp>
      <p:sp>
        <p:nvSpPr>
          <p:cNvPr id="149" name="TextBox 148">
            <a:extLst>
              <a:ext uri="{FF2B5EF4-FFF2-40B4-BE49-F238E27FC236}">
                <a16:creationId xmlns:a16="http://schemas.microsoft.com/office/drawing/2014/main" id="{55182AE9-631D-4DC8-BB96-2460DA99BD6D}"/>
              </a:ext>
            </a:extLst>
          </p:cNvPr>
          <p:cNvSpPr txBox="1"/>
          <p:nvPr/>
        </p:nvSpPr>
        <p:spPr>
          <a:xfrm>
            <a:off x="5911486" y="731165"/>
            <a:ext cx="1962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073B4C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PROPONENTS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EBADC8B7-E6F2-4DE6-A5B6-756A57DE88DE}"/>
              </a:ext>
            </a:extLst>
          </p:cNvPr>
          <p:cNvSpPr txBox="1"/>
          <p:nvPr/>
        </p:nvSpPr>
        <p:spPr>
          <a:xfrm>
            <a:off x="6572126" y="1848758"/>
            <a:ext cx="1962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118AB2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RATIONALE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5EEE4FEB-1D13-46C0-B11F-64AE2B6474EB}"/>
              </a:ext>
            </a:extLst>
          </p:cNvPr>
          <p:cNvSpPr txBox="1"/>
          <p:nvPr/>
        </p:nvSpPr>
        <p:spPr>
          <a:xfrm>
            <a:off x="6907432" y="3114895"/>
            <a:ext cx="1962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06D6A0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OBJECTIVES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1135AB04-9581-4CE2-8074-1E0A50C351D4}"/>
              </a:ext>
            </a:extLst>
          </p:cNvPr>
          <p:cNvSpPr txBox="1"/>
          <p:nvPr/>
        </p:nvSpPr>
        <p:spPr>
          <a:xfrm>
            <a:off x="7092167" y="4296958"/>
            <a:ext cx="2199185" cy="500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FFD166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SCOPE AND LIMITATION</a:t>
            </a:r>
          </a:p>
          <a:p>
            <a:pPr algn="ctr"/>
            <a:r>
              <a:rPr lang="en-IN" sz="1050" dirty="0">
                <a:latin typeface="Economica" panose="02000506040000020004" pitchFamily="2" charset="0"/>
              </a:rPr>
              <a:t>.</a:t>
            </a:r>
            <a:endParaRPr lang="en-US" sz="1050" dirty="0">
              <a:latin typeface="Economica" panose="02000506040000020004" pitchFamily="2" charset="0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3AC86DB6-6075-4A43-BF54-11BD4D3DC9C1}"/>
              </a:ext>
            </a:extLst>
          </p:cNvPr>
          <p:cNvSpPr txBox="1"/>
          <p:nvPr/>
        </p:nvSpPr>
        <p:spPr>
          <a:xfrm>
            <a:off x="6346044" y="5574858"/>
            <a:ext cx="1962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EF476F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METHODOLOGY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A1EDEF-FC10-4312-B134-CA6096982D3B}"/>
              </a:ext>
            </a:extLst>
          </p:cNvPr>
          <p:cNvSpPr/>
          <p:nvPr/>
        </p:nvSpPr>
        <p:spPr>
          <a:xfrm>
            <a:off x="4424075" y="6603896"/>
            <a:ext cx="3608487" cy="2266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DD80F36-C03B-4F05-BC29-FAAA5A9AB63C}"/>
              </a:ext>
            </a:extLst>
          </p:cNvPr>
          <p:cNvSpPr txBox="1"/>
          <p:nvPr/>
        </p:nvSpPr>
        <p:spPr>
          <a:xfrm>
            <a:off x="3786755" y="-1517221"/>
            <a:ext cx="52119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What is the goals of SkoLide?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A0E5AA-C37A-0010-7CD2-6566DC919373}"/>
              </a:ext>
            </a:extLst>
          </p:cNvPr>
          <p:cNvSpPr txBox="1"/>
          <p:nvPr/>
        </p:nvSpPr>
        <p:spPr>
          <a:xfrm>
            <a:off x="706158" y="6969052"/>
            <a:ext cx="1127977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Problem Statement / Need</a:t>
            </a:r>
          </a:p>
          <a:p>
            <a:r>
              <a:rPr lang="en-US" dirty="0"/>
              <a:t>Making presentations from scratch takes a lot of time and effort. It’s especially hard for students and busy people who don’t have strong skills in writing content or designing slides.</a:t>
            </a:r>
          </a:p>
          <a:p>
            <a:endParaRPr lang="en-US" dirty="0"/>
          </a:p>
          <a:p>
            <a:r>
              <a:rPr lang="en-US" b="1" dirty="0"/>
              <a:t>Importance / Relevance</a:t>
            </a:r>
          </a:p>
          <a:p>
            <a:r>
              <a:rPr lang="en-US" dirty="0"/>
              <a:t>Presentations are important for school, work, and professional use. But not everyone can quickly make a good one, especially if they’re in a rush or don’t know where to start.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b="1" dirty="0"/>
              <a:t>Gap / Opportunity </a:t>
            </a:r>
          </a:p>
          <a:p>
            <a:r>
              <a:rPr lang="en-US" dirty="0"/>
              <a:t>Most apps today still make you do everything by hand. While there are some smart tools out there, that you can put a topic and it will automatically generate your presentation. However, it is too expensive. 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b="1" dirty="0"/>
              <a:t>Your Approach</a:t>
            </a:r>
          </a:p>
          <a:p>
            <a:r>
              <a:rPr lang="en-US" dirty="0"/>
              <a:t>SkoLide is a smart presentation maker that helps users by letting them type a simple topic or idea. Then, the system creates well-organized and useful content for their slides automatically. It helps save time and makes the whole process easier.</a:t>
            </a:r>
          </a:p>
        </p:txBody>
      </p:sp>
    </p:spTree>
    <p:extLst>
      <p:ext uri="{BB962C8B-B14F-4D97-AF65-F5344CB8AC3E}">
        <p14:creationId xmlns:p14="http://schemas.microsoft.com/office/powerpoint/2010/main" val="1793165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Oval 53">
            <a:extLst>
              <a:ext uri="{FF2B5EF4-FFF2-40B4-BE49-F238E27FC236}">
                <a16:creationId xmlns:a16="http://schemas.microsoft.com/office/drawing/2014/main" id="{E75E415E-D168-4A64-BFEB-CF6E5E91C618}"/>
              </a:ext>
            </a:extLst>
          </p:cNvPr>
          <p:cNvSpPr/>
          <p:nvPr/>
        </p:nvSpPr>
        <p:spPr>
          <a:xfrm>
            <a:off x="4050769" y="5768364"/>
            <a:ext cx="3554083" cy="1174161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85000"/>
                  <a:alpha val="0"/>
                </a:schemeClr>
              </a:gs>
              <a:gs pos="95000">
                <a:schemeClr val="tx1">
                  <a:lumMod val="85000"/>
                  <a:lumOff val="15000"/>
                </a:schemeClr>
              </a:gs>
            </a:gsLst>
            <a:lin ang="0" scaled="1"/>
            <a:tileRect/>
          </a:gradFill>
          <a:ln>
            <a:noFill/>
          </a:ln>
          <a:effectLst>
            <a:softEdge rad="3048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59A91C9-5054-421D-8AB9-E071BA377352}"/>
              </a:ext>
            </a:extLst>
          </p:cNvPr>
          <p:cNvGrpSpPr/>
          <p:nvPr/>
        </p:nvGrpSpPr>
        <p:grpSpPr>
          <a:xfrm>
            <a:off x="-2212822" y="8354980"/>
            <a:ext cx="3355676" cy="1400788"/>
            <a:chOff x="2038070" y="4505166"/>
            <a:chExt cx="3355676" cy="1400788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343157D5-4FF2-4FA1-9D59-419EF512DD63}"/>
                </a:ext>
              </a:extLst>
            </p:cNvPr>
            <p:cNvGrpSpPr/>
            <p:nvPr/>
          </p:nvGrpSpPr>
          <p:grpSpPr>
            <a:xfrm>
              <a:off x="2038070" y="4505166"/>
              <a:ext cx="3355676" cy="1400788"/>
              <a:chOff x="2596550" y="2775364"/>
              <a:chExt cx="4019910" cy="1678065"/>
            </a:xfrm>
            <a:scene3d>
              <a:camera prst="orthographicFront">
                <a:rot lat="0" lon="0" rev="19199999"/>
              </a:camera>
              <a:lightRig rig="threePt" dir="t"/>
            </a:scene3d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892C5BCC-B12D-4C7A-B111-34582936145D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B67A78B7-6B3D-456A-A208-4D26B1ABD8E3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1E2ED20F-42CC-4834-B53D-E458D5168208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EF476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475AEADC-907C-4D82-B7F4-153288554B19}"/>
                  </a:ext>
                </a:extLst>
              </p:cNvPr>
              <p:cNvSpPr/>
              <p:nvPr/>
            </p:nvSpPr>
            <p:spPr>
              <a:xfrm>
                <a:off x="2596550" y="2775364"/>
                <a:ext cx="4019910" cy="137394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alpha val="0"/>
                    </a:schemeClr>
                  </a:gs>
                  <a:gs pos="95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softEdge rad="266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4501ABC5-43E0-49AC-BC00-8C50BB95BF58}"/>
                </a:ext>
              </a:extLst>
            </p:cNvPr>
            <p:cNvSpPr txBox="1"/>
            <p:nvPr/>
          </p:nvSpPr>
          <p:spPr>
            <a:xfrm rot="2317436">
              <a:off x="3084625" y="5387604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EF476F"/>
                  </a:solidFill>
                  <a:latin typeface="Anton" panose="00000500000000000000" pitchFamily="2" charset="0"/>
                </a:rPr>
                <a:t>05</a:t>
              </a:r>
              <a:endParaRPr lang="en-US" sz="2000" spc="300" dirty="0">
                <a:solidFill>
                  <a:srgbClr val="EF476F"/>
                </a:solidFill>
                <a:latin typeface="Anton" panose="00000500000000000000" pitchFamily="2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0F3C0F4-B6E4-4C48-9EF4-98AD4F55FA69}"/>
              </a:ext>
            </a:extLst>
          </p:cNvPr>
          <p:cNvGrpSpPr/>
          <p:nvPr/>
        </p:nvGrpSpPr>
        <p:grpSpPr>
          <a:xfrm>
            <a:off x="-3097661" y="7011296"/>
            <a:ext cx="3355676" cy="1400788"/>
            <a:chOff x="2459965" y="3663791"/>
            <a:chExt cx="3355676" cy="140078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A5F928E-6A3A-4AC3-B40D-78D692B6B9A6}"/>
                </a:ext>
              </a:extLst>
            </p:cNvPr>
            <p:cNvGrpSpPr/>
            <p:nvPr/>
          </p:nvGrpSpPr>
          <p:grpSpPr>
            <a:xfrm>
              <a:off x="2459965" y="3663791"/>
              <a:ext cx="3355676" cy="1400788"/>
              <a:chOff x="2596550" y="2775364"/>
              <a:chExt cx="4019910" cy="1678065"/>
            </a:xfrm>
            <a:scene3d>
              <a:camera prst="orthographicFront">
                <a:rot lat="0" lon="0" rev="20399999"/>
              </a:camera>
              <a:lightRig rig="threePt" dir="t"/>
            </a:scene3d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8B059B1-A6BA-41B1-862D-EFADE8A7E0E4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5A53785F-C2D2-4537-BF9E-41355E3DFB81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9D5353B7-0849-4523-BD12-172B32B20B51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FFD1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966420CD-FEF1-49EC-8302-619086DCC8A7}"/>
                  </a:ext>
                </a:extLst>
              </p:cNvPr>
              <p:cNvSpPr/>
              <p:nvPr/>
            </p:nvSpPr>
            <p:spPr>
              <a:xfrm>
                <a:off x="2596550" y="2775364"/>
                <a:ext cx="4019910" cy="137394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alpha val="0"/>
                    </a:schemeClr>
                  </a:gs>
                  <a:gs pos="95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softEdge rad="266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18C98E25-E4E3-49C9-BF77-2540DFCDED07}"/>
                </a:ext>
              </a:extLst>
            </p:cNvPr>
            <p:cNvSpPr txBox="1"/>
            <p:nvPr/>
          </p:nvSpPr>
          <p:spPr>
            <a:xfrm rot="962716">
              <a:off x="3693611" y="4653891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FFD166"/>
                  </a:solidFill>
                  <a:latin typeface="Anton" panose="00000500000000000000" pitchFamily="2" charset="0"/>
                </a:rPr>
                <a:t>04</a:t>
              </a:r>
              <a:endParaRPr lang="en-US" sz="2000" spc="300" dirty="0">
                <a:solidFill>
                  <a:srgbClr val="FFD166"/>
                </a:solidFill>
                <a:latin typeface="Anton" panose="00000500000000000000" pitchFamily="2" charset="0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A1592EFB-3A7E-45D6-A98E-2179EC9E0047}"/>
              </a:ext>
            </a:extLst>
          </p:cNvPr>
          <p:cNvGrpSpPr/>
          <p:nvPr/>
        </p:nvGrpSpPr>
        <p:grpSpPr>
          <a:xfrm>
            <a:off x="4418162" y="5079570"/>
            <a:ext cx="3355676" cy="1367932"/>
            <a:chOff x="2406641" y="2761463"/>
            <a:chExt cx="3355676" cy="1367932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F3D935D-0ECA-4D6F-BEFE-A1CB93FD10E7}"/>
                </a:ext>
              </a:extLst>
            </p:cNvPr>
            <p:cNvGrpSpPr/>
            <p:nvPr/>
          </p:nvGrpSpPr>
          <p:grpSpPr>
            <a:xfrm>
              <a:off x="2406641" y="2761463"/>
              <a:ext cx="3355676" cy="1367932"/>
              <a:chOff x="2377661" y="2814724"/>
              <a:chExt cx="4019910" cy="1638705"/>
            </a:xfrm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561C2D06-12A5-43AC-90FD-8DE901D4A5A9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1DACD449-33AF-4702-91CF-490058943DF5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97505746-BE53-4BA7-8480-35238ED37367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06D6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F200FD4-1487-46E5-900E-DE692E1F5E2C}"/>
                  </a:ext>
                </a:extLst>
              </p:cNvPr>
              <p:cNvSpPr/>
              <p:nvPr/>
            </p:nvSpPr>
            <p:spPr>
              <a:xfrm>
                <a:off x="2377661" y="2814724"/>
                <a:ext cx="4019910" cy="137394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alpha val="0"/>
                    </a:schemeClr>
                  </a:gs>
                  <a:gs pos="95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softEdge rad="266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A80DC888-46C4-49C5-8C75-8CDF81E54FAC}"/>
                </a:ext>
              </a:extLst>
            </p:cNvPr>
            <p:cNvSpPr txBox="1"/>
            <p:nvPr/>
          </p:nvSpPr>
          <p:spPr>
            <a:xfrm>
              <a:off x="3908292" y="3708324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06D6A0"/>
                  </a:solidFill>
                  <a:latin typeface="Anton" panose="00000500000000000000" pitchFamily="2" charset="0"/>
                </a:rPr>
                <a:t>03</a:t>
              </a:r>
              <a:endParaRPr lang="en-US" sz="2000" spc="300" dirty="0">
                <a:solidFill>
                  <a:srgbClr val="06D6A0"/>
                </a:solidFill>
                <a:latin typeface="Anton" panose="00000500000000000000" pitchFamily="2" charset="0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02B6B8B-8297-4273-8010-61142DF79695}"/>
              </a:ext>
            </a:extLst>
          </p:cNvPr>
          <p:cNvGrpSpPr/>
          <p:nvPr/>
        </p:nvGrpSpPr>
        <p:grpSpPr>
          <a:xfrm>
            <a:off x="-3974137" y="3453449"/>
            <a:ext cx="3355676" cy="1428965"/>
            <a:chOff x="2376531" y="1804037"/>
            <a:chExt cx="3355676" cy="1428965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62C35E0C-2906-4AAF-8057-3A40B59EE48B}"/>
                </a:ext>
              </a:extLst>
            </p:cNvPr>
            <p:cNvGrpSpPr/>
            <p:nvPr/>
          </p:nvGrpSpPr>
          <p:grpSpPr>
            <a:xfrm>
              <a:off x="2376531" y="1804037"/>
              <a:ext cx="3355676" cy="1400788"/>
              <a:chOff x="2596550" y="2775364"/>
              <a:chExt cx="4019910" cy="1678065"/>
            </a:xfrm>
            <a:scene3d>
              <a:camera prst="orthographicFront">
                <a:rot lat="0" lon="0" rev="1200000"/>
              </a:camera>
              <a:lightRig rig="threePt" dir="t"/>
            </a:scene3d>
          </p:grpSpPr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129D9395-4F7F-469C-A275-CFE0E62E8CDB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A3AAFBC9-A40E-444C-AE46-4536C94E12FD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2BA9BCEE-9897-4C90-A035-492954969E3F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118A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3C0E6B84-CBA1-4654-8281-81A3F63EE4B8}"/>
                  </a:ext>
                </a:extLst>
              </p:cNvPr>
              <p:cNvSpPr/>
              <p:nvPr/>
            </p:nvSpPr>
            <p:spPr>
              <a:xfrm>
                <a:off x="2596550" y="2775364"/>
                <a:ext cx="4019910" cy="137394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alpha val="0"/>
                    </a:schemeClr>
                  </a:gs>
                  <a:gs pos="95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softEdge rad="266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0CBCCC58-A312-4FD0-A98A-20092941C790}"/>
                </a:ext>
              </a:extLst>
            </p:cNvPr>
            <p:cNvSpPr txBox="1"/>
            <p:nvPr/>
          </p:nvSpPr>
          <p:spPr>
            <a:xfrm rot="20409358">
              <a:off x="3733524" y="2832892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118AB2"/>
                  </a:solidFill>
                  <a:latin typeface="Anton" panose="00000500000000000000" pitchFamily="2" charset="0"/>
                </a:rPr>
                <a:t>02</a:t>
              </a:r>
              <a:endParaRPr lang="en-US" sz="2000" spc="300" dirty="0">
                <a:solidFill>
                  <a:srgbClr val="118AB2"/>
                </a:solidFill>
                <a:latin typeface="Anton" panose="00000500000000000000" pitchFamily="2" charset="0"/>
              </a:endParaRPr>
            </a:p>
          </p:txBody>
        </p:sp>
      </p:grp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11DDBD69-51C5-405D-BBBA-9C98635472A7}"/>
              </a:ext>
            </a:extLst>
          </p:cNvPr>
          <p:cNvCxnSpPr/>
          <p:nvPr/>
        </p:nvCxnSpPr>
        <p:spPr>
          <a:xfrm>
            <a:off x="671175" y="7518720"/>
            <a:ext cx="2035978" cy="0"/>
          </a:xfrm>
          <a:prstGeom prst="line">
            <a:avLst/>
          </a:prstGeom>
          <a:ln w="19050">
            <a:solidFill>
              <a:srgbClr val="073B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B322033C-947B-45E0-B7B9-C72EDFB8F841}"/>
              </a:ext>
            </a:extLst>
          </p:cNvPr>
          <p:cNvCxnSpPr/>
          <p:nvPr/>
        </p:nvCxnSpPr>
        <p:spPr>
          <a:xfrm>
            <a:off x="2884185" y="7701329"/>
            <a:ext cx="2035978" cy="0"/>
          </a:xfrm>
          <a:prstGeom prst="line">
            <a:avLst/>
          </a:prstGeom>
          <a:ln w="19050">
            <a:solidFill>
              <a:srgbClr val="118A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CE59764A-0547-492E-ADF3-0F1B714FE7D4}"/>
              </a:ext>
            </a:extLst>
          </p:cNvPr>
          <p:cNvCxnSpPr/>
          <p:nvPr/>
        </p:nvCxnSpPr>
        <p:spPr>
          <a:xfrm>
            <a:off x="767578" y="8201451"/>
            <a:ext cx="2035978" cy="0"/>
          </a:xfrm>
          <a:prstGeom prst="line">
            <a:avLst/>
          </a:prstGeom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D08ABF5C-1D62-4495-AB80-6BAD31305015}"/>
              </a:ext>
            </a:extLst>
          </p:cNvPr>
          <p:cNvCxnSpPr/>
          <p:nvPr/>
        </p:nvCxnSpPr>
        <p:spPr>
          <a:xfrm>
            <a:off x="1785567" y="9501897"/>
            <a:ext cx="2035978" cy="0"/>
          </a:xfrm>
          <a:prstGeom prst="line">
            <a:avLst/>
          </a:prstGeom>
          <a:ln w="19050">
            <a:solidFill>
              <a:srgbClr val="EF47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F4173C33-F9C9-4068-BCB2-D6F11BAD3815}"/>
              </a:ext>
            </a:extLst>
          </p:cNvPr>
          <p:cNvGrpSpPr/>
          <p:nvPr/>
        </p:nvGrpSpPr>
        <p:grpSpPr>
          <a:xfrm>
            <a:off x="-4639960" y="2044658"/>
            <a:ext cx="2553613" cy="1285380"/>
            <a:chOff x="2082574" y="1263788"/>
            <a:chExt cx="2553613" cy="1285380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454B8B73-02CD-45F2-A244-9B42C0DCFA48}"/>
                </a:ext>
              </a:extLst>
            </p:cNvPr>
            <p:cNvGrpSpPr/>
            <p:nvPr/>
          </p:nvGrpSpPr>
          <p:grpSpPr>
            <a:xfrm>
              <a:off x="2082574" y="1263788"/>
              <a:ext cx="2553613" cy="1285380"/>
              <a:chOff x="2737657" y="2913616"/>
              <a:chExt cx="3059084" cy="1539813"/>
            </a:xfrm>
            <a:scene3d>
              <a:camera prst="orthographicFront">
                <a:rot lat="0" lon="0" rev="2400000"/>
              </a:camera>
              <a:lightRig rig="threePt" dir="t"/>
            </a:scene3d>
          </p:grpSpPr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8F70A12A-955A-44CA-AD14-CF775C1316A4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EE2BC23F-E057-433F-AD42-8B238FA1B9CC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2ED7E8C7-0ACF-4CBA-A6AE-5E93363CFD54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073B4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21B79F32-9457-46C6-9309-0F1ECB18C1F2}"/>
                </a:ext>
              </a:extLst>
            </p:cNvPr>
            <p:cNvSpPr txBox="1"/>
            <p:nvPr/>
          </p:nvSpPr>
          <p:spPr>
            <a:xfrm rot="19173824">
              <a:off x="3304028" y="2073478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073B4C"/>
                  </a:solidFill>
                  <a:latin typeface="Anton" panose="00000500000000000000" pitchFamily="2" charset="0"/>
                </a:rPr>
                <a:t>01</a:t>
              </a:r>
              <a:endParaRPr lang="en-US" sz="2000" spc="300" dirty="0">
                <a:solidFill>
                  <a:srgbClr val="073B4C"/>
                </a:solidFill>
                <a:latin typeface="Anton" panose="00000500000000000000" pitchFamily="2" charset="0"/>
              </a:endParaRPr>
            </a:p>
          </p:txBody>
        </p:sp>
      </p:grpSp>
      <p:sp>
        <p:nvSpPr>
          <p:cNvPr id="149" name="TextBox 148">
            <a:extLst>
              <a:ext uri="{FF2B5EF4-FFF2-40B4-BE49-F238E27FC236}">
                <a16:creationId xmlns:a16="http://schemas.microsoft.com/office/drawing/2014/main" id="{55182AE9-631D-4DC8-BB96-2460DA99BD6D}"/>
              </a:ext>
            </a:extLst>
          </p:cNvPr>
          <p:cNvSpPr txBox="1"/>
          <p:nvPr/>
        </p:nvSpPr>
        <p:spPr>
          <a:xfrm>
            <a:off x="821316" y="7074503"/>
            <a:ext cx="1962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073B4C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PROPONENTS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EBADC8B7-E6F2-4DE6-A5B6-756A57DE88DE}"/>
              </a:ext>
            </a:extLst>
          </p:cNvPr>
          <p:cNvSpPr txBox="1"/>
          <p:nvPr/>
        </p:nvSpPr>
        <p:spPr>
          <a:xfrm>
            <a:off x="2924375" y="7009571"/>
            <a:ext cx="1962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118AB2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RATIONALE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5EEE4FEB-1D13-46C0-B11F-64AE2B6474EB}"/>
              </a:ext>
            </a:extLst>
          </p:cNvPr>
          <p:cNvSpPr txBox="1"/>
          <p:nvPr/>
        </p:nvSpPr>
        <p:spPr>
          <a:xfrm>
            <a:off x="6045891" y="7920508"/>
            <a:ext cx="1962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06D6A0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OBJECTIVES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1135AB04-9581-4CE2-8074-1E0A50C351D4}"/>
              </a:ext>
            </a:extLst>
          </p:cNvPr>
          <p:cNvSpPr txBox="1"/>
          <p:nvPr/>
        </p:nvSpPr>
        <p:spPr>
          <a:xfrm>
            <a:off x="1062384" y="8520219"/>
            <a:ext cx="2199185" cy="500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FFD166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SCOPE AND LIMITATION</a:t>
            </a:r>
          </a:p>
          <a:p>
            <a:pPr algn="ctr"/>
            <a:r>
              <a:rPr lang="en-IN" sz="1050" dirty="0">
                <a:latin typeface="Economica" panose="02000506040000020004" pitchFamily="2" charset="0"/>
              </a:rPr>
              <a:t>.</a:t>
            </a:r>
            <a:endParaRPr lang="en-US" sz="1050" dirty="0">
              <a:latin typeface="Economica" panose="02000506040000020004" pitchFamily="2" charset="0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3AC86DB6-6075-4A43-BF54-11BD4D3DC9C1}"/>
              </a:ext>
            </a:extLst>
          </p:cNvPr>
          <p:cNvSpPr txBox="1"/>
          <p:nvPr/>
        </p:nvSpPr>
        <p:spPr>
          <a:xfrm>
            <a:off x="3865371" y="8352744"/>
            <a:ext cx="1962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EF476F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METHODOLOGY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A1EDEF-FC10-4312-B134-CA6096982D3B}"/>
              </a:ext>
            </a:extLst>
          </p:cNvPr>
          <p:cNvSpPr/>
          <p:nvPr/>
        </p:nvSpPr>
        <p:spPr>
          <a:xfrm>
            <a:off x="4424075" y="6603896"/>
            <a:ext cx="3608487" cy="2266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5A413F8D-A016-4F17-9D7E-67A113EEAEB9}"/>
              </a:ext>
            </a:extLst>
          </p:cNvPr>
          <p:cNvCxnSpPr>
            <a:cxnSpLocks/>
          </p:cNvCxnSpPr>
          <p:nvPr/>
        </p:nvCxnSpPr>
        <p:spPr>
          <a:xfrm>
            <a:off x="458582" y="6603896"/>
            <a:ext cx="11174618" cy="0"/>
          </a:xfrm>
          <a:prstGeom prst="line">
            <a:avLst/>
          </a:prstGeom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45D5CD6F-6ACB-4F48-805F-49C8E902A5CF}"/>
              </a:ext>
            </a:extLst>
          </p:cNvPr>
          <p:cNvSpPr txBox="1"/>
          <p:nvPr/>
        </p:nvSpPr>
        <p:spPr>
          <a:xfrm>
            <a:off x="3490005" y="2969046"/>
            <a:ext cx="52119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What is the goals of SkoLide?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BC31B5C-EFF1-4F4E-B173-7AD26EB1E18E}"/>
              </a:ext>
            </a:extLst>
          </p:cNvPr>
          <p:cNvSpPr txBox="1"/>
          <p:nvPr/>
        </p:nvSpPr>
        <p:spPr>
          <a:xfrm>
            <a:off x="458581" y="-4093702"/>
            <a:ext cx="1117461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</a:rPr>
              <a:t>To develop an AI-powered presentation generator that simplifies and speeds up the creation of well structured, visually appealing slides using prompt-based content generation.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i="0" u="none" strike="noStrike" dirty="0">
                <a:solidFill>
                  <a:srgbClr val="000000"/>
                </a:solidFill>
                <a:effectLst/>
              </a:rPr>
              <a:t> </a:t>
            </a: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i="0" u="none" strike="noStrike" dirty="0">
                <a:solidFill>
                  <a:srgbClr val="000000"/>
                </a:solidFill>
                <a:effectLst/>
              </a:rPr>
              <a:t>To design a system that transforms user-provided prompts into structured presentation content – including titles, bullet points, and summaries.</a:t>
            </a: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i="0" u="none" strike="noStrike" dirty="0">
                <a:solidFill>
                  <a:srgbClr val="000000"/>
                </a:solidFill>
                <a:effectLst/>
              </a:rPr>
              <a:t>To develop the system using AI with API integration and prompt engineering to ensure clear, relevant, and clear content generation.</a:t>
            </a: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80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i="0" u="none" strike="noStrike" dirty="0">
                <a:solidFill>
                  <a:srgbClr val="000000"/>
                </a:solidFill>
                <a:effectLst/>
              </a:rPr>
              <a:t>To implement a user-friendly interface where users can input topics, select templates, and generate presentations effortlessly.</a:t>
            </a: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i="0" u="none" strike="noStrike" dirty="0">
                <a:solidFill>
                  <a:srgbClr val="000000"/>
                </a:solidFill>
                <a:effectLst/>
              </a:rPr>
              <a:t>To evaluate the system in terms of efficiency, usability, content-quality, and user satisfaction – by testing with students, educators, and professionals.</a:t>
            </a:r>
          </a:p>
        </p:txBody>
      </p:sp>
    </p:spTree>
    <p:extLst>
      <p:ext uri="{BB962C8B-B14F-4D97-AF65-F5344CB8AC3E}">
        <p14:creationId xmlns:p14="http://schemas.microsoft.com/office/powerpoint/2010/main" val="34319935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Oval 53">
            <a:extLst>
              <a:ext uri="{FF2B5EF4-FFF2-40B4-BE49-F238E27FC236}">
                <a16:creationId xmlns:a16="http://schemas.microsoft.com/office/drawing/2014/main" id="{E75E415E-D168-4A64-BFEB-CF6E5E91C618}"/>
              </a:ext>
            </a:extLst>
          </p:cNvPr>
          <p:cNvSpPr/>
          <p:nvPr/>
        </p:nvSpPr>
        <p:spPr>
          <a:xfrm>
            <a:off x="4050769" y="5768364"/>
            <a:ext cx="3554083" cy="1174161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85000"/>
                  <a:alpha val="0"/>
                </a:schemeClr>
              </a:gs>
              <a:gs pos="95000">
                <a:schemeClr val="tx1">
                  <a:lumMod val="85000"/>
                  <a:lumOff val="15000"/>
                </a:schemeClr>
              </a:gs>
            </a:gsLst>
            <a:lin ang="0" scaled="1"/>
            <a:tileRect/>
          </a:gradFill>
          <a:ln>
            <a:noFill/>
          </a:ln>
          <a:effectLst>
            <a:softEdge rad="3048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59A91C9-5054-421D-8AB9-E071BA377352}"/>
              </a:ext>
            </a:extLst>
          </p:cNvPr>
          <p:cNvGrpSpPr/>
          <p:nvPr/>
        </p:nvGrpSpPr>
        <p:grpSpPr>
          <a:xfrm>
            <a:off x="-2212822" y="8354980"/>
            <a:ext cx="3355676" cy="1400788"/>
            <a:chOff x="2038070" y="4505166"/>
            <a:chExt cx="3355676" cy="1400788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343157D5-4FF2-4FA1-9D59-419EF512DD63}"/>
                </a:ext>
              </a:extLst>
            </p:cNvPr>
            <p:cNvGrpSpPr/>
            <p:nvPr/>
          </p:nvGrpSpPr>
          <p:grpSpPr>
            <a:xfrm>
              <a:off x="2038070" y="4505166"/>
              <a:ext cx="3355676" cy="1400788"/>
              <a:chOff x="2596550" y="2775364"/>
              <a:chExt cx="4019910" cy="1678065"/>
            </a:xfrm>
            <a:scene3d>
              <a:camera prst="orthographicFront">
                <a:rot lat="0" lon="0" rev="19199999"/>
              </a:camera>
              <a:lightRig rig="threePt" dir="t"/>
            </a:scene3d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892C5BCC-B12D-4C7A-B111-34582936145D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B67A78B7-6B3D-456A-A208-4D26B1ABD8E3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1E2ED20F-42CC-4834-B53D-E458D5168208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EF476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475AEADC-907C-4D82-B7F4-153288554B19}"/>
                  </a:ext>
                </a:extLst>
              </p:cNvPr>
              <p:cNvSpPr/>
              <p:nvPr/>
            </p:nvSpPr>
            <p:spPr>
              <a:xfrm>
                <a:off x="2596550" y="2775364"/>
                <a:ext cx="4019910" cy="137394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alpha val="0"/>
                    </a:schemeClr>
                  </a:gs>
                  <a:gs pos="95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softEdge rad="266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4501ABC5-43E0-49AC-BC00-8C50BB95BF58}"/>
                </a:ext>
              </a:extLst>
            </p:cNvPr>
            <p:cNvSpPr txBox="1"/>
            <p:nvPr/>
          </p:nvSpPr>
          <p:spPr>
            <a:xfrm rot="2317436">
              <a:off x="3084625" y="5387604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EF476F"/>
                  </a:solidFill>
                  <a:latin typeface="Anton" panose="00000500000000000000" pitchFamily="2" charset="0"/>
                </a:rPr>
                <a:t>05</a:t>
              </a:r>
              <a:endParaRPr lang="en-US" sz="2000" spc="300" dirty="0">
                <a:solidFill>
                  <a:srgbClr val="EF476F"/>
                </a:solidFill>
                <a:latin typeface="Anton" panose="00000500000000000000" pitchFamily="2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0F3C0F4-B6E4-4C48-9EF4-98AD4F55FA69}"/>
              </a:ext>
            </a:extLst>
          </p:cNvPr>
          <p:cNvGrpSpPr/>
          <p:nvPr/>
        </p:nvGrpSpPr>
        <p:grpSpPr>
          <a:xfrm>
            <a:off x="-3097661" y="7011296"/>
            <a:ext cx="3355676" cy="1400788"/>
            <a:chOff x="2459965" y="3663791"/>
            <a:chExt cx="3355676" cy="140078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A5F928E-6A3A-4AC3-B40D-78D692B6B9A6}"/>
                </a:ext>
              </a:extLst>
            </p:cNvPr>
            <p:cNvGrpSpPr/>
            <p:nvPr/>
          </p:nvGrpSpPr>
          <p:grpSpPr>
            <a:xfrm>
              <a:off x="2459965" y="3663791"/>
              <a:ext cx="3355676" cy="1400788"/>
              <a:chOff x="2596550" y="2775364"/>
              <a:chExt cx="4019910" cy="1678065"/>
            </a:xfrm>
            <a:scene3d>
              <a:camera prst="orthographicFront">
                <a:rot lat="0" lon="0" rev="20399999"/>
              </a:camera>
              <a:lightRig rig="threePt" dir="t"/>
            </a:scene3d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8B059B1-A6BA-41B1-862D-EFADE8A7E0E4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5A53785F-C2D2-4537-BF9E-41355E3DFB81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9D5353B7-0849-4523-BD12-172B32B20B51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FFD1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966420CD-FEF1-49EC-8302-619086DCC8A7}"/>
                  </a:ext>
                </a:extLst>
              </p:cNvPr>
              <p:cNvSpPr/>
              <p:nvPr/>
            </p:nvSpPr>
            <p:spPr>
              <a:xfrm>
                <a:off x="2596550" y="2775364"/>
                <a:ext cx="4019910" cy="137394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alpha val="0"/>
                    </a:schemeClr>
                  </a:gs>
                  <a:gs pos="95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softEdge rad="266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18C98E25-E4E3-49C9-BF77-2540DFCDED07}"/>
                </a:ext>
              </a:extLst>
            </p:cNvPr>
            <p:cNvSpPr txBox="1"/>
            <p:nvPr/>
          </p:nvSpPr>
          <p:spPr>
            <a:xfrm rot="962716">
              <a:off x="3693611" y="4653891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FFD166"/>
                  </a:solidFill>
                  <a:latin typeface="Anton" panose="00000500000000000000" pitchFamily="2" charset="0"/>
                </a:rPr>
                <a:t>04</a:t>
              </a:r>
              <a:endParaRPr lang="en-US" sz="2000" spc="300" dirty="0">
                <a:solidFill>
                  <a:srgbClr val="FFD166"/>
                </a:solidFill>
                <a:latin typeface="Anton" panose="00000500000000000000" pitchFamily="2" charset="0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A1592EFB-3A7E-45D6-A98E-2179EC9E0047}"/>
              </a:ext>
            </a:extLst>
          </p:cNvPr>
          <p:cNvGrpSpPr/>
          <p:nvPr/>
        </p:nvGrpSpPr>
        <p:grpSpPr>
          <a:xfrm>
            <a:off x="4418162" y="5079570"/>
            <a:ext cx="3355676" cy="1367932"/>
            <a:chOff x="2406641" y="2761463"/>
            <a:chExt cx="3355676" cy="1367932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F3D935D-0ECA-4D6F-BEFE-A1CB93FD10E7}"/>
                </a:ext>
              </a:extLst>
            </p:cNvPr>
            <p:cNvGrpSpPr/>
            <p:nvPr/>
          </p:nvGrpSpPr>
          <p:grpSpPr>
            <a:xfrm>
              <a:off x="2406641" y="2761463"/>
              <a:ext cx="3355676" cy="1367932"/>
              <a:chOff x="2377661" y="2814724"/>
              <a:chExt cx="4019910" cy="1638705"/>
            </a:xfrm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561C2D06-12A5-43AC-90FD-8DE901D4A5A9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1DACD449-33AF-4702-91CF-490058943DF5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97505746-BE53-4BA7-8480-35238ED37367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06D6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F200FD4-1487-46E5-900E-DE692E1F5E2C}"/>
                  </a:ext>
                </a:extLst>
              </p:cNvPr>
              <p:cNvSpPr/>
              <p:nvPr/>
            </p:nvSpPr>
            <p:spPr>
              <a:xfrm>
                <a:off x="2377661" y="2814724"/>
                <a:ext cx="4019910" cy="137394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alpha val="0"/>
                    </a:schemeClr>
                  </a:gs>
                  <a:gs pos="95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softEdge rad="266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A80DC888-46C4-49C5-8C75-8CDF81E54FAC}"/>
                </a:ext>
              </a:extLst>
            </p:cNvPr>
            <p:cNvSpPr txBox="1"/>
            <p:nvPr/>
          </p:nvSpPr>
          <p:spPr>
            <a:xfrm>
              <a:off x="3908292" y="3708324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06D6A0"/>
                  </a:solidFill>
                  <a:latin typeface="Anton" panose="00000500000000000000" pitchFamily="2" charset="0"/>
                </a:rPr>
                <a:t>03</a:t>
              </a:r>
              <a:endParaRPr lang="en-US" sz="2000" spc="300" dirty="0">
                <a:solidFill>
                  <a:srgbClr val="06D6A0"/>
                </a:solidFill>
                <a:latin typeface="Anton" panose="00000500000000000000" pitchFamily="2" charset="0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02B6B8B-8297-4273-8010-61142DF79695}"/>
              </a:ext>
            </a:extLst>
          </p:cNvPr>
          <p:cNvGrpSpPr/>
          <p:nvPr/>
        </p:nvGrpSpPr>
        <p:grpSpPr>
          <a:xfrm>
            <a:off x="-3974137" y="3453449"/>
            <a:ext cx="3355676" cy="1428965"/>
            <a:chOff x="2376531" y="1804037"/>
            <a:chExt cx="3355676" cy="1428965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62C35E0C-2906-4AAF-8057-3A40B59EE48B}"/>
                </a:ext>
              </a:extLst>
            </p:cNvPr>
            <p:cNvGrpSpPr/>
            <p:nvPr/>
          </p:nvGrpSpPr>
          <p:grpSpPr>
            <a:xfrm>
              <a:off x="2376531" y="1804037"/>
              <a:ext cx="3355676" cy="1400788"/>
              <a:chOff x="2596550" y="2775364"/>
              <a:chExt cx="4019910" cy="1678065"/>
            </a:xfrm>
            <a:scene3d>
              <a:camera prst="orthographicFront">
                <a:rot lat="0" lon="0" rev="1200000"/>
              </a:camera>
              <a:lightRig rig="threePt" dir="t"/>
            </a:scene3d>
          </p:grpSpPr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129D9395-4F7F-469C-A275-CFE0E62E8CDB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A3AAFBC9-A40E-444C-AE46-4536C94E12FD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2BA9BCEE-9897-4C90-A035-492954969E3F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118A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3C0E6B84-CBA1-4654-8281-81A3F63EE4B8}"/>
                  </a:ext>
                </a:extLst>
              </p:cNvPr>
              <p:cNvSpPr/>
              <p:nvPr/>
            </p:nvSpPr>
            <p:spPr>
              <a:xfrm>
                <a:off x="2596550" y="2775364"/>
                <a:ext cx="4019910" cy="137394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alpha val="0"/>
                    </a:schemeClr>
                  </a:gs>
                  <a:gs pos="95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softEdge rad="266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0CBCCC58-A312-4FD0-A98A-20092941C790}"/>
                </a:ext>
              </a:extLst>
            </p:cNvPr>
            <p:cNvSpPr txBox="1"/>
            <p:nvPr/>
          </p:nvSpPr>
          <p:spPr>
            <a:xfrm rot="20409358">
              <a:off x="3733524" y="2832892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118AB2"/>
                  </a:solidFill>
                  <a:latin typeface="Anton" panose="00000500000000000000" pitchFamily="2" charset="0"/>
                </a:rPr>
                <a:t>02</a:t>
              </a:r>
              <a:endParaRPr lang="en-US" sz="2000" spc="300" dirty="0">
                <a:solidFill>
                  <a:srgbClr val="118AB2"/>
                </a:solidFill>
                <a:latin typeface="Anton" panose="00000500000000000000" pitchFamily="2" charset="0"/>
              </a:endParaRPr>
            </a:p>
          </p:txBody>
        </p:sp>
      </p:grp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11DDBD69-51C5-405D-BBBA-9C98635472A7}"/>
              </a:ext>
            </a:extLst>
          </p:cNvPr>
          <p:cNvCxnSpPr/>
          <p:nvPr/>
        </p:nvCxnSpPr>
        <p:spPr>
          <a:xfrm>
            <a:off x="671175" y="7518720"/>
            <a:ext cx="2035978" cy="0"/>
          </a:xfrm>
          <a:prstGeom prst="line">
            <a:avLst/>
          </a:prstGeom>
          <a:ln w="19050">
            <a:solidFill>
              <a:srgbClr val="073B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B322033C-947B-45E0-B7B9-C72EDFB8F841}"/>
              </a:ext>
            </a:extLst>
          </p:cNvPr>
          <p:cNvCxnSpPr/>
          <p:nvPr/>
        </p:nvCxnSpPr>
        <p:spPr>
          <a:xfrm>
            <a:off x="2884185" y="7701329"/>
            <a:ext cx="2035978" cy="0"/>
          </a:xfrm>
          <a:prstGeom prst="line">
            <a:avLst/>
          </a:prstGeom>
          <a:ln w="19050">
            <a:solidFill>
              <a:srgbClr val="118A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CE59764A-0547-492E-ADF3-0F1B714FE7D4}"/>
              </a:ext>
            </a:extLst>
          </p:cNvPr>
          <p:cNvCxnSpPr/>
          <p:nvPr/>
        </p:nvCxnSpPr>
        <p:spPr>
          <a:xfrm>
            <a:off x="767578" y="8201451"/>
            <a:ext cx="2035978" cy="0"/>
          </a:xfrm>
          <a:prstGeom prst="line">
            <a:avLst/>
          </a:prstGeom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D08ABF5C-1D62-4495-AB80-6BAD31305015}"/>
              </a:ext>
            </a:extLst>
          </p:cNvPr>
          <p:cNvCxnSpPr/>
          <p:nvPr/>
        </p:nvCxnSpPr>
        <p:spPr>
          <a:xfrm>
            <a:off x="1785567" y="9501897"/>
            <a:ext cx="2035978" cy="0"/>
          </a:xfrm>
          <a:prstGeom prst="line">
            <a:avLst/>
          </a:prstGeom>
          <a:ln w="19050">
            <a:solidFill>
              <a:srgbClr val="EF47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F4173C33-F9C9-4068-BCB2-D6F11BAD3815}"/>
              </a:ext>
            </a:extLst>
          </p:cNvPr>
          <p:cNvGrpSpPr/>
          <p:nvPr/>
        </p:nvGrpSpPr>
        <p:grpSpPr>
          <a:xfrm>
            <a:off x="-4639960" y="2044658"/>
            <a:ext cx="2553613" cy="1285380"/>
            <a:chOff x="2082574" y="1263788"/>
            <a:chExt cx="2553613" cy="1285380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454B8B73-02CD-45F2-A244-9B42C0DCFA48}"/>
                </a:ext>
              </a:extLst>
            </p:cNvPr>
            <p:cNvGrpSpPr/>
            <p:nvPr/>
          </p:nvGrpSpPr>
          <p:grpSpPr>
            <a:xfrm>
              <a:off x="2082574" y="1263788"/>
              <a:ext cx="2553613" cy="1285380"/>
              <a:chOff x="2737657" y="2913616"/>
              <a:chExt cx="3059084" cy="1539813"/>
            </a:xfrm>
            <a:scene3d>
              <a:camera prst="orthographicFront">
                <a:rot lat="0" lon="0" rev="2400000"/>
              </a:camera>
              <a:lightRig rig="threePt" dir="t"/>
            </a:scene3d>
          </p:grpSpPr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8F70A12A-955A-44CA-AD14-CF775C1316A4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EE2BC23F-E057-433F-AD42-8B238FA1B9CC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2ED7E8C7-0ACF-4CBA-A6AE-5E93363CFD54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073B4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21B79F32-9457-46C6-9309-0F1ECB18C1F2}"/>
                </a:ext>
              </a:extLst>
            </p:cNvPr>
            <p:cNvSpPr txBox="1"/>
            <p:nvPr/>
          </p:nvSpPr>
          <p:spPr>
            <a:xfrm rot="19173824">
              <a:off x="3304028" y="2073478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073B4C"/>
                  </a:solidFill>
                  <a:latin typeface="Anton" panose="00000500000000000000" pitchFamily="2" charset="0"/>
                </a:rPr>
                <a:t>01</a:t>
              </a:r>
              <a:endParaRPr lang="en-US" sz="2000" spc="300" dirty="0">
                <a:solidFill>
                  <a:srgbClr val="073B4C"/>
                </a:solidFill>
                <a:latin typeface="Anton" panose="00000500000000000000" pitchFamily="2" charset="0"/>
              </a:endParaRPr>
            </a:p>
          </p:txBody>
        </p:sp>
      </p:grpSp>
      <p:sp>
        <p:nvSpPr>
          <p:cNvPr id="149" name="TextBox 148">
            <a:extLst>
              <a:ext uri="{FF2B5EF4-FFF2-40B4-BE49-F238E27FC236}">
                <a16:creationId xmlns:a16="http://schemas.microsoft.com/office/drawing/2014/main" id="{55182AE9-631D-4DC8-BB96-2460DA99BD6D}"/>
              </a:ext>
            </a:extLst>
          </p:cNvPr>
          <p:cNvSpPr txBox="1"/>
          <p:nvPr/>
        </p:nvSpPr>
        <p:spPr>
          <a:xfrm>
            <a:off x="821316" y="7074503"/>
            <a:ext cx="1962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073B4C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PROPONENTS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EBADC8B7-E6F2-4DE6-A5B6-756A57DE88DE}"/>
              </a:ext>
            </a:extLst>
          </p:cNvPr>
          <p:cNvSpPr txBox="1"/>
          <p:nvPr/>
        </p:nvSpPr>
        <p:spPr>
          <a:xfrm>
            <a:off x="2924375" y="7009571"/>
            <a:ext cx="1962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118AB2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RATIONALE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5EEE4FEB-1D13-46C0-B11F-64AE2B6474EB}"/>
              </a:ext>
            </a:extLst>
          </p:cNvPr>
          <p:cNvSpPr txBox="1"/>
          <p:nvPr/>
        </p:nvSpPr>
        <p:spPr>
          <a:xfrm>
            <a:off x="6045891" y="7920508"/>
            <a:ext cx="1962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06D6A0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OBJECTIVES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1135AB04-9581-4CE2-8074-1E0A50C351D4}"/>
              </a:ext>
            </a:extLst>
          </p:cNvPr>
          <p:cNvSpPr txBox="1"/>
          <p:nvPr/>
        </p:nvSpPr>
        <p:spPr>
          <a:xfrm>
            <a:off x="1062384" y="8520219"/>
            <a:ext cx="2199185" cy="500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FFD166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SCOPE AND LIMITATION</a:t>
            </a:r>
          </a:p>
          <a:p>
            <a:pPr algn="ctr"/>
            <a:r>
              <a:rPr lang="en-IN" sz="1050" dirty="0">
                <a:latin typeface="Economica" panose="02000506040000020004" pitchFamily="2" charset="0"/>
              </a:rPr>
              <a:t>.</a:t>
            </a:r>
            <a:endParaRPr lang="en-US" sz="1050" dirty="0">
              <a:latin typeface="Economica" panose="02000506040000020004" pitchFamily="2" charset="0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3AC86DB6-6075-4A43-BF54-11BD4D3DC9C1}"/>
              </a:ext>
            </a:extLst>
          </p:cNvPr>
          <p:cNvSpPr txBox="1"/>
          <p:nvPr/>
        </p:nvSpPr>
        <p:spPr>
          <a:xfrm>
            <a:off x="3865371" y="8352744"/>
            <a:ext cx="1962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EF476F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METHODOLOGY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A1EDEF-FC10-4312-B134-CA6096982D3B}"/>
              </a:ext>
            </a:extLst>
          </p:cNvPr>
          <p:cNvSpPr/>
          <p:nvPr/>
        </p:nvSpPr>
        <p:spPr>
          <a:xfrm>
            <a:off x="4424075" y="6603896"/>
            <a:ext cx="3608487" cy="2266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5A413F8D-A016-4F17-9D7E-67A113EEAEB9}"/>
              </a:ext>
            </a:extLst>
          </p:cNvPr>
          <p:cNvCxnSpPr>
            <a:cxnSpLocks/>
          </p:cNvCxnSpPr>
          <p:nvPr/>
        </p:nvCxnSpPr>
        <p:spPr>
          <a:xfrm>
            <a:off x="458582" y="6603896"/>
            <a:ext cx="11174618" cy="0"/>
          </a:xfrm>
          <a:prstGeom prst="line">
            <a:avLst/>
          </a:prstGeom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45D5CD6F-6ACB-4F48-805F-49C8E902A5CF}"/>
              </a:ext>
            </a:extLst>
          </p:cNvPr>
          <p:cNvSpPr txBox="1"/>
          <p:nvPr/>
        </p:nvSpPr>
        <p:spPr>
          <a:xfrm>
            <a:off x="3389485" y="-1078020"/>
            <a:ext cx="52119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What is the goals of SkoLide?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87F2E11-4856-4DAB-BD85-95082FEAF4CF}"/>
              </a:ext>
            </a:extLst>
          </p:cNvPr>
          <p:cNvSpPr txBox="1"/>
          <p:nvPr/>
        </p:nvSpPr>
        <p:spPr>
          <a:xfrm>
            <a:off x="458582" y="786072"/>
            <a:ext cx="1117461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</a:rPr>
              <a:t>To develop an AI-powered presentation generator that simplifies and speeds up the creation of well structured, visually appealing slides using prompt-based content generation.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i="0" u="none" strike="noStrike" dirty="0">
                <a:solidFill>
                  <a:srgbClr val="000000"/>
                </a:solidFill>
                <a:effectLst/>
              </a:rPr>
              <a:t> </a:t>
            </a: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i="0" u="none" strike="noStrike" dirty="0">
                <a:solidFill>
                  <a:srgbClr val="000000"/>
                </a:solidFill>
                <a:effectLst/>
              </a:rPr>
              <a:t>To design a system that transforms user-provided prompts into structured presentation content – including titles, bullet points, and summaries.</a:t>
            </a: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i="0" u="none" strike="noStrike" dirty="0">
                <a:solidFill>
                  <a:srgbClr val="000000"/>
                </a:solidFill>
                <a:effectLst/>
              </a:rPr>
              <a:t>To develop the system using AI with API integration and prompt engineering to ensure clear, relevant, and clear content generation.</a:t>
            </a: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80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i="0" u="none" strike="noStrike" dirty="0">
                <a:solidFill>
                  <a:srgbClr val="000000"/>
                </a:solidFill>
                <a:effectLst/>
              </a:rPr>
              <a:t>To implement a user-friendly interface where users can input topics, select templates, and generate presentations effortlessly.</a:t>
            </a: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i="0" u="none" strike="noStrike" dirty="0">
                <a:solidFill>
                  <a:srgbClr val="000000"/>
                </a:solidFill>
                <a:effectLst/>
              </a:rPr>
              <a:t>To evaluate the system in terms of efficiency, usability, content-quality, and user satisfaction – by testing with students, educators, and professionals.</a:t>
            </a:r>
          </a:p>
        </p:txBody>
      </p:sp>
    </p:spTree>
    <p:extLst>
      <p:ext uri="{BB962C8B-B14F-4D97-AF65-F5344CB8AC3E}">
        <p14:creationId xmlns:p14="http://schemas.microsoft.com/office/powerpoint/2010/main" val="19446714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Oval 53">
            <a:extLst>
              <a:ext uri="{FF2B5EF4-FFF2-40B4-BE49-F238E27FC236}">
                <a16:creationId xmlns:a16="http://schemas.microsoft.com/office/drawing/2014/main" id="{E75E415E-D168-4A64-BFEB-CF6E5E91C618}"/>
              </a:ext>
            </a:extLst>
          </p:cNvPr>
          <p:cNvSpPr/>
          <p:nvPr/>
        </p:nvSpPr>
        <p:spPr>
          <a:xfrm>
            <a:off x="1062384" y="5429735"/>
            <a:ext cx="3554083" cy="1174161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85000"/>
                  <a:alpha val="0"/>
                </a:schemeClr>
              </a:gs>
              <a:gs pos="95000">
                <a:schemeClr val="tx1">
                  <a:lumMod val="85000"/>
                  <a:lumOff val="15000"/>
                </a:schemeClr>
              </a:gs>
            </a:gsLst>
            <a:lin ang="0" scaled="1"/>
            <a:tileRect/>
          </a:gradFill>
          <a:ln>
            <a:noFill/>
          </a:ln>
          <a:effectLst>
            <a:softEdge rad="3048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59A91C9-5054-421D-8AB9-E071BA377352}"/>
              </a:ext>
            </a:extLst>
          </p:cNvPr>
          <p:cNvGrpSpPr/>
          <p:nvPr/>
        </p:nvGrpSpPr>
        <p:grpSpPr>
          <a:xfrm>
            <a:off x="2038070" y="4505166"/>
            <a:ext cx="3355676" cy="1400788"/>
            <a:chOff x="2038070" y="4505166"/>
            <a:chExt cx="3355676" cy="1400788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343157D5-4FF2-4FA1-9D59-419EF512DD63}"/>
                </a:ext>
              </a:extLst>
            </p:cNvPr>
            <p:cNvGrpSpPr/>
            <p:nvPr/>
          </p:nvGrpSpPr>
          <p:grpSpPr>
            <a:xfrm>
              <a:off x="2038070" y="4505166"/>
              <a:ext cx="3355676" cy="1400788"/>
              <a:chOff x="2596550" y="2775364"/>
              <a:chExt cx="4019910" cy="1678065"/>
            </a:xfrm>
            <a:scene3d>
              <a:camera prst="orthographicFront">
                <a:rot lat="0" lon="0" rev="19199999"/>
              </a:camera>
              <a:lightRig rig="threePt" dir="t"/>
            </a:scene3d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892C5BCC-B12D-4C7A-B111-34582936145D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B67A78B7-6B3D-456A-A208-4D26B1ABD8E3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1E2ED20F-42CC-4834-B53D-E458D5168208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EF476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475AEADC-907C-4D82-B7F4-153288554B19}"/>
                  </a:ext>
                </a:extLst>
              </p:cNvPr>
              <p:cNvSpPr/>
              <p:nvPr/>
            </p:nvSpPr>
            <p:spPr>
              <a:xfrm>
                <a:off x="2596550" y="2775364"/>
                <a:ext cx="4019910" cy="137394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alpha val="0"/>
                    </a:schemeClr>
                  </a:gs>
                  <a:gs pos="95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softEdge rad="266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4501ABC5-43E0-49AC-BC00-8C50BB95BF58}"/>
                </a:ext>
              </a:extLst>
            </p:cNvPr>
            <p:cNvSpPr txBox="1"/>
            <p:nvPr/>
          </p:nvSpPr>
          <p:spPr>
            <a:xfrm rot="2317436">
              <a:off x="3084625" y="5387604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EF476F"/>
                  </a:solidFill>
                  <a:latin typeface="Anton" panose="00000500000000000000" pitchFamily="2" charset="0"/>
                </a:rPr>
                <a:t>05</a:t>
              </a:r>
              <a:endParaRPr lang="en-US" sz="2000" spc="300" dirty="0">
                <a:solidFill>
                  <a:srgbClr val="EF476F"/>
                </a:solidFill>
                <a:latin typeface="Anton" panose="00000500000000000000" pitchFamily="2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0F3C0F4-B6E4-4C48-9EF4-98AD4F55FA69}"/>
              </a:ext>
            </a:extLst>
          </p:cNvPr>
          <p:cNvGrpSpPr/>
          <p:nvPr/>
        </p:nvGrpSpPr>
        <p:grpSpPr>
          <a:xfrm>
            <a:off x="2459965" y="3663791"/>
            <a:ext cx="3355676" cy="1400788"/>
            <a:chOff x="2459965" y="3663791"/>
            <a:chExt cx="3355676" cy="140078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A5F928E-6A3A-4AC3-B40D-78D692B6B9A6}"/>
                </a:ext>
              </a:extLst>
            </p:cNvPr>
            <p:cNvGrpSpPr/>
            <p:nvPr/>
          </p:nvGrpSpPr>
          <p:grpSpPr>
            <a:xfrm>
              <a:off x="2459965" y="3663791"/>
              <a:ext cx="3355676" cy="1400788"/>
              <a:chOff x="2596550" y="2775364"/>
              <a:chExt cx="4019910" cy="1678065"/>
            </a:xfrm>
            <a:scene3d>
              <a:camera prst="orthographicFront">
                <a:rot lat="0" lon="0" rev="20399999"/>
              </a:camera>
              <a:lightRig rig="threePt" dir="t"/>
            </a:scene3d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8B059B1-A6BA-41B1-862D-EFADE8A7E0E4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5A53785F-C2D2-4537-BF9E-41355E3DFB81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9D5353B7-0849-4523-BD12-172B32B20B51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FFD1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966420CD-FEF1-49EC-8302-619086DCC8A7}"/>
                  </a:ext>
                </a:extLst>
              </p:cNvPr>
              <p:cNvSpPr/>
              <p:nvPr/>
            </p:nvSpPr>
            <p:spPr>
              <a:xfrm>
                <a:off x="2596550" y="2775364"/>
                <a:ext cx="4019910" cy="137394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alpha val="0"/>
                    </a:schemeClr>
                  </a:gs>
                  <a:gs pos="95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softEdge rad="266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18C98E25-E4E3-49C9-BF77-2540DFCDED07}"/>
                </a:ext>
              </a:extLst>
            </p:cNvPr>
            <p:cNvSpPr txBox="1"/>
            <p:nvPr/>
          </p:nvSpPr>
          <p:spPr>
            <a:xfrm rot="962716">
              <a:off x="3693611" y="4653891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FFD166"/>
                  </a:solidFill>
                  <a:latin typeface="Anton" panose="00000500000000000000" pitchFamily="2" charset="0"/>
                </a:rPr>
                <a:t>04</a:t>
              </a:r>
              <a:endParaRPr lang="en-US" sz="2000" spc="300" dirty="0">
                <a:solidFill>
                  <a:srgbClr val="FFD166"/>
                </a:solidFill>
                <a:latin typeface="Anton" panose="00000500000000000000" pitchFamily="2" charset="0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A1592EFB-3A7E-45D6-A98E-2179EC9E0047}"/>
              </a:ext>
            </a:extLst>
          </p:cNvPr>
          <p:cNvGrpSpPr/>
          <p:nvPr/>
        </p:nvGrpSpPr>
        <p:grpSpPr>
          <a:xfrm>
            <a:off x="2589362" y="2728606"/>
            <a:ext cx="3355676" cy="1400788"/>
            <a:chOff x="2589362" y="2728606"/>
            <a:chExt cx="3355676" cy="1400788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F3D935D-0ECA-4D6F-BEFE-A1CB93FD10E7}"/>
                </a:ext>
              </a:extLst>
            </p:cNvPr>
            <p:cNvGrpSpPr/>
            <p:nvPr/>
          </p:nvGrpSpPr>
          <p:grpSpPr>
            <a:xfrm>
              <a:off x="2589362" y="2728606"/>
              <a:ext cx="3355676" cy="1400788"/>
              <a:chOff x="2596550" y="2775364"/>
              <a:chExt cx="4019910" cy="1678065"/>
            </a:xfrm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561C2D06-12A5-43AC-90FD-8DE901D4A5A9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1DACD449-33AF-4702-91CF-490058943DF5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97505746-BE53-4BA7-8480-35238ED37367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06D6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F200FD4-1487-46E5-900E-DE692E1F5E2C}"/>
                  </a:ext>
                </a:extLst>
              </p:cNvPr>
              <p:cNvSpPr/>
              <p:nvPr/>
            </p:nvSpPr>
            <p:spPr>
              <a:xfrm>
                <a:off x="2596550" y="2775364"/>
                <a:ext cx="4019910" cy="137394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alpha val="0"/>
                    </a:schemeClr>
                  </a:gs>
                  <a:gs pos="95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softEdge rad="266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A80DC888-46C4-49C5-8C75-8CDF81E54FAC}"/>
                </a:ext>
              </a:extLst>
            </p:cNvPr>
            <p:cNvSpPr txBox="1"/>
            <p:nvPr/>
          </p:nvSpPr>
          <p:spPr>
            <a:xfrm>
              <a:off x="3908292" y="3708324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06D6A0"/>
                  </a:solidFill>
                  <a:latin typeface="Anton" panose="00000500000000000000" pitchFamily="2" charset="0"/>
                </a:rPr>
                <a:t>03</a:t>
              </a:r>
              <a:endParaRPr lang="en-US" sz="2000" spc="300" dirty="0">
                <a:solidFill>
                  <a:srgbClr val="06D6A0"/>
                </a:solidFill>
                <a:latin typeface="Anton" panose="00000500000000000000" pitchFamily="2" charset="0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02B6B8B-8297-4273-8010-61142DF79695}"/>
              </a:ext>
            </a:extLst>
          </p:cNvPr>
          <p:cNvGrpSpPr/>
          <p:nvPr/>
        </p:nvGrpSpPr>
        <p:grpSpPr>
          <a:xfrm>
            <a:off x="2376531" y="1804037"/>
            <a:ext cx="3355676" cy="1428965"/>
            <a:chOff x="2376531" y="1804037"/>
            <a:chExt cx="3355676" cy="1428965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62C35E0C-2906-4AAF-8057-3A40B59EE48B}"/>
                </a:ext>
              </a:extLst>
            </p:cNvPr>
            <p:cNvGrpSpPr/>
            <p:nvPr/>
          </p:nvGrpSpPr>
          <p:grpSpPr>
            <a:xfrm>
              <a:off x="2376531" y="1804037"/>
              <a:ext cx="3355676" cy="1400788"/>
              <a:chOff x="2596550" y="2775364"/>
              <a:chExt cx="4019910" cy="1678065"/>
            </a:xfrm>
            <a:scene3d>
              <a:camera prst="orthographicFront">
                <a:rot lat="0" lon="0" rev="1200000"/>
              </a:camera>
              <a:lightRig rig="threePt" dir="t"/>
            </a:scene3d>
          </p:grpSpPr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129D9395-4F7F-469C-A275-CFE0E62E8CDB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A3AAFBC9-A40E-444C-AE46-4536C94E12FD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2BA9BCEE-9897-4C90-A035-492954969E3F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118A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3C0E6B84-CBA1-4654-8281-81A3F63EE4B8}"/>
                  </a:ext>
                </a:extLst>
              </p:cNvPr>
              <p:cNvSpPr/>
              <p:nvPr/>
            </p:nvSpPr>
            <p:spPr>
              <a:xfrm>
                <a:off x="2596550" y="2775364"/>
                <a:ext cx="4019910" cy="137394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alpha val="0"/>
                    </a:schemeClr>
                  </a:gs>
                  <a:gs pos="95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softEdge rad="266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0CBCCC58-A312-4FD0-A98A-20092941C790}"/>
                </a:ext>
              </a:extLst>
            </p:cNvPr>
            <p:cNvSpPr txBox="1"/>
            <p:nvPr/>
          </p:nvSpPr>
          <p:spPr>
            <a:xfrm rot="20409358">
              <a:off x="3733524" y="2832892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118AB2"/>
                  </a:solidFill>
                  <a:latin typeface="Anton" panose="00000500000000000000" pitchFamily="2" charset="0"/>
                </a:rPr>
                <a:t>02</a:t>
              </a:r>
              <a:endParaRPr lang="en-US" sz="2000" spc="300" dirty="0">
                <a:solidFill>
                  <a:srgbClr val="118AB2"/>
                </a:solidFill>
                <a:latin typeface="Anton" panose="00000500000000000000" pitchFamily="2" charset="0"/>
              </a:endParaRPr>
            </a:p>
          </p:txBody>
        </p:sp>
      </p:grp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11DDBD69-51C5-405D-BBBA-9C98635472A7}"/>
              </a:ext>
            </a:extLst>
          </p:cNvPr>
          <p:cNvCxnSpPr/>
          <p:nvPr/>
        </p:nvCxnSpPr>
        <p:spPr>
          <a:xfrm>
            <a:off x="4175043" y="931653"/>
            <a:ext cx="2035978" cy="0"/>
          </a:xfrm>
          <a:prstGeom prst="line">
            <a:avLst/>
          </a:prstGeom>
          <a:ln w="19050">
            <a:solidFill>
              <a:srgbClr val="073B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B322033C-947B-45E0-B7B9-C72EDFB8F841}"/>
              </a:ext>
            </a:extLst>
          </p:cNvPr>
          <p:cNvCxnSpPr/>
          <p:nvPr/>
        </p:nvCxnSpPr>
        <p:spPr>
          <a:xfrm>
            <a:off x="4927049" y="2011729"/>
            <a:ext cx="2035978" cy="0"/>
          </a:xfrm>
          <a:prstGeom prst="line">
            <a:avLst/>
          </a:prstGeom>
          <a:ln w="19050">
            <a:solidFill>
              <a:srgbClr val="118A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5A413F8D-A016-4F17-9D7E-67A113EEAEB9}"/>
              </a:ext>
            </a:extLst>
          </p:cNvPr>
          <p:cNvCxnSpPr/>
          <p:nvPr/>
        </p:nvCxnSpPr>
        <p:spPr>
          <a:xfrm>
            <a:off x="5260766" y="3292294"/>
            <a:ext cx="2035978" cy="0"/>
          </a:xfrm>
          <a:prstGeom prst="line">
            <a:avLst/>
          </a:prstGeom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CE59764A-0547-492E-ADF3-0F1B714FE7D4}"/>
              </a:ext>
            </a:extLst>
          </p:cNvPr>
          <p:cNvCxnSpPr/>
          <p:nvPr/>
        </p:nvCxnSpPr>
        <p:spPr>
          <a:xfrm>
            <a:off x="5114117" y="4501309"/>
            <a:ext cx="2035978" cy="0"/>
          </a:xfrm>
          <a:prstGeom prst="line">
            <a:avLst/>
          </a:prstGeom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D08ABF5C-1D62-4495-AB80-6BAD31305015}"/>
              </a:ext>
            </a:extLst>
          </p:cNvPr>
          <p:cNvCxnSpPr/>
          <p:nvPr/>
        </p:nvCxnSpPr>
        <p:spPr>
          <a:xfrm>
            <a:off x="4536148" y="5752139"/>
            <a:ext cx="2035978" cy="0"/>
          </a:xfrm>
          <a:prstGeom prst="line">
            <a:avLst/>
          </a:prstGeom>
          <a:ln w="19050">
            <a:solidFill>
              <a:srgbClr val="EF47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F4173C33-F9C9-4068-BCB2-D6F11BAD3815}"/>
              </a:ext>
            </a:extLst>
          </p:cNvPr>
          <p:cNvGrpSpPr/>
          <p:nvPr/>
        </p:nvGrpSpPr>
        <p:grpSpPr>
          <a:xfrm>
            <a:off x="2082574" y="1263788"/>
            <a:ext cx="2553613" cy="1285380"/>
            <a:chOff x="2082574" y="1263788"/>
            <a:chExt cx="2553613" cy="1285380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454B8B73-02CD-45F2-A244-9B42C0DCFA48}"/>
                </a:ext>
              </a:extLst>
            </p:cNvPr>
            <p:cNvGrpSpPr/>
            <p:nvPr/>
          </p:nvGrpSpPr>
          <p:grpSpPr>
            <a:xfrm>
              <a:off x="2082574" y="1263788"/>
              <a:ext cx="2553613" cy="1285380"/>
              <a:chOff x="2737657" y="2913616"/>
              <a:chExt cx="3059084" cy="1539813"/>
            </a:xfrm>
            <a:scene3d>
              <a:camera prst="orthographicFront">
                <a:rot lat="0" lon="0" rev="2400000"/>
              </a:camera>
              <a:lightRig rig="threePt" dir="t"/>
            </a:scene3d>
          </p:grpSpPr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8F70A12A-955A-44CA-AD14-CF775C1316A4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EE2BC23F-E057-433F-AD42-8B238FA1B9CC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2ED7E8C7-0ACF-4CBA-A6AE-5E93363CFD54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073B4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21B79F32-9457-46C6-9309-0F1ECB18C1F2}"/>
                </a:ext>
              </a:extLst>
            </p:cNvPr>
            <p:cNvSpPr txBox="1"/>
            <p:nvPr/>
          </p:nvSpPr>
          <p:spPr>
            <a:xfrm rot="19173824">
              <a:off x="3304028" y="2073478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073B4C"/>
                  </a:solidFill>
                  <a:latin typeface="Anton" panose="00000500000000000000" pitchFamily="2" charset="0"/>
                </a:rPr>
                <a:t>01</a:t>
              </a:r>
              <a:endParaRPr lang="en-US" sz="2000" spc="300" dirty="0">
                <a:solidFill>
                  <a:srgbClr val="073B4C"/>
                </a:solidFill>
                <a:latin typeface="Anton" panose="00000500000000000000" pitchFamily="2" charset="0"/>
              </a:endParaRPr>
            </a:p>
          </p:txBody>
        </p:sp>
      </p:grpSp>
      <p:sp>
        <p:nvSpPr>
          <p:cNvPr id="149" name="TextBox 148">
            <a:extLst>
              <a:ext uri="{FF2B5EF4-FFF2-40B4-BE49-F238E27FC236}">
                <a16:creationId xmlns:a16="http://schemas.microsoft.com/office/drawing/2014/main" id="{55182AE9-631D-4DC8-BB96-2460DA99BD6D}"/>
              </a:ext>
            </a:extLst>
          </p:cNvPr>
          <p:cNvSpPr txBox="1"/>
          <p:nvPr/>
        </p:nvSpPr>
        <p:spPr>
          <a:xfrm>
            <a:off x="5911486" y="731165"/>
            <a:ext cx="1962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073B4C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PROPONENTS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EBADC8B7-E6F2-4DE6-A5B6-756A57DE88DE}"/>
              </a:ext>
            </a:extLst>
          </p:cNvPr>
          <p:cNvSpPr txBox="1"/>
          <p:nvPr/>
        </p:nvSpPr>
        <p:spPr>
          <a:xfrm>
            <a:off x="6572126" y="1848758"/>
            <a:ext cx="1962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118AB2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RATIONALE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5EEE4FEB-1D13-46C0-B11F-64AE2B6474EB}"/>
              </a:ext>
            </a:extLst>
          </p:cNvPr>
          <p:cNvSpPr txBox="1"/>
          <p:nvPr/>
        </p:nvSpPr>
        <p:spPr>
          <a:xfrm>
            <a:off x="6907432" y="3114895"/>
            <a:ext cx="1962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06D6A0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OBJECTIVES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1135AB04-9581-4CE2-8074-1E0A50C351D4}"/>
              </a:ext>
            </a:extLst>
          </p:cNvPr>
          <p:cNvSpPr txBox="1"/>
          <p:nvPr/>
        </p:nvSpPr>
        <p:spPr>
          <a:xfrm>
            <a:off x="7092167" y="4296958"/>
            <a:ext cx="2199185" cy="500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FFD166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SCOPE AND LIMITATION</a:t>
            </a:r>
          </a:p>
          <a:p>
            <a:pPr algn="ctr"/>
            <a:r>
              <a:rPr lang="en-IN" sz="1050" dirty="0">
                <a:latin typeface="Economica" panose="02000506040000020004" pitchFamily="2" charset="0"/>
              </a:rPr>
              <a:t>.</a:t>
            </a:r>
            <a:endParaRPr lang="en-US" sz="1050" dirty="0">
              <a:latin typeface="Economica" panose="02000506040000020004" pitchFamily="2" charset="0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3AC86DB6-6075-4A43-BF54-11BD4D3DC9C1}"/>
              </a:ext>
            </a:extLst>
          </p:cNvPr>
          <p:cNvSpPr txBox="1"/>
          <p:nvPr/>
        </p:nvSpPr>
        <p:spPr>
          <a:xfrm>
            <a:off x="6346044" y="5574858"/>
            <a:ext cx="1962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EF476F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METHODOLOGY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A1EDEF-FC10-4312-B134-CA6096982D3B}"/>
              </a:ext>
            </a:extLst>
          </p:cNvPr>
          <p:cNvSpPr/>
          <p:nvPr/>
        </p:nvSpPr>
        <p:spPr>
          <a:xfrm>
            <a:off x="4424075" y="6603896"/>
            <a:ext cx="3608487" cy="2266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DD80F36-C03B-4F05-BC29-FAAA5A9AB63C}"/>
              </a:ext>
            </a:extLst>
          </p:cNvPr>
          <p:cNvSpPr txBox="1"/>
          <p:nvPr/>
        </p:nvSpPr>
        <p:spPr>
          <a:xfrm>
            <a:off x="3786755" y="-1517221"/>
            <a:ext cx="52119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What is the goals of SkoLide?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38081FA-B2BE-4B25-AA68-87E77D42D915}"/>
              </a:ext>
            </a:extLst>
          </p:cNvPr>
          <p:cNvSpPr txBox="1"/>
          <p:nvPr/>
        </p:nvSpPr>
        <p:spPr>
          <a:xfrm>
            <a:off x="2308757" y="-700147"/>
            <a:ext cx="79399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What can SkoLide do, and what are its limit?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226A7AF-D247-4FA2-A0B7-948B5441B8C2}"/>
              </a:ext>
            </a:extLst>
          </p:cNvPr>
          <p:cNvSpPr txBox="1"/>
          <p:nvPr/>
        </p:nvSpPr>
        <p:spPr>
          <a:xfrm>
            <a:off x="544796" y="7491750"/>
            <a:ext cx="1117461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</a:rPr>
              <a:t>To develop an AI-powered presentation generator that simplifies and speeds up the creation of well structured, visually appealing slides using prompt-based content generation.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i="0" u="none" strike="noStrike" dirty="0">
                <a:solidFill>
                  <a:srgbClr val="000000"/>
                </a:solidFill>
                <a:effectLst/>
              </a:rPr>
              <a:t> </a:t>
            </a: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i="0" u="none" strike="noStrike" dirty="0">
                <a:solidFill>
                  <a:srgbClr val="000000"/>
                </a:solidFill>
                <a:effectLst/>
              </a:rPr>
              <a:t>To design a system that transforms user-provided prompts into structured presentation content – including titles, bullet points, and summaries.</a:t>
            </a: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i="0" u="none" strike="noStrike" dirty="0">
                <a:solidFill>
                  <a:srgbClr val="000000"/>
                </a:solidFill>
                <a:effectLst/>
              </a:rPr>
              <a:t>To develop the system using AI with API integration and prompt engineering to ensure clear, relevant, and clear content generation.</a:t>
            </a: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80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i="0" u="none" strike="noStrike" dirty="0">
                <a:solidFill>
                  <a:srgbClr val="000000"/>
                </a:solidFill>
                <a:effectLst/>
              </a:rPr>
              <a:t>To implement a user-friendly interface where users can input topics, select templates, and generate presentations effortlessly.</a:t>
            </a: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i="0" u="none" strike="noStrike" dirty="0">
                <a:solidFill>
                  <a:srgbClr val="000000"/>
                </a:solidFill>
                <a:effectLst/>
              </a:rPr>
              <a:t>To evaluate the system in terms of efficiency, usability, content-quality, and user satisfaction – by testing with students, educators, and professionals.</a:t>
            </a:r>
          </a:p>
        </p:txBody>
      </p:sp>
    </p:spTree>
    <p:extLst>
      <p:ext uri="{BB962C8B-B14F-4D97-AF65-F5344CB8AC3E}">
        <p14:creationId xmlns:p14="http://schemas.microsoft.com/office/powerpoint/2010/main" val="40426315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Oval 53">
            <a:extLst>
              <a:ext uri="{FF2B5EF4-FFF2-40B4-BE49-F238E27FC236}">
                <a16:creationId xmlns:a16="http://schemas.microsoft.com/office/drawing/2014/main" id="{E75E415E-D168-4A64-BFEB-CF6E5E91C618}"/>
              </a:ext>
            </a:extLst>
          </p:cNvPr>
          <p:cNvSpPr/>
          <p:nvPr/>
        </p:nvSpPr>
        <p:spPr>
          <a:xfrm>
            <a:off x="4318957" y="5579261"/>
            <a:ext cx="3554083" cy="1174161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85000"/>
                  <a:alpha val="0"/>
                </a:schemeClr>
              </a:gs>
              <a:gs pos="95000">
                <a:schemeClr val="tx1">
                  <a:lumMod val="85000"/>
                  <a:lumOff val="15000"/>
                </a:schemeClr>
              </a:gs>
            </a:gsLst>
            <a:lin ang="0" scaled="1"/>
            <a:tileRect/>
          </a:gradFill>
          <a:ln>
            <a:noFill/>
          </a:ln>
          <a:effectLst>
            <a:softEdge rad="3048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59A91C9-5054-421D-8AB9-E071BA377352}"/>
              </a:ext>
            </a:extLst>
          </p:cNvPr>
          <p:cNvGrpSpPr/>
          <p:nvPr/>
        </p:nvGrpSpPr>
        <p:grpSpPr>
          <a:xfrm>
            <a:off x="-3578281" y="6717206"/>
            <a:ext cx="3355676" cy="1400788"/>
            <a:chOff x="2038070" y="4505166"/>
            <a:chExt cx="3355676" cy="1400788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343157D5-4FF2-4FA1-9D59-419EF512DD63}"/>
                </a:ext>
              </a:extLst>
            </p:cNvPr>
            <p:cNvGrpSpPr/>
            <p:nvPr/>
          </p:nvGrpSpPr>
          <p:grpSpPr>
            <a:xfrm>
              <a:off x="2038070" y="4505166"/>
              <a:ext cx="3355676" cy="1400788"/>
              <a:chOff x="2596550" y="2775364"/>
              <a:chExt cx="4019910" cy="1678065"/>
            </a:xfrm>
            <a:scene3d>
              <a:camera prst="orthographicFront">
                <a:rot lat="0" lon="0" rev="19199999"/>
              </a:camera>
              <a:lightRig rig="threePt" dir="t"/>
            </a:scene3d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892C5BCC-B12D-4C7A-B111-34582936145D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B67A78B7-6B3D-456A-A208-4D26B1ABD8E3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1E2ED20F-42CC-4834-B53D-E458D5168208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EF476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475AEADC-907C-4D82-B7F4-153288554B19}"/>
                  </a:ext>
                </a:extLst>
              </p:cNvPr>
              <p:cNvSpPr/>
              <p:nvPr/>
            </p:nvSpPr>
            <p:spPr>
              <a:xfrm>
                <a:off x="2596550" y="2775364"/>
                <a:ext cx="4019910" cy="137394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alpha val="0"/>
                    </a:schemeClr>
                  </a:gs>
                  <a:gs pos="95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softEdge rad="266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4501ABC5-43E0-49AC-BC00-8C50BB95BF58}"/>
                </a:ext>
              </a:extLst>
            </p:cNvPr>
            <p:cNvSpPr txBox="1"/>
            <p:nvPr/>
          </p:nvSpPr>
          <p:spPr>
            <a:xfrm rot="2317436">
              <a:off x="3084625" y="5387604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EF476F"/>
                  </a:solidFill>
                  <a:latin typeface="Anton" panose="00000500000000000000" pitchFamily="2" charset="0"/>
                </a:rPr>
                <a:t>05</a:t>
              </a:r>
              <a:endParaRPr lang="en-US" sz="2000" spc="300" dirty="0">
                <a:solidFill>
                  <a:srgbClr val="EF476F"/>
                </a:solidFill>
                <a:latin typeface="Anton" panose="00000500000000000000" pitchFamily="2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0F3C0F4-B6E4-4C48-9EF4-98AD4F55FA69}"/>
              </a:ext>
            </a:extLst>
          </p:cNvPr>
          <p:cNvGrpSpPr/>
          <p:nvPr/>
        </p:nvGrpSpPr>
        <p:grpSpPr>
          <a:xfrm rot="20341239">
            <a:off x="4642465" y="4780015"/>
            <a:ext cx="3355676" cy="1400788"/>
            <a:chOff x="2459965" y="3663791"/>
            <a:chExt cx="3355676" cy="140078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A5F928E-6A3A-4AC3-B40D-78D692B6B9A6}"/>
                </a:ext>
              </a:extLst>
            </p:cNvPr>
            <p:cNvGrpSpPr/>
            <p:nvPr/>
          </p:nvGrpSpPr>
          <p:grpSpPr>
            <a:xfrm>
              <a:off x="2459965" y="3663791"/>
              <a:ext cx="3355676" cy="1400788"/>
              <a:chOff x="2596550" y="2775364"/>
              <a:chExt cx="4019910" cy="1678065"/>
            </a:xfrm>
            <a:scene3d>
              <a:camera prst="orthographicFront">
                <a:rot lat="0" lon="0" rev="20399999"/>
              </a:camera>
              <a:lightRig rig="threePt" dir="t"/>
            </a:scene3d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8B059B1-A6BA-41B1-862D-EFADE8A7E0E4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5A53785F-C2D2-4537-BF9E-41355E3DFB81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9D5353B7-0849-4523-BD12-172B32B20B51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FFD1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966420CD-FEF1-49EC-8302-619086DCC8A7}"/>
                  </a:ext>
                </a:extLst>
              </p:cNvPr>
              <p:cNvSpPr/>
              <p:nvPr/>
            </p:nvSpPr>
            <p:spPr>
              <a:xfrm>
                <a:off x="2596550" y="2775364"/>
                <a:ext cx="4019910" cy="137394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alpha val="0"/>
                    </a:schemeClr>
                  </a:gs>
                  <a:gs pos="95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softEdge rad="266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18C98E25-E4E3-49C9-BF77-2540DFCDED07}"/>
                </a:ext>
              </a:extLst>
            </p:cNvPr>
            <p:cNvSpPr txBox="1"/>
            <p:nvPr/>
          </p:nvSpPr>
          <p:spPr>
            <a:xfrm rot="962716">
              <a:off x="3693611" y="4653891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FFD166"/>
                  </a:solidFill>
                  <a:latin typeface="Anton" panose="00000500000000000000" pitchFamily="2" charset="0"/>
                </a:rPr>
                <a:t>04</a:t>
              </a:r>
              <a:endParaRPr lang="en-US" sz="2000" spc="300" dirty="0">
                <a:solidFill>
                  <a:srgbClr val="FFD166"/>
                </a:solidFill>
                <a:latin typeface="Anton" panose="00000500000000000000" pitchFamily="2" charset="0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A1592EFB-3A7E-45D6-A98E-2179EC9E0047}"/>
              </a:ext>
            </a:extLst>
          </p:cNvPr>
          <p:cNvGrpSpPr/>
          <p:nvPr/>
        </p:nvGrpSpPr>
        <p:grpSpPr>
          <a:xfrm>
            <a:off x="-3108835" y="5587659"/>
            <a:ext cx="3355676" cy="1400788"/>
            <a:chOff x="2589362" y="2728606"/>
            <a:chExt cx="3355676" cy="1400788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F3D935D-0ECA-4D6F-BEFE-A1CB93FD10E7}"/>
                </a:ext>
              </a:extLst>
            </p:cNvPr>
            <p:cNvGrpSpPr/>
            <p:nvPr/>
          </p:nvGrpSpPr>
          <p:grpSpPr>
            <a:xfrm>
              <a:off x="2589362" y="2728606"/>
              <a:ext cx="3355676" cy="1400788"/>
              <a:chOff x="2596550" y="2775364"/>
              <a:chExt cx="4019910" cy="1678065"/>
            </a:xfrm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561C2D06-12A5-43AC-90FD-8DE901D4A5A9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1DACD449-33AF-4702-91CF-490058943DF5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97505746-BE53-4BA7-8480-35238ED37367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06D6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F200FD4-1487-46E5-900E-DE692E1F5E2C}"/>
                  </a:ext>
                </a:extLst>
              </p:cNvPr>
              <p:cNvSpPr/>
              <p:nvPr/>
            </p:nvSpPr>
            <p:spPr>
              <a:xfrm>
                <a:off x="2596550" y="2775364"/>
                <a:ext cx="4019910" cy="137394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alpha val="0"/>
                    </a:schemeClr>
                  </a:gs>
                  <a:gs pos="95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softEdge rad="266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A80DC888-46C4-49C5-8C75-8CDF81E54FAC}"/>
                </a:ext>
              </a:extLst>
            </p:cNvPr>
            <p:cNvSpPr txBox="1"/>
            <p:nvPr/>
          </p:nvSpPr>
          <p:spPr>
            <a:xfrm>
              <a:off x="3908292" y="3708324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06D6A0"/>
                  </a:solidFill>
                  <a:latin typeface="Anton" panose="00000500000000000000" pitchFamily="2" charset="0"/>
                </a:rPr>
                <a:t>03</a:t>
              </a:r>
              <a:endParaRPr lang="en-US" sz="2000" spc="300" dirty="0">
                <a:solidFill>
                  <a:srgbClr val="06D6A0"/>
                </a:solidFill>
                <a:latin typeface="Anton" panose="00000500000000000000" pitchFamily="2" charset="0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02B6B8B-8297-4273-8010-61142DF79695}"/>
              </a:ext>
            </a:extLst>
          </p:cNvPr>
          <p:cNvGrpSpPr/>
          <p:nvPr/>
        </p:nvGrpSpPr>
        <p:grpSpPr>
          <a:xfrm>
            <a:off x="-3295040" y="4634351"/>
            <a:ext cx="3355676" cy="1428965"/>
            <a:chOff x="2376531" y="1804037"/>
            <a:chExt cx="3355676" cy="1428965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62C35E0C-2906-4AAF-8057-3A40B59EE48B}"/>
                </a:ext>
              </a:extLst>
            </p:cNvPr>
            <p:cNvGrpSpPr/>
            <p:nvPr/>
          </p:nvGrpSpPr>
          <p:grpSpPr>
            <a:xfrm>
              <a:off x="2376531" y="1804037"/>
              <a:ext cx="3355676" cy="1400788"/>
              <a:chOff x="2596550" y="2775364"/>
              <a:chExt cx="4019910" cy="1678065"/>
            </a:xfrm>
            <a:scene3d>
              <a:camera prst="orthographicFront">
                <a:rot lat="0" lon="0" rev="1200000"/>
              </a:camera>
              <a:lightRig rig="threePt" dir="t"/>
            </a:scene3d>
          </p:grpSpPr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129D9395-4F7F-469C-A275-CFE0E62E8CDB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A3AAFBC9-A40E-444C-AE46-4536C94E12FD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2BA9BCEE-9897-4C90-A035-492954969E3F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118A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3C0E6B84-CBA1-4654-8281-81A3F63EE4B8}"/>
                  </a:ext>
                </a:extLst>
              </p:cNvPr>
              <p:cNvSpPr/>
              <p:nvPr/>
            </p:nvSpPr>
            <p:spPr>
              <a:xfrm>
                <a:off x="2596550" y="2775364"/>
                <a:ext cx="4019910" cy="137394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alpha val="0"/>
                    </a:schemeClr>
                  </a:gs>
                  <a:gs pos="95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softEdge rad="266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0CBCCC58-A312-4FD0-A98A-20092941C790}"/>
                </a:ext>
              </a:extLst>
            </p:cNvPr>
            <p:cNvSpPr txBox="1"/>
            <p:nvPr/>
          </p:nvSpPr>
          <p:spPr>
            <a:xfrm rot="20409358">
              <a:off x="3733524" y="2832892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118AB2"/>
                  </a:solidFill>
                  <a:latin typeface="Anton" panose="00000500000000000000" pitchFamily="2" charset="0"/>
                </a:rPr>
                <a:t>02</a:t>
              </a:r>
              <a:endParaRPr lang="en-US" sz="2000" spc="300" dirty="0">
                <a:solidFill>
                  <a:srgbClr val="118AB2"/>
                </a:solidFill>
                <a:latin typeface="Anton" panose="00000500000000000000" pitchFamily="2" charset="0"/>
              </a:endParaRPr>
            </a:p>
          </p:txBody>
        </p:sp>
      </p:grp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11DDBD69-51C5-405D-BBBA-9C98635472A7}"/>
              </a:ext>
            </a:extLst>
          </p:cNvPr>
          <p:cNvCxnSpPr/>
          <p:nvPr/>
        </p:nvCxnSpPr>
        <p:spPr>
          <a:xfrm>
            <a:off x="7209538" y="7687766"/>
            <a:ext cx="2035978" cy="0"/>
          </a:xfrm>
          <a:prstGeom prst="line">
            <a:avLst/>
          </a:prstGeom>
          <a:ln w="19050">
            <a:solidFill>
              <a:srgbClr val="073B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B322033C-947B-45E0-B7B9-C72EDFB8F841}"/>
              </a:ext>
            </a:extLst>
          </p:cNvPr>
          <p:cNvCxnSpPr/>
          <p:nvPr/>
        </p:nvCxnSpPr>
        <p:spPr>
          <a:xfrm>
            <a:off x="5604382" y="8216256"/>
            <a:ext cx="2035978" cy="0"/>
          </a:xfrm>
          <a:prstGeom prst="line">
            <a:avLst/>
          </a:prstGeom>
          <a:ln w="19050">
            <a:solidFill>
              <a:srgbClr val="118A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5A413F8D-A016-4F17-9D7E-67A113EEAEB9}"/>
              </a:ext>
            </a:extLst>
          </p:cNvPr>
          <p:cNvCxnSpPr/>
          <p:nvPr/>
        </p:nvCxnSpPr>
        <p:spPr>
          <a:xfrm>
            <a:off x="2891071" y="8180429"/>
            <a:ext cx="2035978" cy="0"/>
          </a:xfrm>
          <a:prstGeom prst="line">
            <a:avLst/>
          </a:prstGeom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D08ABF5C-1D62-4495-AB80-6BAD31305015}"/>
              </a:ext>
            </a:extLst>
          </p:cNvPr>
          <p:cNvCxnSpPr/>
          <p:nvPr/>
        </p:nvCxnSpPr>
        <p:spPr>
          <a:xfrm>
            <a:off x="272779" y="7799699"/>
            <a:ext cx="2035978" cy="0"/>
          </a:xfrm>
          <a:prstGeom prst="line">
            <a:avLst/>
          </a:prstGeom>
          <a:ln w="19050">
            <a:solidFill>
              <a:srgbClr val="EF47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F4173C33-F9C9-4068-BCB2-D6F11BAD3815}"/>
              </a:ext>
            </a:extLst>
          </p:cNvPr>
          <p:cNvGrpSpPr/>
          <p:nvPr/>
        </p:nvGrpSpPr>
        <p:grpSpPr>
          <a:xfrm>
            <a:off x="-3590093" y="3829238"/>
            <a:ext cx="2553613" cy="1285380"/>
            <a:chOff x="2082574" y="1263788"/>
            <a:chExt cx="2553613" cy="1285380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454B8B73-02CD-45F2-A244-9B42C0DCFA48}"/>
                </a:ext>
              </a:extLst>
            </p:cNvPr>
            <p:cNvGrpSpPr/>
            <p:nvPr/>
          </p:nvGrpSpPr>
          <p:grpSpPr>
            <a:xfrm>
              <a:off x="2082574" y="1263788"/>
              <a:ext cx="2553613" cy="1285380"/>
              <a:chOff x="2737657" y="2913616"/>
              <a:chExt cx="3059084" cy="1539813"/>
            </a:xfrm>
            <a:scene3d>
              <a:camera prst="orthographicFront">
                <a:rot lat="0" lon="0" rev="2400000"/>
              </a:camera>
              <a:lightRig rig="threePt" dir="t"/>
            </a:scene3d>
          </p:grpSpPr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8F70A12A-955A-44CA-AD14-CF775C1316A4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EE2BC23F-E057-433F-AD42-8B238FA1B9CC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2ED7E8C7-0ACF-4CBA-A6AE-5E93363CFD54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073B4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21B79F32-9457-46C6-9309-0F1ECB18C1F2}"/>
                </a:ext>
              </a:extLst>
            </p:cNvPr>
            <p:cNvSpPr txBox="1"/>
            <p:nvPr/>
          </p:nvSpPr>
          <p:spPr>
            <a:xfrm rot="19173824">
              <a:off x="3304028" y="2073478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073B4C"/>
                  </a:solidFill>
                  <a:latin typeface="Anton" panose="00000500000000000000" pitchFamily="2" charset="0"/>
                </a:rPr>
                <a:t>01</a:t>
              </a:r>
              <a:endParaRPr lang="en-US" sz="2000" spc="300" dirty="0">
                <a:solidFill>
                  <a:srgbClr val="073B4C"/>
                </a:solidFill>
                <a:latin typeface="Anton" panose="00000500000000000000" pitchFamily="2" charset="0"/>
              </a:endParaRPr>
            </a:p>
          </p:txBody>
        </p:sp>
      </p:grpSp>
      <p:sp>
        <p:nvSpPr>
          <p:cNvPr id="149" name="TextBox 148">
            <a:extLst>
              <a:ext uri="{FF2B5EF4-FFF2-40B4-BE49-F238E27FC236}">
                <a16:creationId xmlns:a16="http://schemas.microsoft.com/office/drawing/2014/main" id="{55182AE9-631D-4DC8-BB96-2460DA99BD6D}"/>
              </a:ext>
            </a:extLst>
          </p:cNvPr>
          <p:cNvSpPr txBox="1"/>
          <p:nvPr/>
        </p:nvSpPr>
        <p:spPr>
          <a:xfrm>
            <a:off x="4014456" y="7166919"/>
            <a:ext cx="1962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073B4C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PROPONENTS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EBADC8B7-E6F2-4DE6-A5B6-756A57DE88DE}"/>
              </a:ext>
            </a:extLst>
          </p:cNvPr>
          <p:cNvSpPr txBox="1"/>
          <p:nvPr/>
        </p:nvSpPr>
        <p:spPr>
          <a:xfrm>
            <a:off x="5247098" y="7554724"/>
            <a:ext cx="1962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118AB2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RATIONALE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5EEE4FEB-1D13-46C0-B11F-64AE2B6474EB}"/>
              </a:ext>
            </a:extLst>
          </p:cNvPr>
          <p:cNvSpPr txBox="1"/>
          <p:nvPr/>
        </p:nvSpPr>
        <p:spPr>
          <a:xfrm>
            <a:off x="2805535" y="8594549"/>
            <a:ext cx="1962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06D6A0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OBJECTIVES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1135AB04-9581-4CE2-8074-1E0A50C351D4}"/>
              </a:ext>
            </a:extLst>
          </p:cNvPr>
          <p:cNvSpPr txBox="1"/>
          <p:nvPr/>
        </p:nvSpPr>
        <p:spPr>
          <a:xfrm>
            <a:off x="7209538" y="7374325"/>
            <a:ext cx="2199185" cy="500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FFD166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SCOPE AND LIMITATION</a:t>
            </a:r>
          </a:p>
          <a:p>
            <a:pPr algn="ctr"/>
            <a:r>
              <a:rPr lang="en-IN" sz="1050" dirty="0">
                <a:latin typeface="Economica" panose="02000506040000020004" pitchFamily="2" charset="0"/>
              </a:rPr>
              <a:t>.</a:t>
            </a:r>
            <a:endParaRPr lang="en-US" sz="1050" dirty="0">
              <a:latin typeface="Economica" panose="02000506040000020004" pitchFamily="2" charset="0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3AC86DB6-6075-4A43-BF54-11BD4D3DC9C1}"/>
              </a:ext>
            </a:extLst>
          </p:cNvPr>
          <p:cNvSpPr txBox="1"/>
          <p:nvPr/>
        </p:nvSpPr>
        <p:spPr>
          <a:xfrm>
            <a:off x="514384" y="7373568"/>
            <a:ext cx="1962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EF476F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METHODOLOGY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A1EDEF-FC10-4312-B134-CA6096982D3B}"/>
              </a:ext>
            </a:extLst>
          </p:cNvPr>
          <p:cNvSpPr/>
          <p:nvPr/>
        </p:nvSpPr>
        <p:spPr>
          <a:xfrm>
            <a:off x="4424075" y="6603896"/>
            <a:ext cx="3608487" cy="2266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DD80F36-C03B-4F05-BC29-FAAA5A9AB63C}"/>
              </a:ext>
            </a:extLst>
          </p:cNvPr>
          <p:cNvSpPr txBox="1"/>
          <p:nvPr/>
        </p:nvSpPr>
        <p:spPr>
          <a:xfrm>
            <a:off x="3786755" y="-1517221"/>
            <a:ext cx="52119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What is the goals of SkoLide?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38081FA-B2BE-4B25-AA68-87E77D42D915}"/>
              </a:ext>
            </a:extLst>
          </p:cNvPr>
          <p:cNvSpPr txBox="1"/>
          <p:nvPr/>
        </p:nvSpPr>
        <p:spPr>
          <a:xfrm>
            <a:off x="2234813" y="2805385"/>
            <a:ext cx="79399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What can SkoLide do, and what are its limit?</a:t>
            </a:r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CE59764A-0547-492E-ADF3-0F1B714FE7D4}"/>
              </a:ext>
            </a:extLst>
          </p:cNvPr>
          <p:cNvCxnSpPr>
            <a:cxnSpLocks/>
          </p:cNvCxnSpPr>
          <p:nvPr/>
        </p:nvCxnSpPr>
        <p:spPr>
          <a:xfrm>
            <a:off x="553525" y="6567377"/>
            <a:ext cx="11084949" cy="0"/>
          </a:xfrm>
          <a:prstGeom prst="line">
            <a:avLst/>
          </a:prstGeom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1E87270F-DE57-44A1-9C18-71F2B42C2DFC}"/>
              </a:ext>
            </a:extLst>
          </p:cNvPr>
          <p:cNvSpPr txBox="1"/>
          <p:nvPr/>
        </p:nvSpPr>
        <p:spPr>
          <a:xfrm>
            <a:off x="13125827" y="659139"/>
            <a:ext cx="1141599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Scope of the Study:</a:t>
            </a:r>
            <a:endParaRPr lang="en-US" b="0" dirty="0">
              <a:effectLst/>
            </a:endParaRPr>
          </a:p>
          <a:p>
            <a:pPr marL="285750" indent="-285750" rtl="0" fontAlgn="base"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Accessible through a web platform for ease of use.</a:t>
            </a:r>
            <a:br>
              <a:rPr lang="en-US" sz="18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endParaRPr lang="en-US" sz="180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85750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Users can input a topic and choose from predefined templates.</a:t>
            </a:r>
            <a:br>
              <a:rPr lang="en-US" sz="18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endParaRPr lang="en-US" sz="180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85750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Automatically generates slides with suggested titles, bullet points, and summaries.</a:t>
            </a:r>
            <a:br>
              <a:rPr lang="en-US" sz="18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endParaRPr lang="en-US" sz="180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85750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Allows users to edit and personalize generated content.</a:t>
            </a:r>
            <a:br>
              <a:rPr lang="en-US" sz="18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endParaRPr lang="en-US" sz="180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85750" indent="-285750" rtl="0" fontAlgn="base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Presentations can be exported in PowerPoint (PPTX) format.</a:t>
            </a:r>
          </a:p>
        </p:txBody>
      </p:sp>
    </p:spTree>
    <p:extLst>
      <p:ext uri="{BB962C8B-B14F-4D97-AF65-F5344CB8AC3E}">
        <p14:creationId xmlns:p14="http://schemas.microsoft.com/office/powerpoint/2010/main" val="39732062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Oval 53">
            <a:extLst>
              <a:ext uri="{FF2B5EF4-FFF2-40B4-BE49-F238E27FC236}">
                <a16:creationId xmlns:a16="http://schemas.microsoft.com/office/drawing/2014/main" id="{E75E415E-D168-4A64-BFEB-CF6E5E91C618}"/>
              </a:ext>
            </a:extLst>
          </p:cNvPr>
          <p:cNvSpPr/>
          <p:nvPr/>
        </p:nvSpPr>
        <p:spPr>
          <a:xfrm>
            <a:off x="4318957" y="5579261"/>
            <a:ext cx="3554083" cy="1174161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85000"/>
                  <a:alpha val="0"/>
                </a:schemeClr>
              </a:gs>
              <a:gs pos="95000">
                <a:schemeClr val="tx1">
                  <a:lumMod val="85000"/>
                  <a:lumOff val="15000"/>
                </a:schemeClr>
              </a:gs>
            </a:gsLst>
            <a:lin ang="0" scaled="1"/>
            <a:tileRect/>
          </a:gradFill>
          <a:ln>
            <a:noFill/>
          </a:ln>
          <a:effectLst>
            <a:softEdge rad="3048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59A91C9-5054-421D-8AB9-E071BA377352}"/>
              </a:ext>
            </a:extLst>
          </p:cNvPr>
          <p:cNvGrpSpPr/>
          <p:nvPr/>
        </p:nvGrpSpPr>
        <p:grpSpPr>
          <a:xfrm>
            <a:off x="-3578281" y="6717206"/>
            <a:ext cx="3355676" cy="1400788"/>
            <a:chOff x="2038070" y="4505166"/>
            <a:chExt cx="3355676" cy="1400788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343157D5-4FF2-4FA1-9D59-419EF512DD63}"/>
                </a:ext>
              </a:extLst>
            </p:cNvPr>
            <p:cNvGrpSpPr/>
            <p:nvPr/>
          </p:nvGrpSpPr>
          <p:grpSpPr>
            <a:xfrm>
              <a:off x="2038070" y="4505166"/>
              <a:ext cx="3355676" cy="1400788"/>
              <a:chOff x="2596550" y="2775364"/>
              <a:chExt cx="4019910" cy="1678065"/>
            </a:xfrm>
            <a:scene3d>
              <a:camera prst="orthographicFront">
                <a:rot lat="0" lon="0" rev="19199999"/>
              </a:camera>
              <a:lightRig rig="threePt" dir="t"/>
            </a:scene3d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892C5BCC-B12D-4C7A-B111-34582936145D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B67A78B7-6B3D-456A-A208-4D26B1ABD8E3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1E2ED20F-42CC-4834-B53D-E458D5168208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EF476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475AEADC-907C-4D82-B7F4-153288554B19}"/>
                  </a:ext>
                </a:extLst>
              </p:cNvPr>
              <p:cNvSpPr/>
              <p:nvPr/>
            </p:nvSpPr>
            <p:spPr>
              <a:xfrm>
                <a:off x="2596550" y="2775364"/>
                <a:ext cx="4019910" cy="137394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alpha val="0"/>
                    </a:schemeClr>
                  </a:gs>
                  <a:gs pos="95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softEdge rad="266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4501ABC5-43E0-49AC-BC00-8C50BB95BF58}"/>
                </a:ext>
              </a:extLst>
            </p:cNvPr>
            <p:cNvSpPr txBox="1"/>
            <p:nvPr/>
          </p:nvSpPr>
          <p:spPr>
            <a:xfrm rot="2317436">
              <a:off x="3084625" y="5387604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EF476F"/>
                  </a:solidFill>
                  <a:latin typeface="Anton" panose="00000500000000000000" pitchFamily="2" charset="0"/>
                </a:rPr>
                <a:t>05</a:t>
              </a:r>
              <a:endParaRPr lang="en-US" sz="2000" spc="300" dirty="0">
                <a:solidFill>
                  <a:srgbClr val="EF476F"/>
                </a:solidFill>
                <a:latin typeface="Anton" panose="00000500000000000000" pitchFamily="2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0F3C0F4-B6E4-4C48-9EF4-98AD4F55FA69}"/>
              </a:ext>
            </a:extLst>
          </p:cNvPr>
          <p:cNvGrpSpPr/>
          <p:nvPr/>
        </p:nvGrpSpPr>
        <p:grpSpPr>
          <a:xfrm rot="20341239">
            <a:off x="4642465" y="4780015"/>
            <a:ext cx="3355676" cy="1400788"/>
            <a:chOff x="2459965" y="3663791"/>
            <a:chExt cx="3355676" cy="140078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A5F928E-6A3A-4AC3-B40D-78D692B6B9A6}"/>
                </a:ext>
              </a:extLst>
            </p:cNvPr>
            <p:cNvGrpSpPr/>
            <p:nvPr/>
          </p:nvGrpSpPr>
          <p:grpSpPr>
            <a:xfrm>
              <a:off x="2459965" y="3663791"/>
              <a:ext cx="3355676" cy="1400788"/>
              <a:chOff x="2596550" y="2775364"/>
              <a:chExt cx="4019910" cy="1678065"/>
            </a:xfrm>
            <a:scene3d>
              <a:camera prst="orthographicFront">
                <a:rot lat="0" lon="0" rev="20399999"/>
              </a:camera>
              <a:lightRig rig="threePt" dir="t"/>
            </a:scene3d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8B059B1-A6BA-41B1-862D-EFADE8A7E0E4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5A53785F-C2D2-4537-BF9E-41355E3DFB81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9D5353B7-0849-4523-BD12-172B32B20B51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FFD1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966420CD-FEF1-49EC-8302-619086DCC8A7}"/>
                  </a:ext>
                </a:extLst>
              </p:cNvPr>
              <p:cNvSpPr/>
              <p:nvPr/>
            </p:nvSpPr>
            <p:spPr>
              <a:xfrm>
                <a:off x="2596550" y="2775364"/>
                <a:ext cx="4019910" cy="137394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alpha val="0"/>
                    </a:schemeClr>
                  </a:gs>
                  <a:gs pos="95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softEdge rad="266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18C98E25-E4E3-49C9-BF77-2540DFCDED07}"/>
                </a:ext>
              </a:extLst>
            </p:cNvPr>
            <p:cNvSpPr txBox="1"/>
            <p:nvPr/>
          </p:nvSpPr>
          <p:spPr>
            <a:xfrm rot="962716">
              <a:off x="3693611" y="4653891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FFD166"/>
                  </a:solidFill>
                  <a:latin typeface="Anton" panose="00000500000000000000" pitchFamily="2" charset="0"/>
                </a:rPr>
                <a:t>04</a:t>
              </a:r>
              <a:endParaRPr lang="en-US" sz="2000" spc="300" dirty="0">
                <a:solidFill>
                  <a:srgbClr val="FFD166"/>
                </a:solidFill>
                <a:latin typeface="Anton" panose="00000500000000000000" pitchFamily="2" charset="0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A1592EFB-3A7E-45D6-A98E-2179EC9E0047}"/>
              </a:ext>
            </a:extLst>
          </p:cNvPr>
          <p:cNvGrpSpPr/>
          <p:nvPr/>
        </p:nvGrpSpPr>
        <p:grpSpPr>
          <a:xfrm>
            <a:off x="-3108835" y="5587659"/>
            <a:ext cx="3355676" cy="1400788"/>
            <a:chOff x="2589362" y="2728606"/>
            <a:chExt cx="3355676" cy="1400788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F3D935D-0ECA-4D6F-BEFE-A1CB93FD10E7}"/>
                </a:ext>
              </a:extLst>
            </p:cNvPr>
            <p:cNvGrpSpPr/>
            <p:nvPr/>
          </p:nvGrpSpPr>
          <p:grpSpPr>
            <a:xfrm>
              <a:off x="2589362" y="2728606"/>
              <a:ext cx="3355676" cy="1400788"/>
              <a:chOff x="2596550" y="2775364"/>
              <a:chExt cx="4019910" cy="1678065"/>
            </a:xfrm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561C2D06-12A5-43AC-90FD-8DE901D4A5A9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1DACD449-33AF-4702-91CF-490058943DF5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97505746-BE53-4BA7-8480-35238ED37367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06D6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F200FD4-1487-46E5-900E-DE692E1F5E2C}"/>
                  </a:ext>
                </a:extLst>
              </p:cNvPr>
              <p:cNvSpPr/>
              <p:nvPr/>
            </p:nvSpPr>
            <p:spPr>
              <a:xfrm>
                <a:off x="2596550" y="2775364"/>
                <a:ext cx="4019910" cy="137394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alpha val="0"/>
                    </a:schemeClr>
                  </a:gs>
                  <a:gs pos="95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softEdge rad="266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A80DC888-46C4-49C5-8C75-8CDF81E54FAC}"/>
                </a:ext>
              </a:extLst>
            </p:cNvPr>
            <p:cNvSpPr txBox="1"/>
            <p:nvPr/>
          </p:nvSpPr>
          <p:spPr>
            <a:xfrm>
              <a:off x="3908292" y="3708324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06D6A0"/>
                  </a:solidFill>
                  <a:latin typeface="Anton" panose="00000500000000000000" pitchFamily="2" charset="0"/>
                </a:rPr>
                <a:t>03</a:t>
              </a:r>
              <a:endParaRPr lang="en-US" sz="2000" spc="300" dirty="0">
                <a:solidFill>
                  <a:srgbClr val="06D6A0"/>
                </a:solidFill>
                <a:latin typeface="Anton" panose="00000500000000000000" pitchFamily="2" charset="0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02B6B8B-8297-4273-8010-61142DF79695}"/>
              </a:ext>
            </a:extLst>
          </p:cNvPr>
          <p:cNvGrpSpPr/>
          <p:nvPr/>
        </p:nvGrpSpPr>
        <p:grpSpPr>
          <a:xfrm>
            <a:off x="-3295040" y="4634351"/>
            <a:ext cx="3355676" cy="1428965"/>
            <a:chOff x="2376531" y="1804037"/>
            <a:chExt cx="3355676" cy="1428965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62C35E0C-2906-4AAF-8057-3A40B59EE48B}"/>
                </a:ext>
              </a:extLst>
            </p:cNvPr>
            <p:cNvGrpSpPr/>
            <p:nvPr/>
          </p:nvGrpSpPr>
          <p:grpSpPr>
            <a:xfrm>
              <a:off x="2376531" y="1804037"/>
              <a:ext cx="3355676" cy="1400788"/>
              <a:chOff x="2596550" y="2775364"/>
              <a:chExt cx="4019910" cy="1678065"/>
            </a:xfrm>
            <a:scene3d>
              <a:camera prst="orthographicFront">
                <a:rot lat="0" lon="0" rev="1200000"/>
              </a:camera>
              <a:lightRig rig="threePt" dir="t"/>
            </a:scene3d>
          </p:grpSpPr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129D9395-4F7F-469C-A275-CFE0E62E8CDB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A3AAFBC9-A40E-444C-AE46-4536C94E12FD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2BA9BCEE-9897-4C90-A035-492954969E3F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118A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3C0E6B84-CBA1-4654-8281-81A3F63EE4B8}"/>
                  </a:ext>
                </a:extLst>
              </p:cNvPr>
              <p:cNvSpPr/>
              <p:nvPr/>
            </p:nvSpPr>
            <p:spPr>
              <a:xfrm>
                <a:off x="2596550" y="2775364"/>
                <a:ext cx="4019910" cy="137394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alpha val="0"/>
                    </a:schemeClr>
                  </a:gs>
                  <a:gs pos="95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softEdge rad="266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0CBCCC58-A312-4FD0-A98A-20092941C790}"/>
                </a:ext>
              </a:extLst>
            </p:cNvPr>
            <p:cNvSpPr txBox="1"/>
            <p:nvPr/>
          </p:nvSpPr>
          <p:spPr>
            <a:xfrm rot="20409358">
              <a:off x="3733524" y="2832892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118AB2"/>
                  </a:solidFill>
                  <a:latin typeface="Anton" panose="00000500000000000000" pitchFamily="2" charset="0"/>
                </a:rPr>
                <a:t>02</a:t>
              </a:r>
              <a:endParaRPr lang="en-US" sz="2000" spc="300" dirty="0">
                <a:solidFill>
                  <a:srgbClr val="118AB2"/>
                </a:solidFill>
                <a:latin typeface="Anton" panose="00000500000000000000" pitchFamily="2" charset="0"/>
              </a:endParaRPr>
            </a:p>
          </p:txBody>
        </p:sp>
      </p:grp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11DDBD69-51C5-405D-BBBA-9C98635472A7}"/>
              </a:ext>
            </a:extLst>
          </p:cNvPr>
          <p:cNvCxnSpPr/>
          <p:nvPr/>
        </p:nvCxnSpPr>
        <p:spPr>
          <a:xfrm>
            <a:off x="7209538" y="7687766"/>
            <a:ext cx="2035978" cy="0"/>
          </a:xfrm>
          <a:prstGeom prst="line">
            <a:avLst/>
          </a:prstGeom>
          <a:ln w="19050">
            <a:solidFill>
              <a:srgbClr val="073B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B322033C-947B-45E0-B7B9-C72EDFB8F841}"/>
              </a:ext>
            </a:extLst>
          </p:cNvPr>
          <p:cNvCxnSpPr/>
          <p:nvPr/>
        </p:nvCxnSpPr>
        <p:spPr>
          <a:xfrm>
            <a:off x="5604382" y="8216256"/>
            <a:ext cx="2035978" cy="0"/>
          </a:xfrm>
          <a:prstGeom prst="line">
            <a:avLst/>
          </a:prstGeom>
          <a:ln w="19050">
            <a:solidFill>
              <a:srgbClr val="118A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5A413F8D-A016-4F17-9D7E-67A113EEAEB9}"/>
              </a:ext>
            </a:extLst>
          </p:cNvPr>
          <p:cNvCxnSpPr/>
          <p:nvPr/>
        </p:nvCxnSpPr>
        <p:spPr>
          <a:xfrm>
            <a:off x="2891071" y="8180429"/>
            <a:ext cx="2035978" cy="0"/>
          </a:xfrm>
          <a:prstGeom prst="line">
            <a:avLst/>
          </a:prstGeom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D08ABF5C-1D62-4495-AB80-6BAD31305015}"/>
              </a:ext>
            </a:extLst>
          </p:cNvPr>
          <p:cNvCxnSpPr/>
          <p:nvPr/>
        </p:nvCxnSpPr>
        <p:spPr>
          <a:xfrm>
            <a:off x="272779" y="7799699"/>
            <a:ext cx="2035978" cy="0"/>
          </a:xfrm>
          <a:prstGeom prst="line">
            <a:avLst/>
          </a:prstGeom>
          <a:ln w="19050">
            <a:solidFill>
              <a:srgbClr val="EF47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F4173C33-F9C9-4068-BCB2-D6F11BAD3815}"/>
              </a:ext>
            </a:extLst>
          </p:cNvPr>
          <p:cNvGrpSpPr/>
          <p:nvPr/>
        </p:nvGrpSpPr>
        <p:grpSpPr>
          <a:xfrm>
            <a:off x="-3590093" y="3829238"/>
            <a:ext cx="2553613" cy="1285380"/>
            <a:chOff x="2082574" y="1263788"/>
            <a:chExt cx="2553613" cy="1285380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454B8B73-02CD-45F2-A244-9B42C0DCFA48}"/>
                </a:ext>
              </a:extLst>
            </p:cNvPr>
            <p:cNvGrpSpPr/>
            <p:nvPr/>
          </p:nvGrpSpPr>
          <p:grpSpPr>
            <a:xfrm>
              <a:off x="2082574" y="1263788"/>
              <a:ext cx="2553613" cy="1285380"/>
              <a:chOff x="2737657" y="2913616"/>
              <a:chExt cx="3059084" cy="1539813"/>
            </a:xfrm>
            <a:scene3d>
              <a:camera prst="orthographicFront">
                <a:rot lat="0" lon="0" rev="2400000"/>
              </a:camera>
              <a:lightRig rig="threePt" dir="t"/>
            </a:scene3d>
          </p:grpSpPr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8F70A12A-955A-44CA-AD14-CF775C1316A4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EE2BC23F-E057-433F-AD42-8B238FA1B9CC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2ED7E8C7-0ACF-4CBA-A6AE-5E93363CFD54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073B4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21B79F32-9457-46C6-9309-0F1ECB18C1F2}"/>
                </a:ext>
              </a:extLst>
            </p:cNvPr>
            <p:cNvSpPr txBox="1"/>
            <p:nvPr/>
          </p:nvSpPr>
          <p:spPr>
            <a:xfrm rot="19173824">
              <a:off x="3304028" y="2073478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073B4C"/>
                  </a:solidFill>
                  <a:latin typeface="Anton" panose="00000500000000000000" pitchFamily="2" charset="0"/>
                </a:rPr>
                <a:t>01</a:t>
              </a:r>
              <a:endParaRPr lang="en-US" sz="2000" spc="300" dirty="0">
                <a:solidFill>
                  <a:srgbClr val="073B4C"/>
                </a:solidFill>
                <a:latin typeface="Anton" panose="00000500000000000000" pitchFamily="2" charset="0"/>
              </a:endParaRPr>
            </a:p>
          </p:txBody>
        </p:sp>
      </p:grpSp>
      <p:sp>
        <p:nvSpPr>
          <p:cNvPr id="149" name="TextBox 148">
            <a:extLst>
              <a:ext uri="{FF2B5EF4-FFF2-40B4-BE49-F238E27FC236}">
                <a16:creationId xmlns:a16="http://schemas.microsoft.com/office/drawing/2014/main" id="{55182AE9-631D-4DC8-BB96-2460DA99BD6D}"/>
              </a:ext>
            </a:extLst>
          </p:cNvPr>
          <p:cNvSpPr txBox="1"/>
          <p:nvPr/>
        </p:nvSpPr>
        <p:spPr>
          <a:xfrm>
            <a:off x="4014456" y="7166919"/>
            <a:ext cx="1962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073B4C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PROPONENTS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EBADC8B7-E6F2-4DE6-A5B6-756A57DE88DE}"/>
              </a:ext>
            </a:extLst>
          </p:cNvPr>
          <p:cNvSpPr txBox="1"/>
          <p:nvPr/>
        </p:nvSpPr>
        <p:spPr>
          <a:xfrm>
            <a:off x="5247098" y="7554724"/>
            <a:ext cx="1962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118AB2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RATIONALE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5EEE4FEB-1D13-46C0-B11F-64AE2B6474EB}"/>
              </a:ext>
            </a:extLst>
          </p:cNvPr>
          <p:cNvSpPr txBox="1"/>
          <p:nvPr/>
        </p:nvSpPr>
        <p:spPr>
          <a:xfrm>
            <a:off x="2805535" y="8594549"/>
            <a:ext cx="1962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06D6A0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OBJECTIVES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1135AB04-9581-4CE2-8074-1E0A50C351D4}"/>
              </a:ext>
            </a:extLst>
          </p:cNvPr>
          <p:cNvSpPr txBox="1"/>
          <p:nvPr/>
        </p:nvSpPr>
        <p:spPr>
          <a:xfrm>
            <a:off x="7209538" y="7374325"/>
            <a:ext cx="2199185" cy="500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FFD166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SCOPE AND LIMITATION</a:t>
            </a:r>
          </a:p>
          <a:p>
            <a:pPr algn="ctr"/>
            <a:r>
              <a:rPr lang="en-IN" sz="1050" dirty="0">
                <a:latin typeface="Economica" panose="02000506040000020004" pitchFamily="2" charset="0"/>
              </a:rPr>
              <a:t>.</a:t>
            </a:r>
            <a:endParaRPr lang="en-US" sz="1050" dirty="0">
              <a:latin typeface="Economica" panose="02000506040000020004" pitchFamily="2" charset="0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3AC86DB6-6075-4A43-BF54-11BD4D3DC9C1}"/>
              </a:ext>
            </a:extLst>
          </p:cNvPr>
          <p:cNvSpPr txBox="1"/>
          <p:nvPr/>
        </p:nvSpPr>
        <p:spPr>
          <a:xfrm>
            <a:off x="514384" y="7373568"/>
            <a:ext cx="1962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EF476F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METHODOLOGY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A1EDEF-FC10-4312-B134-CA6096982D3B}"/>
              </a:ext>
            </a:extLst>
          </p:cNvPr>
          <p:cNvSpPr/>
          <p:nvPr/>
        </p:nvSpPr>
        <p:spPr>
          <a:xfrm>
            <a:off x="4424075" y="6603896"/>
            <a:ext cx="3608487" cy="2266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DD80F36-C03B-4F05-BC29-FAAA5A9AB63C}"/>
              </a:ext>
            </a:extLst>
          </p:cNvPr>
          <p:cNvSpPr txBox="1"/>
          <p:nvPr/>
        </p:nvSpPr>
        <p:spPr>
          <a:xfrm>
            <a:off x="3786755" y="-1517221"/>
            <a:ext cx="52119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What is the goals of SkoLide?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38081FA-B2BE-4B25-AA68-87E77D42D915}"/>
              </a:ext>
            </a:extLst>
          </p:cNvPr>
          <p:cNvSpPr txBox="1"/>
          <p:nvPr/>
        </p:nvSpPr>
        <p:spPr>
          <a:xfrm>
            <a:off x="2476824" y="-2263485"/>
            <a:ext cx="79399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What can SkoLide do, and what are its limit?</a:t>
            </a:r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CE59764A-0547-492E-ADF3-0F1B714FE7D4}"/>
              </a:ext>
            </a:extLst>
          </p:cNvPr>
          <p:cNvCxnSpPr>
            <a:cxnSpLocks/>
          </p:cNvCxnSpPr>
          <p:nvPr/>
        </p:nvCxnSpPr>
        <p:spPr>
          <a:xfrm>
            <a:off x="553525" y="6567377"/>
            <a:ext cx="11084949" cy="0"/>
          </a:xfrm>
          <a:prstGeom prst="line">
            <a:avLst/>
          </a:prstGeom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E9019D0-EFCF-40F7-9AF5-AE02567E4754}"/>
              </a:ext>
            </a:extLst>
          </p:cNvPr>
          <p:cNvSpPr txBox="1"/>
          <p:nvPr/>
        </p:nvSpPr>
        <p:spPr>
          <a:xfrm>
            <a:off x="514384" y="694102"/>
            <a:ext cx="1141599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Scope of the Study:</a:t>
            </a:r>
            <a:endParaRPr lang="en-US" b="0" dirty="0">
              <a:effectLst/>
            </a:endParaRPr>
          </a:p>
          <a:p>
            <a:pPr marL="285750" indent="-285750" rtl="0" fontAlgn="base"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Accessible through a web platform for ease of use.</a:t>
            </a:r>
            <a:br>
              <a:rPr lang="en-US" sz="18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endParaRPr lang="en-US" sz="180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85750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Users can input a topic and choose from predefined templates.</a:t>
            </a:r>
            <a:br>
              <a:rPr lang="en-US" sz="18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endParaRPr lang="en-US" sz="180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85750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Automatically generates slides with suggested titles, bullet points, and summaries.</a:t>
            </a:r>
            <a:br>
              <a:rPr lang="en-US" sz="18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endParaRPr lang="en-US" sz="180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85750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Allows users to edit and personalize generated content.</a:t>
            </a:r>
            <a:br>
              <a:rPr lang="en-US" sz="18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endParaRPr lang="en-US" sz="180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85750" indent="-285750" rtl="0" fontAlgn="base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Presentations can be exported in PowerPoint (PPTX) format.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2120510-4E24-4B83-813B-DC1F1DB6DDF9}"/>
              </a:ext>
            </a:extLst>
          </p:cNvPr>
          <p:cNvSpPr txBox="1"/>
          <p:nvPr/>
        </p:nvSpPr>
        <p:spPr>
          <a:xfrm>
            <a:off x="491240" y="-3637059"/>
            <a:ext cx="9459349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</a:rPr>
              <a:t>Limitations of the Study:</a:t>
            </a:r>
            <a:endParaRPr lang="en-US" b="1" dirty="0">
              <a:effectLst/>
            </a:endParaRPr>
          </a:p>
          <a:p>
            <a:pPr marL="285750" indent="-285750" rtl="0" fontAlgn="base"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i="0" u="none" strike="noStrike" dirty="0">
                <a:solidFill>
                  <a:srgbClr val="000000"/>
                </a:solidFill>
                <a:effectLst/>
              </a:rPr>
              <a:t>Users are limited to existing templates (no custom template creation).</a:t>
            </a:r>
            <a:br>
              <a:rPr lang="en-US" sz="1800" i="0" u="none" strike="noStrike" dirty="0">
                <a:solidFill>
                  <a:srgbClr val="000000"/>
                </a:solidFill>
                <a:effectLst/>
              </a:rPr>
            </a:br>
            <a:endParaRPr lang="en-US" sz="180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i="0" u="none" strike="noStrike" dirty="0">
                <a:solidFill>
                  <a:srgbClr val="000000"/>
                </a:solidFill>
                <a:effectLst/>
              </a:rPr>
              <a:t>AI-generated content may not always match user expectations.</a:t>
            </a:r>
            <a:br>
              <a:rPr lang="en-US" sz="1800" i="0" u="none" strike="noStrike" dirty="0">
                <a:solidFill>
                  <a:srgbClr val="000000"/>
                </a:solidFill>
                <a:effectLst/>
              </a:rPr>
            </a:br>
            <a:endParaRPr lang="en-US" sz="180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i="0" u="none" strike="noStrike" dirty="0">
                <a:solidFill>
                  <a:srgbClr val="000000"/>
                </a:solidFill>
                <a:effectLst/>
              </a:rPr>
              <a:t>Limited advanced design and formatting options.</a:t>
            </a:r>
            <a:br>
              <a:rPr lang="en-US" sz="1800" i="0" u="none" strike="noStrike" dirty="0">
                <a:solidFill>
                  <a:srgbClr val="000000"/>
                </a:solidFill>
                <a:effectLst/>
              </a:rPr>
            </a:br>
            <a:endParaRPr lang="en-US" sz="180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rtl="0" fontAlgn="base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i="0" u="none" strike="noStrike" dirty="0">
                <a:solidFill>
                  <a:srgbClr val="000000"/>
                </a:solidFill>
                <a:effectLst/>
              </a:rPr>
              <a:t>Requires a stable internet connection to function.</a:t>
            </a:r>
          </a:p>
          <a:p>
            <a:pPr marL="285750" indent="-285750" rtl="0" fontAlgn="base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i="0" u="none" strike="noStrike" dirty="0">
                <a:solidFill>
                  <a:srgbClr val="000000"/>
                </a:solidFill>
                <a:effectLst/>
              </a:rPr>
              <a:t>Export is currently available only in PPTX format.</a:t>
            </a:r>
          </a:p>
        </p:txBody>
      </p:sp>
    </p:spTree>
    <p:extLst>
      <p:ext uri="{BB962C8B-B14F-4D97-AF65-F5344CB8AC3E}">
        <p14:creationId xmlns:p14="http://schemas.microsoft.com/office/powerpoint/2010/main" val="15580054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Oval 53">
            <a:extLst>
              <a:ext uri="{FF2B5EF4-FFF2-40B4-BE49-F238E27FC236}">
                <a16:creationId xmlns:a16="http://schemas.microsoft.com/office/drawing/2014/main" id="{E75E415E-D168-4A64-BFEB-CF6E5E91C618}"/>
              </a:ext>
            </a:extLst>
          </p:cNvPr>
          <p:cNvSpPr/>
          <p:nvPr/>
        </p:nvSpPr>
        <p:spPr>
          <a:xfrm>
            <a:off x="4195172" y="5863504"/>
            <a:ext cx="3554083" cy="1174161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85000"/>
                  <a:alpha val="0"/>
                </a:schemeClr>
              </a:gs>
              <a:gs pos="95000">
                <a:schemeClr val="tx1">
                  <a:lumMod val="85000"/>
                  <a:lumOff val="15000"/>
                </a:schemeClr>
              </a:gs>
            </a:gsLst>
            <a:lin ang="0" scaled="1"/>
            <a:tileRect/>
          </a:gradFill>
          <a:ln>
            <a:noFill/>
          </a:ln>
          <a:effectLst>
            <a:softEdge rad="3048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59A91C9-5054-421D-8AB9-E071BA377352}"/>
              </a:ext>
            </a:extLst>
          </p:cNvPr>
          <p:cNvGrpSpPr/>
          <p:nvPr/>
        </p:nvGrpSpPr>
        <p:grpSpPr>
          <a:xfrm>
            <a:off x="-3578281" y="6717206"/>
            <a:ext cx="3355676" cy="1400788"/>
            <a:chOff x="2038070" y="4505166"/>
            <a:chExt cx="3355676" cy="1400788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343157D5-4FF2-4FA1-9D59-419EF512DD63}"/>
                </a:ext>
              </a:extLst>
            </p:cNvPr>
            <p:cNvGrpSpPr/>
            <p:nvPr/>
          </p:nvGrpSpPr>
          <p:grpSpPr>
            <a:xfrm>
              <a:off x="2038070" y="4505166"/>
              <a:ext cx="3355676" cy="1400788"/>
              <a:chOff x="2596550" y="2775364"/>
              <a:chExt cx="4019910" cy="1678065"/>
            </a:xfrm>
            <a:scene3d>
              <a:camera prst="orthographicFront">
                <a:rot lat="0" lon="0" rev="19199999"/>
              </a:camera>
              <a:lightRig rig="threePt" dir="t"/>
            </a:scene3d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892C5BCC-B12D-4C7A-B111-34582936145D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B67A78B7-6B3D-456A-A208-4D26B1ABD8E3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1E2ED20F-42CC-4834-B53D-E458D5168208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EF476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475AEADC-907C-4D82-B7F4-153288554B19}"/>
                  </a:ext>
                </a:extLst>
              </p:cNvPr>
              <p:cNvSpPr/>
              <p:nvPr/>
            </p:nvSpPr>
            <p:spPr>
              <a:xfrm>
                <a:off x="2596550" y="2775364"/>
                <a:ext cx="4019910" cy="137394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alpha val="0"/>
                    </a:schemeClr>
                  </a:gs>
                  <a:gs pos="95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softEdge rad="266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4501ABC5-43E0-49AC-BC00-8C50BB95BF58}"/>
                </a:ext>
              </a:extLst>
            </p:cNvPr>
            <p:cNvSpPr txBox="1"/>
            <p:nvPr/>
          </p:nvSpPr>
          <p:spPr>
            <a:xfrm rot="2317436">
              <a:off x="3084625" y="5387604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EF476F"/>
                  </a:solidFill>
                  <a:latin typeface="Anton" panose="00000500000000000000" pitchFamily="2" charset="0"/>
                </a:rPr>
                <a:t>05</a:t>
              </a:r>
              <a:endParaRPr lang="en-US" sz="2000" spc="300" dirty="0">
                <a:solidFill>
                  <a:srgbClr val="EF476F"/>
                </a:solidFill>
                <a:latin typeface="Anton" panose="00000500000000000000" pitchFamily="2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0F3C0F4-B6E4-4C48-9EF4-98AD4F55FA69}"/>
              </a:ext>
            </a:extLst>
          </p:cNvPr>
          <p:cNvGrpSpPr/>
          <p:nvPr/>
        </p:nvGrpSpPr>
        <p:grpSpPr>
          <a:xfrm rot="20341239">
            <a:off x="4732314" y="4975123"/>
            <a:ext cx="3355676" cy="1400788"/>
            <a:chOff x="2459965" y="3663791"/>
            <a:chExt cx="3355676" cy="140078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A5F928E-6A3A-4AC3-B40D-78D692B6B9A6}"/>
                </a:ext>
              </a:extLst>
            </p:cNvPr>
            <p:cNvGrpSpPr/>
            <p:nvPr/>
          </p:nvGrpSpPr>
          <p:grpSpPr>
            <a:xfrm>
              <a:off x="2459965" y="3663791"/>
              <a:ext cx="3355676" cy="1400788"/>
              <a:chOff x="2596550" y="2775364"/>
              <a:chExt cx="4019910" cy="1678065"/>
            </a:xfrm>
            <a:scene3d>
              <a:camera prst="orthographicFront">
                <a:rot lat="0" lon="0" rev="20399999"/>
              </a:camera>
              <a:lightRig rig="threePt" dir="t"/>
            </a:scene3d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8B059B1-A6BA-41B1-862D-EFADE8A7E0E4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5A53785F-C2D2-4537-BF9E-41355E3DFB81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9D5353B7-0849-4523-BD12-172B32B20B51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FFD1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966420CD-FEF1-49EC-8302-619086DCC8A7}"/>
                  </a:ext>
                </a:extLst>
              </p:cNvPr>
              <p:cNvSpPr/>
              <p:nvPr/>
            </p:nvSpPr>
            <p:spPr>
              <a:xfrm>
                <a:off x="2596550" y="2775364"/>
                <a:ext cx="4019910" cy="137394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alpha val="0"/>
                    </a:schemeClr>
                  </a:gs>
                  <a:gs pos="95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softEdge rad="266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18C98E25-E4E3-49C9-BF77-2540DFCDED07}"/>
                </a:ext>
              </a:extLst>
            </p:cNvPr>
            <p:cNvSpPr txBox="1"/>
            <p:nvPr/>
          </p:nvSpPr>
          <p:spPr>
            <a:xfrm rot="962716">
              <a:off x="3693611" y="4653891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FFD166"/>
                  </a:solidFill>
                  <a:latin typeface="Anton" panose="00000500000000000000" pitchFamily="2" charset="0"/>
                </a:rPr>
                <a:t>04</a:t>
              </a:r>
              <a:endParaRPr lang="en-US" sz="2000" spc="300" dirty="0">
                <a:solidFill>
                  <a:srgbClr val="FFD166"/>
                </a:solidFill>
                <a:latin typeface="Anton" panose="00000500000000000000" pitchFamily="2" charset="0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A1592EFB-3A7E-45D6-A98E-2179EC9E0047}"/>
              </a:ext>
            </a:extLst>
          </p:cNvPr>
          <p:cNvGrpSpPr/>
          <p:nvPr/>
        </p:nvGrpSpPr>
        <p:grpSpPr>
          <a:xfrm>
            <a:off x="-3108835" y="5587659"/>
            <a:ext cx="3355676" cy="1400788"/>
            <a:chOff x="2589362" y="2728606"/>
            <a:chExt cx="3355676" cy="1400788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F3D935D-0ECA-4D6F-BEFE-A1CB93FD10E7}"/>
                </a:ext>
              </a:extLst>
            </p:cNvPr>
            <p:cNvGrpSpPr/>
            <p:nvPr/>
          </p:nvGrpSpPr>
          <p:grpSpPr>
            <a:xfrm>
              <a:off x="2589362" y="2728606"/>
              <a:ext cx="3355676" cy="1400788"/>
              <a:chOff x="2596550" y="2775364"/>
              <a:chExt cx="4019910" cy="1678065"/>
            </a:xfrm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561C2D06-12A5-43AC-90FD-8DE901D4A5A9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1DACD449-33AF-4702-91CF-490058943DF5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97505746-BE53-4BA7-8480-35238ED37367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06D6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F200FD4-1487-46E5-900E-DE692E1F5E2C}"/>
                  </a:ext>
                </a:extLst>
              </p:cNvPr>
              <p:cNvSpPr/>
              <p:nvPr/>
            </p:nvSpPr>
            <p:spPr>
              <a:xfrm>
                <a:off x="2596550" y="2775364"/>
                <a:ext cx="4019910" cy="137394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alpha val="0"/>
                    </a:schemeClr>
                  </a:gs>
                  <a:gs pos="95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softEdge rad="266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A80DC888-46C4-49C5-8C75-8CDF81E54FAC}"/>
                </a:ext>
              </a:extLst>
            </p:cNvPr>
            <p:cNvSpPr txBox="1"/>
            <p:nvPr/>
          </p:nvSpPr>
          <p:spPr>
            <a:xfrm>
              <a:off x="3908292" y="3708324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06D6A0"/>
                  </a:solidFill>
                  <a:latin typeface="Anton" panose="00000500000000000000" pitchFamily="2" charset="0"/>
                </a:rPr>
                <a:t>03</a:t>
              </a:r>
              <a:endParaRPr lang="en-US" sz="2000" spc="300" dirty="0">
                <a:solidFill>
                  <a:srgbClr val="06D6A0"/>
                </a:solidFill>
                <a:latin typeface="Anton" panose="00000500000000000000" pitchFamily="2" charset="0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02B6B8B-8297-4273-8010-61142DF79695}"/>
              </a:ext>
            </a:extLst>
          </p:cNvPr>
          <p:cNvGrpSpPr/>
          <p:nvPr/>
        </p:nvGrpSpPr>
        <p:grpSpPr>
          <a:xfrm>
            <a:off x="-3295040" y="4634351"/>
            <a:ext cx="3355676" cy="1428965"/>
            <a:chOff x="2376531" y="1804037"/>
            <a:chExt cx="3355676" cy="1428965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62C35E0C-2906-4AAF-8057-3A40B59EE48B}"/>
                </a:ext>
              </a:extLst>
            </p:cNvPr>
            <p:cNvGrpSpPr/>
            <p:nvPr/>
          </p:nvGrpSpPr>
          <p:grpSpPr>
            <a:xfrm>
              <a:off x="2376531" y="1804037"/>
              <a:ext cx="3355676" cy="1400788"/>
              <a:chOff x="2596550" y="2775364"/>
              <a:chExt cx="4019910" cy="1678065"/>
            </a:xfrm>
            <a:scene3d>
              <a:camera prst="orthographicFront">
                <a:rot lat="0" lon="0" rev="1200000"/>
              </a:camera>
              <a:lightRig rig="threePt" dir="t"/>
            </a:scene3d>
          </p:grpSpPr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129D9395-4F7F-469C-A275-CFE0E62E8CDB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A3AAFBC9-A40E-444C-AE46-4536C94E12FD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2BA9BCEE-9897-4C90-A035-492954969E3F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118A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3C0E6B84-CBA1-4654-8281-81A3F63EE4B8}"/>
                  </a:ext>
                </a:extLst>
              </p:cNvPr>
              <p:cNvSpPr/>
              <p:nvPr/>
            </p:nvSpPr>
            <p:spPr>
              <a:xfrm>
                <a:off x="2596550" y="2775364"/>
                <a:ext cx="4019910" cy="137394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alpha val="0"/>
                    </a:schemeClr>
                  </a:gs>
                  <a:gs pos="95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softEdge rad="266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0CBCCC58-A312-4FD0-A98A-20092941C790}"/>
                </a:ext>
              </a:extLst>
            </p:cNvPr>
            <p:cNvSpPr txBox="1"/>
            <p:nvPr/>
          </p:nvSpPr>
          <p:spPr>
            <a:xfrm rot="20409358">
              <a:off x="3733524" y="2832892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118AB2"/>
                  </a:solidFill>
                  <a:latin typeface="Anton" panose="00000500000000000000" pitchFamily="2" charset="0"/>
                </a:rPr>
                <a:t>02</a:t>
              </a:r>
              <a:endParaRPr lang="en-US" sz="2000" spc="300" dirty="0">
                <a:solidFill>
                  <a:srgbClr val="118AB2"/>
                </a:solidFill>
                <a:latin typeface="Anton" panose="00000500000000000000" pitchFamily="2" charset="0"/>
              </a:endParaRPr>
            </a:p>
          </p:txBody>
        </p:sp>
      </p:grp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11DDBD69-51C5-405D-BBBA-9C98635472A7}"/>
              </a:ext>
            </a:extLst>
          </p:cNvPr>
          <p:cNvCxnSpPr/>
          <p:nvPr/>
        </p:nvCxnSpPr>
        <p:spPr>
          <a:xfrm>
            <a:off x="7209538" y="7687766"/>
            <a:ext cx="2035978" cy="0"/>
          </a:xfrm>
          <a:prstGeom prst="line">
            <a:avLst/>
          </a:prstGeom>
          <a:ln w="19050">
            <a:solidFill>
              <a:srgbClr val="073B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B322033C-947B-45E0-B7B9-C72EDFB8F841}"/>
              </a:ext>
            </a:extLst>
          </p:cNvPr>
          <p:cNvCxnSpPr/>
          <p:nvPr/>
        </p:nvCxnSpPr>
        <p:spPr>
          <a:xfrm>
            <a:off x="5604382" y="8216256"/>
            <a:ext cx="2035978" cy="0"/>
          </a:xfrm>
          <a:prstGeom prst="line">
            <a:avLst/>
          </a:prstGeom>
          <a:ln w="19050">
            <a:solidFill>
              <a:srgbClr val="118A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5A413F8D-A016-4F17-9D7E-67A113EEAEB9}"/>
              </a:ext>
            </a:extLst>
          </p:cNvPr>
          <p:cNvCxnSpPr/>
          <p:nvPr/>
        </p:nvCxnSpPr>
        <p:spPr>
          <a:xfrm>
            <a:off x="2891071" y="8180429"/>
            <a:ext cx="2035978" cy="0"/>
          </a:xfrm>
          <a:prstGeom prst="line">
            <a:avLst/>
          </a:prstGeom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D08ABF5C-1D62-4495-AB80-6BAD31305015}"/>
              </a:ext>
            </a:extLst>
          </p:cNvPr>
          <p:cNvCxnSpPr/>
          <p:nvPr/>
        </p:nvCxnSpPr>
        <p:spPr>
          <a:xfrm>
            <a:off x="272779" y="7799699"/>
            <a:ext cx="2035978" cy="0"/>
          </a:xfrm>
          <a:prstGeom prst="line">
            <a:avLst/>
          </a:prstGeom>
          <a:ln w="19050">
            <a:solidFill>
              <a:srgbClr val="EF47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F4173C33-F9C9-4068-BCB2-D6F11BAD3815}"/>
              </a:ext>
            </a:extLst>
          </p:cNvPr>
          <p:cNvGrpSpPr/>
          <p:nvPr/>
        </p:nvGrpSpPr>
        <p:grpSpPr>
          <a:xfrm>
            <a:off x="-3590093" y="3829238"/>
            <a:ext cx="2553613" cy="1285380"/>
            <a:chOff x="2082574" y="1263788"/>
            <a:chExt cx="2553613" cy="1285380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454B8B73-02CD-45F2-A244-9B42C0DCFA48}"/>
                </a:ext>
              </a:extLst>
            </p:cNvPr>
            <p:cNvGrpSpPr/>
            <p:nvPr/>
          </p:nvGrpSpPr>
          <p:grpSpPr>
            <a:xfrm>
              <a:off x="2082574" y="1263788"/>
              <a:ext cx="2553613" cy="1285380"/>
              <a:chOff x="2737657" y="2913616"/>
              <a:chExt cx="3059084" cy="1539813"/>
            </a:xfrm>
            <a:scene3d>
              <a:camera prst="orthographicFront">
                <a:rot lat="0" lon="0" rev="2400000"/>
              </a:camera>
              <a:lightRig rig="threePt" dir="t"/>
            </a:scene3d>
          </p:grpSpPr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8F70A12A-955A-44CA-AD14-CF775C1316A4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EE2BC23F-E057-433F-AD42-8B238FA1B9CC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2ED7E8C7-0ACF-4CBA-A6AE-5E93363CFD54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073B4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21B79F32-9457-46C6-9309-0F1ECB18C1F2}"/>
                </a:ext>
              </a:extLst>
            </p:cNvPr>
            <p:cNvSpPr txBox="1"/>
            <p:nvPr/>
          </p:nvSpPr>
          <p:spPr>
            <a:xfrm rot="19173824">
              <a:off x="3304028" y="2073478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073B4C"/>
                  </a:solidFill>
                  <a:latin typeface="Anton" panose="00000500000000000000" pitchFamily="2" charset="0"/>
                </a:rPr>
                <a:t>01</a:t>
              </a:r>
              <a:endParaRPr lang="en-US" sz="2000" spc="300" dirty="0">
                <a:solidFill>
                  <a:srgbClr val="073B4C"/>
                </a:solidFill>
                <a:latin typeface="Anton" panose="00000500000000000000" pitchFamily="2" charset="0"/>
              </a:endParaRPr>
            </a:p>
          </p:txBody>
        </p:sp>
      </p:grpSp>
      <p:sp>
        <p:nvSpPr>
          <p:cNvPr id="149" name="TextBox 148">
            <a:extLst>
              <a:ext uri="{FF2B5EF4-FFF2-40B4-BE49-F238E27FC236}">
                <a16:creationId xmlns:a16="http://schemas.microsoft.com/office/drawing/2014/main" id="{55182AE9-631D-4DC8-BB96-2460DA99BD6D}"/>
              </a:ext>
            </a:extLst>
          </p:cNvPr>
          <p:cNvSpPr txBox="1"/>
          <p:nvPr/>
        </p:nvSpPr>
        <p:spPr>
          <a:xfrm>
            <a:off x="4014456" y="7166919"/>
            <a:ext cx="1962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073B4C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PROPONENTS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EBADC8B7-E6F2-4DE6-A5B6-756A57DE88DE}"/>
              </a:ext>
            </a:extLst>
          </p:cNvPr>
          <p:cNvSpPr txBox="1"/>
          <p:nvPr/>
        </p:nvSpPr>
        <p:spPr>
          <a:xfrm>
            <a:off x="5247098" y="7554724"/>
            <a:ext cx="1962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118AB2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RATIONALE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5EEE4FEB-1D13-46C0-B11F-64AE2B6474EB}"/>
              </a:ext>
            </a:extLst>
          </p:cNvPr>
          <p:cNvSpPr txBox="1"/>
          <p:nvPr/>
        </p:nvSpPr>
        <p:spPr>
          <a:xfrm>
            <a:off x="2805535" y="8594549"/>
            <a:ext cx="1962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06D6A0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OBJECTIVES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1135AB04-9581-4CE2-8074-1E0A50C351D4}"/>
              </a:ext>
            </a:extLst>
          </p:cNvPr>
          <p:cNvSpPr txBox="1"/>
          <p:nvPr/>
        </p:nvSpPr>
        <p:spPr>
          <a:xfrm>
            <a:off x="7209538" y="7374325"/>
            <a:ext cx="2199185" cy="500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FFD166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SCOPE AND LIMITATION</a:t>
            </a:r>
          </a:p>
          <a:p>
            <a:pPr algn="ctr"/>
            <a:r>
              <a:rPr lang="en-IN" sz="1050" dirty="0">
                <a:latin typeface="Economica" panose="02000506040000020004" pitchFamily="2" charset="0"/>
              </a:rPr>
              <a:t>.</a:t>
            </a:r>
            <a:endParaRPr lang="en-US" sz="1050" dirty="0">
              <a:latin typeface="Economica" panose="02000506040000020004" pitchFamily="2" charset="0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3AC86DB6-6075-4A43-BF54-11BD4D3DC9C1}"/>
              </a:ext>
            </a:extLst>
          </p:cNvPr>
          <p:cNvSpPr txBox="1"/>
          <p:nvPr/>
        </p:nvSpPr>
        <p:spPr>
          <a:xfrm>
            <a:off x="514384" y="7373568"/>
            <a:ext cx="1962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EF476F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METHODOLOGY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A1EDEF-FC10-4312-B134-CA6096982D3B}"/>
              </a:ext>
            </a:extLst>
          </p:cNvPr>
          <p:cNvSpPr/>
          <p:nvPr/>
        </p:nvSpPr>
        <p:spPr>
          <a:xfrm>
            <a:off x="4424075" y="6603896"/>
            <a:ext cx="3608487" cy="2266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DD80F36-C03B-4F05-BC29-FAAA5A9AB63C}"/>
              </a:ext>
            </a:extLst>
          </p:cNvPr>
          <p:cNvSpPr txBox="1"/>
          <p:nvPr/>
        </p:nvSpPr>
        <p:spPr>
          <a:xfrm>
            <a:off x="3786755" y="-1517221"/>
            <a:ext cx="52119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What is the goals of SkoLide?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38081FA-B2BE-4B25-AA68-87E77D42D915}"/>
              </a:ext>
            </a:extLst>
          </p:cNvPr>
          <p:cNvSpPr txBox="1"/>
          <p:nvPr/>
        </p:nvSpPr>
        <p:spPr>
          <a:xfrm>
            <a:off x="2476824" y="-2263485"/>
            <a:ext cx="79399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What can SkoLide do, and what are its limit?</a:t>
            </a:r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CE59764A-0547-492E-ADF3-0F1B714FE7D4}"/>
              </a:ext>
            </a:extLst>
          </p:cNvPr>
          <p:cNvCxnSpPr>
            <a:cxnSpLocks/>
          </p:cNvCxnSpPr>
          <p:nvPr/>
        </p:nvCxnSpPr>
        <p:spPr>
          <a:xfrm>
            <a:off x="553525" y="6567377"/>
            <a:ext cx="11084949" cy="0"/>
          </a:xfrm>
          <a:prstGeom prst="line">
            <a:avLst/>
          </a:prstGeom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E9019D0-EFCF-40F7-9AF5-AE02567E4754}"/>
              </a:ext>
            </a:extLst>
          </p:cNvPr>
          <p:cNvSpPr txBox="1"/>
          <p:nvPr/>
        </p:nvSpPr>
        <p:spPr>
          <a:xfrm>
            <a:off x="544189" y="817791"/>
            <a:ext cx="9459349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</a:rPr>
              <a:t>Limitations of the Study:</a:t>
            </a:r>
            <a:endParaRPr lang="en-US" b="1" dirty="0">
              <a:effectLst/>
            </a:endParaRPr>
          </a:p>
          <a:p>
            <a:pPr marL="285750" indent="-285750" rtl="0" fontAlgn="base"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i="0" u="none" strike="noStrike" dirty="0">
                <a:solidFill>
                  <a:srgbClr val="000000"/>
                </a:solidFill>
                <a:effectLst/>
              </a:rPr>
              <a:t>Users are limited to existing templates (no custom template creation).</a:t>
            </a:r>
            <a:br>
              <a:rPr lang="en-US" sz="1800" i="0" u="none" strike="noStrike" dirty="0">
                <a:solidFill>
                  <a:srgbClr val="000000"/>
                </a:solidFill>
                <a:effectLst/>
              </a:rPr>
            </a:br>
            <a:endParaRPr lang="en-US" sz="180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i="0" u="none" strike="noStrike" dirty="0">
                <a:solidFill>
                  <a:srgbClr val="000000"/>
                </a:solidFill>
                <a:effectLst/>
              </a:rPr>
              <a:t>AI-generated content may not always match user expectations.</a:t>
            </a:r>
            <a:br>
              <a:rPr lang="en-US" sz="1800" i="0" u="none" strike="noStrike" dirty="0">
                <a:solidFill>
                  <a:srgbClr val="000000"/>
                </a:solidFill>
                <a:effectLst/>
              </a:rPr>
            </a:br>
            <a:endParaRPr lang="en-US" sz="180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i="0" u="none" strike="noStrike" dirty="0">
                <a:solidFill>
                  <a:srgbClr val="000000"/>
                </a:solidFill>
                <a:effectLst/>
              </a:rPr>
              <a:t>Limited advanced design and formatting options.</a:t>
            </a:r>
            <a:br>
              <a:rPr lang="en-US" sz="1800" i="0" u="none" strike="noStrike" dirty="0">
                <a:solidFill>
                  <a:srgbClr val="000000"/>
                </a:solidFill>
                <a:effectLst/>
              </a:rPr>
            </a:br>
            <a:endParaRPr lang="en-US" sz="180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rtl="0" fontAlgn="base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i="0" u="none" strike="noStrike" dirty="0">
                <a:solidFill>
                  <a:srgbClr val="000000"/>
                </a:solidFill>
                <a:effectLst/>
              </a:rPr>
              <a:t>Requires a stable internet connection to function.</a:t>
            </a:r>
          </a:p>
          <a:p>
            <a:pPr marL="285750" indent="-285750" rtl="0" fontAlgn="base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i="0" u="none" strike="noStrike" dirty="0">
                <a:solidFill>
                  <a:srgbClr val="000000"/>
                </a:solidFill>
                <a:effectLst/>
              </a:rPr>
              <a:t>Export is currently available only in PPTX format.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FB54728-4951-4B66-8FB8-1E25668E73CA}"/>
              </a:ext>
            </a:extLst>
          </p:cNvPr>
          <p:cNvSpPr txBox="1"/>
          <p:nvPr/>
        </p:nvSpPr>
        <p:spPr>
          <a:xfrm>
            <a:off x="762333" y="7836950"/>
            <a:ext cx="1141599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Scope of the Study:</a:t>
            </a:r>
            <a:endParaRPr lang="en-US" b="0" dirty="0">
              <a:effectLst/>
            </a:endParaRPr>
          </a:p>
          <a:p>
            <a:pPr marL="285750" indent="-285750" rtl="0" fontAlgn="base"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Accessible through a web platform for ease of use.</a:t>
            </a:r>
            <a:br>
              <a:rPr lang="en-US" sz="18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endParaRPr lang="en-US" sz="180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85750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Users can input a topic and choose from predefined templates.</a:t>
            </a:r>
            <a:br>
              <a:rPr lang="en-US" sz="18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endParaRPr lang="en-US" sz="180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85750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Automatically generates slides with suggested titles, bullet points, and summaries.</a:t>
            </a:r>
            <a:br>
              <a:rPr lang="en-US" sz="18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endParaRPr lang="en-US" sz="180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85750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Allows users to edit and personalize generated content.</a:t>
            </a:r>
            <a:br>
              <a:rPr lang="en-US" sz="18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endParaRPr lang="en-US" sz="180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85750" indent="-285750" rtl="0" fontAlgn="base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Presentations can be exported in PowerPoint (PPTX) format.</a:t>
            </a:r>
          </a:p>
        </p:txBody>
      </p:sp>
    </p:spTree>
    <p:extLst>
      <p:ext uri="{BB962C8B-B14F-4D97-AF65-F5344CB8AC3E}">
        <p14:creationId xmlns:p14="http://schemas.microsoft.com/office/powerpoint/2010/main" val="32071825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Oval 53">
            <a:extLst>
              <a:ext uri="{FF2B5EF4-FFF2-40B4-BE49-F238E27FC236}">
                <a16:creationId xmlns:a16="http://schemas.microsoft.com/office/drawing/2014/main" id="{E75E415E-D168-4A64-BFEB-CF6E5E91C618}"/>
              </a:ext>
            </a:extLst>
          </p:cNvPr>
          <p:cNvSpPr/>
          <p:nvPr/>
        </p:nvSpPr>
        <p:spPr>
          <a:xfrm>
            <a:off x="1062384" y="5429735"/>
            <a:ext cx="3554083" cy="1174161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85000"/>
                  <a:alpha val="0"/>
                </a:schemeClr>
              </a:gs>
              <a:gs pos="95000">
                <a:schemeClr val="tx1">
                  <a:lumMod val="85000"/>
                  <a:lumOff val="15000"/>
                </a:schemeClr>
              </a:gs>
            </a:gsLst>
            <a:lin ang="0" scaled="1"/>
            <a:tileRect/>
          </a:gradFill>
          <a:ln>
            <a:noFill/>
          </a:ln>
          <a:effectLst>
            <a:softEdge rad="3048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59A91C9-5054-421D-8AB9-E071BA377352}"/>
              </a:ext>
            </a:extLst>
          </p:cNvPr>
          <p:cNvGrpSpPr/>
          <p:nvPr/>
        </p:nvGrpSpPr>
        <p:grpSpPr>
          <a:xfrm>
            <a:off x="2038070" y="4505166"/>
            <a:ext cx="3355676" cy="1400788"/>
            <a:chOff x="2038070" y="4505166"/>
            <a:chExt cx="3355676" cy="1400788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343157D5-4FF2-4FA1-9D59-419EF512DD63}"/>
                </a:ext>
              </a:extLst>
            </p:cNvPr>
            <p:cNvGrpSpPr/>
            <p:nvPr/>
          </p:nvGrpSpPr>
          <p:grpSpPr>
            <a:xfrm>
              <a:off x="2038070" y="4505166"/>
              <a:ext cx="3355676" cy="1400788"/>
              <a:chOff x="2596550" y="2775364"/>
              <a:chExt cx="4019910" cy="1678065"/>
            </a:xfrm>
            <a:scene3d>
              <a:camera prst="orthographicFront">
                <a:rot lat="0" lon="0" rev="19199999"/>
              </a:camera>
              <a:lightRig rig="threePt" dir="t"/>
            </a:scene3d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892C5BCC-B12D-4C7A-B111-34582936145D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B67A78B7-6B3D-456A-A208-4D26B1ABD8E3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1E2ED20F-42CC-4834-B53D-E458D5168208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EF476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475AEADC-907C-4D82-B7F4-153288554B19}"/>
                  </a:ext>
                </a:extLst>
              </p:cNvPr>
              <p:cNvSpPr/>
              <p:nvPr/>
            </p:nvSpPr>
            <p:spPr>
              <a:xfrm>
                <a:off x="2596550" y="2775364"/>
                <a:ext cx="4019910" cy="137394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alpha val="0"/>
                    </a:schemeClr>
                  </a:gs>
                  <a:gs pos="95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softEdge rad="266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4501ABC5-43E0-49AC-BC00-8C50BB95BF58}"/>
                </a:ext>
              </a:extLst>
            </p:cNvPr>
            <p:cNvSpPr txBox="1"/>
            <p:nvPr/>
          </p:nvSpPr>
          <p:spPr>
            <a:xfrm rot="2317436">
              <a:off x="3084625" y="5387604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EF476F"/>
                  </a:solidFill>
                  <a:latin typeface="Anton" panose="00000500000000000000" pitchFamily="2" charset="0"/>
                </a:rPr>
                <a:t>05</a:t>
              </a:r>
              <a:endParaRPr lang="en-US" sz="2000" spc="300" dirty="0">
                <a:solidFill>
                  <a:srgbClr val="EF476F"/>
                </a:solidFill>
                <a:latin typeface="Anton" panose="00000500000000000000" pitchFamily="2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0F3C0F4-B6E4-4C48-9EF4-98AD4F55FA69}"/>
              </a:ext>
            </a:extLst>
          </p:cNvPr>
          <p:cNvGrpSpPr/>
          <p:nvPr/>
        </p:nvGrpSpPr>
        <p:grpSpPr>
          <a:xfrm>
            <a:off x="2459965" y="3663791"/>
            <a:ext cx="3355676" cy="1400788"/>
            <a:chOff x="2459965" y="3663791"/>
            <a:chExt cx="3355676" cy="140078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A5F928E-6A3A-4AC3-B40D-78D692B6B9A6}"/>
                </a:ext>
              </a:extLst>
            </p:cNvPr>
            <p:cNvGrpSpPr/>
            <p:nvPr/>
          </p:nvGrpSpPr>
          <p:grpSpPr>
            <a:xfrm>
              <a:off x="2459965" y="3663791"/>
              <a:ext cx="3355676" cy="1400788"/>
              <a:chOff x="2596550" y="2775364"/>
              <a:chExt cx="4019910" cy="1678065"/>
            </a:xfrm>
            <a:scene3d>
              <a:camera prst="orthographicFront">
                <a:rot lat="0" lon="0" rev="20399999"/>
              </a:camera>
              <a:lightRig rig="threePt" dir="t"/>
            </a:scene3d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8B059B1-A6BA-41B1-862D-EFADE8A7E0E4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5A53785F-C2D2-4537-BF9E-41355E3DFB81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9D5353B7-0849-4523-BD12-172B32B20B51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FFD1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966420CD-FEF1-49EC-8302-619086DCC8A7}"/>
                  </a:ext>
                </a:extLst>
              </p:cNvPr>
              <p:cNvSpPr/>
              <p:nvPr/>
            </p:nvSpPr>
            <p:spPr>
              <a:xfrm>
                <a:off x="2596550" y="2775364"/>
                <a:ext cx="4019910" cy="137394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alpha val="0"/>
                    </a:schemeClr>
                  </a:gs>
                  <a:gs pos="95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softEdge rad="266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18C98E25-E4E3-49C9-BF77-2540DFCDED07}"/>
                </a:ext>
              </a:extLst>
            </p:cNvPr>
            <p:cNvSpPr txBox="1"/>
            <p:nvPr/>
          </p:nvSpPr>
          <p:spPr>
            <a:xfrm rot="962716">
              <a:off x="3693611" y="4653891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FFD166"/>
                  </a:solidFill>
                  <a:latin typeface="Anton" panose="00000500000000000000" pitchFamily="2" charset="0"/>
                </a:rPr>
                <a:t>04</a:t>
              </a:r>
              <a:endParaRPr lang="en-US" sz="2000" spc="300" dirty="0">
                <a:solidFill>
                  <a:srgbClr val="FFD166"/>
                </a:solidFill>
                <a:latin typeface="Anton" panose="00000500000000000000" pitchFamily="2" charset="0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A1592EFB-3A7E-45D6-A98E-2179EC9E0047}"/>
              </a:ext>
            </a:extLst>
          </p:cNvPr>
          <p:cNvGrpSpPr/>
          <p:nvPr/>
        </p:nvGrpSpPr>
        <p:grpSpPr>
          <a:xfrm>
            <a:off x="2589362" y="2728606"/>
            <a:ext cx="3355676" cy="1400788"/>
            <a:chOff x="2589362" y="2728606"/>
            <a:chExt cx="3355676" cy="1400788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F3D935D-0ECA-4D6F-BEFE-A1CB93FD10E7}"/>
                </a:ext>
              </a:extLst>
            </p:cNvPr>
            <p:cNvGrpSpPr/>
            <p:nvPr/>
          </p:nvGrpSpPr>
          <p:grpSpPr>
            <a:xfrm>
              <a:off x="2589362" y="2728606"/>
              <a:ext cx="3355676" cy="1400788"/>
              <a:chOff x="2596550" y="2775364"/>
              <a:chExt cx="4019910" cy="1678065"/>
            </a:xfrm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561C2D06-12A5-43AC-90FD-8DE901D4A5A9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1DACD449-33AF-4702-91CF-490058943DF5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97505746-BE53-4BA7-8480-35238ED37367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06D6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F200FD4-1487-46E5-900E-DE692E1F5E2C}"/>
                  </a:ext>
                </a:extLst>
              </p:cNvPr>
              <p:cNvSpPr/>
              <p:nvPr/>
            </p:nvSpPr>
            <p:spPr>
              <a:xfrm>
                <a:off x="2596550" y="2775364"/>
                <a:ext cx="4019910" cy="137394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alpha val="0"/>
                    </a:schemeClr>
                  </a:gs>
                  <a:gs pos="95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softEdge rad="266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A80DC888-46C4-49C5-8C75-8CDF81E54FAC}"/>
                </a:ext>
              </a:extLst>
            </p:cNvPr>
            <p:cNvSpPr txBox="1"/>
            <p:nvPr/>
          </p:nvSpPr>
          <p:spPr>
            <a:xfrm>
              <a:off x="3908292" y="3708324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06D6A0"/>
                  </a:solidFill>
                  <a:latin typeface="Anton" panose="00000500000000000000" pitchFamily="2" charset="0"/>
                </a:rPr>
                <a:t>03</a:t>
              </a:r>
              <a:endParaRPr lang="en-US" sz="2000" spc="300" dirty="0">
                <a:solidFill>
                  <a:srgbClr val="06D6A0"/>
                </a:solidFill>
                <a:latin typeface="Anton" panose="00000500000000000000" pitchFamily="2" charset="0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02B6B8B-8297-4273-8010-61142DF79695}"/>
              </a:ext>
            </a:extLst>
          </p:cNvPr>
          <p:cNvGrpSpPr/>
          <p:nvPr/>
        </p:nvGrpSpPr>
        <p:grpSpPr>
          <a:xfrm>
            <a:off x="2376531" y="1804037"/>
            <a:ext cx="3355676" cy="1428965"/>
            <a:chOff x="2376531" y="1804037"/>
            <a:chExt cx="3355676" cy="1428965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62C35E0C-2906-4AAF-8057-3A40B59EE48B}"/>
                </a:ext>
              </a:extLst>
            </p:cNvPr>
            <p:cNvGrpSpPr/>
            <p:nvPr/>
          </p:nvGrpSpPr>
          <p:grpSpPr>
            <a:xfrm>
              <a:off x="2376531" y="1804037"/>
              <a:ext cx="3355676" cy="1400788"/>
              <a:chOff x="2596550" y="2775364"/>
              <a:chExt cx="4019910" cy="1678065"/>
            </a:xfrm>
            <a:scene3d>
              <a:camera prst="orthographicFront">
                <a:rot lat="0" lon="0" rev="1200000"/>
              </a:camera>
              <a:lightRig rig="threePt" dir="t"/>
            </a:scene3d>
          </p:grpSpPr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129D9395-4F7F-469C-A275-CFE0E62E8CDB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A3AAFBC9-A40E-444C-AE46-4536C94E12FD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2BA9BCEE-9897-4C90-A035-492954969E3F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118A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3C0E6B84-CBA1-4654-8281-81A3F63EE4B8}"/>
                  </a:ext>
                </a:extLst>
              </p:cNvPr>
              <p:cNvSpPr/>
              <p:nvPr/>
            </p:nvSpPr>
            <p:spPr>
              <a:xfrm>
                <a:off x="2596550" y="2775364"/>
                <a:ext cx="4019910" cy="137394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alpha val="0"/>
                    </a:schemeClr>
                  </a:gs>
                  <a:gs pos="95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softEdge rad="266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0CBCCC58-A312-4FD0-A98A-20092941C790}"/>
                </a:ext>
              </a:extLst>
            </p:cNvPr>
            <p:cNvSpPr txBox="1"/>
            <p:nvPr/>
          </p:nvSpPr>
          <p:spPr>
            <a:xfrm rot="20409358">
              <a:off x="3733524" y="2832892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118AB2"/>
                  </a:solidFill>
                  <a:latin typeface="Anton" panose="00000500000000000000" pitchFamily="2" charset="0"/>
                </a:rPr>
                <a:t>02</a:t>
              </a:r>
              <a:endParaRPr lang="en-US" sz="2000" spc="300" dirty="0">
                <a:solidFill>
                  <a:srgbClr val="118AB2"/>
                </a:solidFill>
                <a:latin typeface="Anton" panose="00000500000000000000" pitchFamily="2" charset="0"/>
              </a:endParaRPr>
            </a:p>
          </p:txBody>
        </p:sp>
      </p:grp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11DDBD69-51C5-405D-BBBA-9C98635472A7}"/>
              </a:ext>
            </a:extLst>
          </p:cNvPr>
          <p:cNvCxnSpPr/>
          <p:nvPr/>
        </p:nvCxnSpPr>
        <p:spPr>
          <a:xfrm>
            <a:off x="4175043" y="931653"/>
            <a:ext cx="2035978" cy="0"/>
          </a:xfrm>
          <a:prstGeom prst="line">
            <a:avLst/>
          </a:prstGeom>
          <a:ln w="19050">
            <a:solidFill>
              <a:srgbClr val="073B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B322033C-947B-45E0-B7B9-C72EDFB8F841}"/>
              </a:ext>
            </a:extLst>
          </p:cNvPr>
          <p:cNvCxnSpPr/>
          <p:nvPr/>
        </p:nvCxnSpPr>
        <p:spPr>
          <a:xfrm>
            <a:off x="4927049" y="2011729"/>
            <a:ext cx="2035978" cy="0"/>
          </a:xfrm>
          <a:prstGeom prst="line">
            <a:avLst/>
          </a:prstGeom>
          <a:ln w="19050">
            <a:solidFill>
              <a:srgbClr val="118A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5A413F8D-A016-4F17-9D7E-67A113EEAEB9}"/>
              </a:ext>
            </a:extLst>
          </p:cNvPr>
          <p:cNvCxnSpPr/>
          <p:nvPr/>
        </p:nvCxnSpPr>
        <p:spPr>
          <a:xfrm>
            <a:off x="5260766" y="3292294"/>
            <a:ext cx="2035978" cy="0"/>
          </a:xfrm>
          <a:prstGeom prst="line">
            <a:avLst/>
          </a:prstGeom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CE59764A-0547-492E-ADF3-0F1B714FE7D4}"/>
              </a:ext>
            </a:extLst>
          </p:cNvPr>
          <p:cNvCxnSpPr/>
          <p:nvPr/>
        </p:nvCxnSpPr>
        <p:spPr>
          <a:xfrm>
            <a:off x="5114117" y="4501309"/>
            <a:ext cx="2035978" cy="0"/>
          </a:xfrm>
          <a:prstGeom prst="line">
            <a:avLst/>
          </a:prstGeom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D08ABF5C-1D62-4495-AB80-6BAD31305015}"/>
              </a:ext>
            </a:extLst>
          </p:cNvPr>
          <p:cNvCxnSpPr/>
          <p:nvPr/>
        </p:nvCxnSpPr>
        <p:spPr>
          <a:xfrm>
            <a:off x="4536148" y="5752139"/>
            <a:ext cx="2035978" cy="0"/>
          </a:xfrm>
          <a:prstGeom prst="line">
            <a:avLst/>
          </a:prstGeom>
          <a:ln w="19050">
            <a:solidFill>
              <a:srgbClr val="EF47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F4173C33-F9C9-4068-BCB2-D6F11BAD3815}"/>
              </a:ext>
            </a:extLst>
          </p:cNvPr>
          <p:cNvGrpSpPr/>
          <p:nvPr/>
        </p:nvGrpSpPr>
        <p:grpSpPr>
          <a:xfrm>
            <a:off x="2082574" y="1263788"/>
            <a:ext cx="2553613" cy="1285380"/>
            <a:chOff x="2082574" y="1263788"/>
            <a:chExt cx="2553613" cy="1285380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454B8B73-02CD-45F2-A244-9B42C0DCFA48}"/>
                </a:ext>
              </a:extLst>
            </p:cNvPr>
            <p:cNvGrpSpPr/>
            <p:nvPr/>
          </p:nvGrpSpPr>
          <p:grpSpPr>
            <a:xfrm>
              <a:off x="2082574" y="1263788"/>
              <a:ext cx="2553613" cy="1285380"/>
              <a:chOff x="2737657" y="2913616"/>
              <a:chExt cx="3059084" cy="1539813"/>
            </a:xfrm>
            <a:scene3d>
              <a:camera prst="orthographicFront">
                <a:rot lat="0" lon="0" rev="2400000"/>
              </a:camera>
              <a:lightRig rig="threePt" dir="t"/>
            </a:scene3d>
          </p:grpSpPr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8F70A12A-955A-44CA-AD14-CF775C1316A4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EE2BC23F-E057-433F-AD42-8B238FA1B9CC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2ED7E8C7-0ACF-4CBA-A6AE-5E93363CFD54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073B4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21B79F32-9457-46C6-9309-0F1ECB18C1F2}"/>
                </a:ext>
              </a:extLst>
            </p:cNvPr>
            <p:cNvSpPr txBox="1"/>
            <p:nvPr/>
          </p:nvSpPr>
          <p:spPr>
            <a:xfrm rot="19173824">
              <a:off x="3304028" y="2073478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073B4C"/>
                  </a:solidFill>
                  <a:latin typeface="Anton" panose="00000500000000000000" pitchFamily="2" charset="0"/>
                </a:rPr>
                <a:t>01</a:t>
              </a:r>
              <a:endParaRPr lang="en-US" sz="2000" spc="300" dirty="0">
                <a:solidFill>
                  <a:srgbClr val="073B4C"/>
                </a:solidFill>
                <a:latin typeface="Anton" panose="00000500000000000000" pitchFamily="2" charset="0"/>
              </a:endParaRPr>
            </a:p>
          </p:txBody>
        </p:sp>
      </p:grpSp>
      <p:sp>
        <p:nvSpPr>
          <p:cNvPr id="149" name="TextBox 148">
            <a:extLst>
              <a:ext uri="{FF2B5EF4-FFF2-40B4-BE49-F238E27FC236}">
                <a16:creationId xmlns:a16="http://schemas.microsoft.com/office/drawing/2014/main" id="{55182AE9-631D-4DC8-BB96-2460DA99BD6D}"/>
              </a:ext>
            </a:extLst>
          </p:cNvPr>
          <p:cNvSpPr txBox="1"/>
          <p:nvPr/>
        </p:nvSpPr>
        <p:spPr>
          <a:xfrm>
            <a:off x="5911486" y="731165"/>
            <a:ext cx="1962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073B4C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PROPONENTS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EBADC8B7-E6F2-4DE6-A5B6-756A57DE88DE}"/>
              </a:ext>
            </a:extLst>
          </p:cNvPr>
          <p:cNvSpPr txBox="1"/>
          <p:nvPr/>
        </p:nvSpPr>
        <p:spPr>
          <a:xfrm>
            <a:off x="6572126" y="1848758"/>
            <a:ext cx="1962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118AB2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RATIONALE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5EEE4FEB-1D13-46C0-B11F-64AE2B6474EB}"/>
              </a:ext>
            </a:extLst>
          </p:cNvPr>
          <p:cNvSpPr txBox="1"/>
          <p:nvPr/>
        </p:nvSpPr>
        <p:spPr>
          <a:xfrm>
            <a:off x="6907432" y="3114895"/>
            <a:ext cx="1962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06D6A0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OBJECTIVES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1135AB04-9581-4CE2-8074-1E0A50C351D4}"/>
              </a:ext>
            </a:extLst>
          </p:cNvPr>
          <p:cNvSpPr txBox="1"/>
          <p:nvPr/>
        </p:nvSpPr>
        <p:spPr>
          <a:xfrm>
            <a:off x="7092167" y="4296958"/>
            <a:ext cx="2199185" cy="500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FFD166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SCOPE AND LIMITATION</a:t>
            </a:r>
          </a:p>
          <a:p>
            <a:pPr algn="ctr"/>
            <a:r>
              <a:rPr lang="en-IN" sz="1050" dirty="0">
                <a:latin typeface="Economica" panose="02000506040000020004" pitchFamily="2" charset="0"/>
              </a:rPr>
              <a:t>.</a:t>
            </a:r>
            <a:endParaRPr lang="en-US" sz="1050" dirty="0">
              <a:latin typeface="Economica" panose="02000506040000020004" pitchFamily="2" charset="0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3AC86DB6-6075-4A43-BF54-11BD4D3DC9C1}"/>
              </a:ext>
            </a:extLst>
          </p:cNvPr>
          <p:cNvSpPr txBox="1"/>
          <p:nvPr/>
        </p:nvSpPr>
        <p:spPr>
          <a:xfrm>
            <a:off x="6346044" y="5574858"/>
            <a:ext cx="1962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EF476F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METHODOLOGY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A1EDEF-FC10-4312-B134-CA6096982D3B}"/>
              </a:ext>
            </a:extLst>
          </p:cNvPr>
          <p:cNvSpPr/>
          <p:nvPr/>
        </p:nvSpPr>
        <p:spPr>
          <a:xfrm>
            <a:off x="4424075" y="6603896"/>
            <a:ext cx="3608487" cy="2266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DD80F36-C03B-4F05-BC29-FAAA5A9AB63C}"/>
              </a:ext>
            </a:extLst>
          </p:cNvPr>
          <p:cNvSpPr txBox="1"/>
          <p:nvPr/>
        </p:nvSpPr>
        <p:spPr>
          <a:xfrm>
            <a:off x="3786755" y="-1517221"/>
            <a:ext cx="52119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What is the goals of SkoLide?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38081FA-B2BE-4B25-AA68-87E77D42D915}"/>
              </a:ext>
            </a:extLst>
          </p:cNvPr>
          <p:cNvSpPr txBox="1"/>
          <p:nvPr/>
        </p:nvSpPr>
        <p:spPr>
          <a:xfrm>
            <a:off x="2308757" y="-700147"/>
            <a:ext cx="79399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What can SkoLide do, and what are its limit?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BE95920-5CED-480B-BA3F-E01AC8AA84AE}"/>
              </a:ext>
            </a:extLst>
          </p:cNvPr>
          <p:cNvSpPr txBox="1"/>
          <p:nvPr/>
        </p:nvSpPr>
        <p:spPr>
          <a:xfrm>
            <a:off x="4927049" y="-1070134"/>
            <a:ext cx="25266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Methodology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561FC73-EA26-4A7F-9A8A-6533B93403B2}"/>
              </a:ext>
            </a:extLst>
          </p:cNvPr>
          <p:cNvSpPr txBox="1"/>
          <p:nvPr/>
        </p:nvSpPr>
        <p:spPr>
          <a:xfrm>
            <a:off x="531091" y="8116798"/>
            <a:ext cx="9459349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</a:rPr>
              <a:t>Limitations of the Study:</a:t>
            </a:r>
            <a:endParaRPr lang="en-US" b="1" dirty="0">
              <a:effectLst/>
            </a:endParaRPr>
          </a:p>
          <a:p>
            <a:pPr marL="285750" indent="-285750" rtl="0" fontAlgn="base"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i="0" u="none" strike="noStrike" dirty="0">
                <a:solidFill>
                  <a:srgbClr val="000000"/>
                </a:solidFill>
                <a:effectLst/>
              </a:rPr>
              <a:t>Users are limited to existing templates (no custom template creation).</a:t>
            </a:r>
            <a:br>
              <a:rPr lang="en-US" sz="1800" i="0" u="none" strike="noStrike" dirty="0">
                <a:solidFill>
                  <a:srgbClr val="000000"/>
                </a:solidFill>
                <a:effectLst/>
              </a:rPr>
            </a:br>
            <a:endParaRPr lang="en-US" sz="180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i="0" u="none" strike="noStrike" dirty="0">
                <a:solidFill>
                  <a:srgbClr val="000000"/>
                </a:solidFill>
                <a:effectLst/>
              </a:rPr>
              <a:t>AI-generated content may not always match user expectations.</a:t>
            </a:r>
            <a:br>
              <a:rPr lang="en-US" sz="1800" i="0" u="none" strike="noStrike" dirty="0">
                <a:solidFill>
                  <a:srgbClr val="000000"/>
                </a:solidFill>
                <a:effectLst/>
              </a:rPr>
            </a:br>
            <a:endParaRPr lang="en-US" sz="180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i="0" u="none" strike="noStrike" dirty="0">
                <a:solidFill>
                  <a:srgbClr val="000000"/>
                </a:solidFill>
                <a:effectLst/>
              </a:rPr>
              <a:t>Limited advanced design and formatting options.</a:t>
            </a:r>
            <a:br>
              <a:rPr lang="en-US" sz="1800" i="0" u="none" strike="noStrike" dirty="0">
                <a:solidFill>
                  <a:srgbClr val="000000"/>
                </a:solidFill>
                <a:effectLst/>
              </a:rPr>
            </a:br>
            <a:endParaRPr lang="en-US" sz="180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rtl="0" fontAlgn="base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i="0" u="none" strike="noStrike" dirty="0">
                <a:solidFill>
                  <a:srgbClr val="000000"/>
                </a:solidFill>
                <a:effectLst/>
              </a:rPr>
              <a:t>Requires a stable internet connection to function.</a:t>
            </a:r>
          </a:p>
          <a:p>
            <a:pPr marL="285750" indent="-285750" rtl="0" fontAlgn="base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i="0" u="none" strike="noStrike" dirty="0">
                <a:solidFill>
                  <a:srgbClr val="000000"/>
                </a:solidFill>
                <a:effectLst/>
              </a:rPr>
              <a:t>Export is currently available only in PPTX format.</a:t>
            </a:r>
          </a:p>
        </p:txBody>
      </p:sp>
    </p:spTree>
    <p:extLst>
      <p:ext uri="{BB962C8B-B14F-4D97-AF65-F5344CB8AC3E}">
        <p14:creationId xmlns:p14="http://schemas.microsoft.com/office/powerpoint/2010/main" val="26130415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Oval 53">
            <a:extLst>
              <a:ext uri="{FF2B5EF4-FFF2-40B4-BE49-F238E27FC236}">
                <a16:creationId xmlns:a16="http://schemas.microsoft.com/office/drawing/2014/main" id="{E75E415E-D168-4A64-BFEB-CF6E5E91C618}"/>
              </a:ext>
            </a:extLst>
          </p:cNvPr>
          <p:cNvSpPr/>
          <p:nvPr/>
        </p:nvSpPr>
        <p:spPr>
          <a:xfrm>
            <a:off x="4100900" y="5769562"/>
            <a:ext cx="3554083" cy="1174161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85000"/>
                  <a:alpha val="0"/>
                </a:schemeClr>
              </a:gs>
              <a:gs pos="95000">
                <a:schemeClr val="tx1">
                  <a:lumMod val="85000"/>
                  <a:lumOff val="15000"/>
                </a:schemeClr>
              </a:gs>
            </a:gsLst>
            <a:lin ang="0" scaled="1"/>
            <a:tileRect/>
          </a:gradFill>
          <a:ln>
            <a:noFill/>
          </a:ln>
          <a:effectLst>
            <a:softEdge rad="3048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59A91C9-5054-421D-8AB9-E071BA377352}"/>
              </a:ext>
            </a:extLst>
          </p:cNvPr>
          <p:cNvGrpSpPr/>
          <p:nvPr/>
        </p:nvGrpSpPr>
        <p:grpSpPr>
          <a:xfrm rot="19436487">
            <a:off x="4815573" y="5027855"/>
            <a:ext cx="3355676" cy="1400788"/>
            <a:chOff x="2038070" y="4505166"/>
            <a:chExt cx="3355676" cy="1400788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343157D5-4FF2-4FA1-9D59-419EF512DD63}"/>
                </a:ext>
              </a:extLst>
            </p:cNvPr>
            <p:cNvGrpSpPr/>
            <p:nvPr/>
          </p:nvGrpSpPr>
          <p:grpSpPr>
            <a:xfrm>
              <a:off x="2038070" y="4505166"/>
              <a:ext cx="3355676" cy="1400788"/>
              <a:chOff x="2596550" y="2775364"/>
              <a:chExt cx="4019910" cy="1678065"/>
            </a:xfrm>
            <a:scene3d>
              <a:camera prst="orthographicFront">
                <a:rot lat="0" lon="0" rev="19199999"/>
              </a:camera>
              <a:lightRig rig="threePt" dir="t"/>
            </a:scene3d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892C5BCC-B12D-4C7A-B111-34582936145D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B67A78B7-6B3D-456A-A208-4D26B1ABD8E3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1E2ED20F-42CC-4834-B53D-E458D5168208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EF476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475AEADC-907C-4D82-B7F4-153288554B19}"/>
                  </a:ext>
                </a:extLst>
              </p:cNvPr>
              <p:cNvSpPr/>
              <p:nvPr/>
            </p:nvSpPr>
            <p:spPr>
              <a:xfrm>
                <a:off x="2596550" y="2775364"/>
                <a:ext cx="4019910" cy="137394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alpha val="0"/>
                    </a:schemeClr>
                  </a:gs>
                  <a:gs pos="95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softEdge rad="266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4501ABC5-43E0-49AC-BC00-8C50BB95BF58}"/>
                </a:ext>
              </a:extLst>
            </p:cNvPr>
            <p:cNvSpPr txBox="1"/>
            <p:nvPr/>
          </p:nvSpPr>
          <p:spPr>
            <a:xfrm rot="2317436">
              <a:off x="3084625" y="5387604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EF476F"/>
                  </a:solidFill>
                  <a:latin typeface="Anton" panose="00000500000000000000" pitchFamily="2" charset="0"/>
                </a:rPr>
                <a:t>05</a:t>
              </a:r>
              <a:endParaRPr lang="en-US" sz="2000" spc="300" dirty="0">
                <a:solidFill>
                  <a:srgbClr val="EF476F"/>
                </a:solidFill>
                <a:latin typeface="Anton" panose="00000500000000000000" pitchFamily="2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0F3C0F4-B6E4-4C48-9EF4-98AD4F55FA69}"/>
              </a:ext>
            </a:extLst>
          </p:cNvPr>
          <p:cNvGrpSpPr/>
          <p:nvPr/>
        </p:nvGrpSpPr>
        <p:grpSpPr>
          <a:xfrm>
            <a:off x="-615454" y="8280152"/>
            <a:ext cx="3355676" cy="1400788"/>
            <a:chOff x="2459965" y="3663791"/>
            <a:chExt cx="3355676" cy="140078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A5F928E-6A3A-4AC3-B40D-78D692B6B9A6}"/>
                </a:ext>
              </a:extLst>
            </p:cNvPr>
            <p:cNvGrpSpPr/>
            <p:nvPr/>
          </p:nvGrpSpPr>
          <p:grpSpPr>
            <a:xfrm>
              <a:off x="2459965" y="3663791"/>
              <a:ext cx="3355676" cy="1400788"/>
              <a:chOff x="2596550" y="2775364"/>
              <a:chExt cx="4019910" cy="1678065"/>
            </a:xfrm>
            <a:scene3d>
              <a:camera prst="orthographicFront">
                <a:rot lat="0" lon="0" rev="20399999"/>
              </a:camera>
              <a:lightRig rig="threePt" dir="t"/>
            </a:scene3d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8B059B1-A6BA-41B1-862D-EFADE8A7E0E4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5A53785F-C2D2-4537-BF9E-41355E3DFB81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9D5353B7-0849-4523-BD12-172B32B20B51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FFD1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966420CD-FEF1-49EC-8302-619086DCC8A7}"/>
                  </a:ext>
                </a:extLst>
              </p:cNvPr>
              <p:cNvSpPr/>
              <p:nvPr/>
            </p:nvSpPr>
            <p:spPr>
              <a:xfrm>
                <a:off x="2596550" y="2775364"/>
                <a:ext cx="4019910" cy="137394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alpha val="0"/>
                    </a:schemeClr>
                  </a:gs>
                  <a:gs pos="95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softEdge rad="266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18C98E25-E4E3-49C9-BF77-2540DFCDED07}"/>
                </a:ext>
              </a:extLst>
            </p:cNvPr>
            <p:cNvSpPr txBox="1"/>
            <p:nvPr/>
          </p:nvSpPr>
          <p:spPr>
            <a:xfrm rot="962716">
              <a:off x="3693611" y="4653891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FFD166"/>
                  </a:solidFill>
                  <a:latin typeface="Anton" panose="00000500000000000000" pitchFamily="2" charset="0"/>
                </a:rPr>
                <a:t>04</a:t>
              </a:r>
              <a:endParaRPr lang="en-US" sz="2000" spc="300" dirty="0">
                <a:solidFill>
                  <a:srgbClr val="FFD166"/>
                </a:solidFill>
                <a:latin typeface="Anton" panose="00000500000000000000" pitchFamily="2" charset="0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A1592EFB-3A7E-45D6-A98E-2179EC9E0047}"/>
              </a:ext>
            </a:extLst>
          </p:cNvPr>
          <p:cNvGrpSpPr/>
          <p:nvPr/>
        </p:nvGrpSpPr>
        <p:grpSpPr>
          <a:xfrm>
            <a:off x="-3201065" y="7889276"/>
            <a:ext cx="3355676" cy="1400788"/>
            <a:chOff x="2589362" y="2728606"/>
            <a:chExt cx="3355676" cy="1400788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F3D935D-0ECA-4D6F-BEFE-A1CB93FD10E7}"/>
                </a:ext>
              </a:extLst>
            </p:cNvPr>
            <p:cNvGrpSpPr/>
            <p:nvPr/>
          </p:nvGrpSpPr>
          <p:grpSpPr>
            <a:xfrm>
              <a:off x="2589362" y="2728606"/>
              <a:ext cx="3355676" cy="1400788"/>
              <a:chOff x="2596550" y="2775364"/>
              <a:chExt cx="4019910" cy="1678065"/>
            </a:xfrm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561C2D06-12A5-43AC-90FD-8DE901D4A5A9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1DACD449-33AF-4702-91CF-490058943DF5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97505746-BE53-4BA7-8480-35238ED37367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06D6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F200FD4-1487-46E5-900E-DE692E1F5E2C}"/>
                  </a:ext>
                </a:extLst>
              </p:cNvPr>
              <p:cNvSpPr/>
              <p:nvPr/>
            </p:nvSpPr>
            <p:spPr>
              <a:xfrm>
                <a:off x="2596550" y="2775364"/>
                <a:ext cx="4019910" cy="137394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alpha val="0"/>
                    </a:schemeClr>
                  </a:gs>
                  <a:gs pos="95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softEdge rad="266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A80DC888-46C4-49C5-8C75-8CDF81E54FAC}"/>
                </a:ext>
              </a:extLst>
            </p:cNvPr>
            <p:cNvSpPr txBox="1"/>
            <p:nvPr/>
          </p:nvSpPr>
          <p:spPr>
            <a:xfrm>
              <a:off x="3908292" y="3708324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06D6A0"/>
                  </a:solidFill>
                  <a:latin typeface="Anton" panose="00000500000000000000" pitchFamily="2" charset="0"/>
                </a:rPr>
                <a:t>03</a:t>
              </a:r>
              <a:endParaRPr lang="en-US" sz="2000" spc="300" dirty="0">
                <a:solidFill>
                  <a:srgbClr val="06D6A0"/>
                </a:solidFill>
                <a:latin typeface="Anton" panose="00000500000000000000" pitchFamily="2" charset="0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02B6B8B-8297-4273-8010-61142DF79695}"/>
              </a:ext>
            </a:extLst>
          </p:cNvPr>
          <p:cNvGrpSpPr/>
          <p:nvPr/>
        </p:nvGrpSpPr>
        <p:grpSpPr>
          <a:xfrm>
            <a:off x="-4789415" y="4750005"/>
            <a:ext cx="3355676" cy="1428965"/>
            <a:chOff x="2376531" y="1804037"/>
            <a:chExt cx="3355676" cy="1428965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62C35E0C-2906-4AAF-8057-3A40B59EE48B}"/>
                </a:ext>
              </a:extLst>
            </p:cNvPr>
            <p:cNvGrpSpPr/>
            <p:nvPr/>
          </p:nvGrpSpPr>
          <p:grpSpPr>
            <a:xfrm>
              <a:off x="2376531" y="1804037"/>
              <a:ext cx="3355676" cy="1400788"/>
              <a:chOff x="2596550" y="2775364"/>
              <a:chExt cx="4019910" cy="1678065"/>
            </a:xfrm>
            <a:scene3d>
              <a:camera prst="orthographicFront">
                <a:rot lat="0" lon="0" rev="1200000"/>
              </a:camera>
              <a:lightRig rig="threePt" dir="t"/>
            </a:scene3d>
          </p:grpSpPr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129D9395-4F7F-469C-A275-CFE0E62E8CDB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A3AAFBC9-A40E-444C-AE46-4536C94E12FD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2BA9BCEE-9897-4C90-A035-492954969E3F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118A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3C0E6B84-CBA1-4654-8281-81A3F63EE4B8}"/>
                  </a:ext>
                </a:extLst>
              </p:cNvPr>
              <p:cNvSpPr/>
              <p:nvPr/>
            </p:nvSpPr>
            <p:spPr>
              <a:xfrm>
                <a:off x="2596550" y="2775364"/>
                <a:ext cx="4019910" cy="137394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alpha val="0"/>
                    </a:schemeClr>
                  </a:gs>
                  <a:gs pos="95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softEdge rad="266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0CBCCC58-A312-4FD0-A98A-20092941C790}"/>
                </a:ext>
              </a:extLst>
            </p:cNvPr>
            <p:cNvSpPr txBox="1"/>
            <p:nvPr/>
          </p:nvSpPr>
          <p:spPr>
            <a:xfrm rot="20409358">
              <a:off x="3733524" y="2832892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118AB2"/>
                  </a:solidFill>
                  <a:latin typeface="Anton" panose="00000500000000000000" pitchFamily="2" charset="0"/>
                </a:rPr>
                <a:t>02</a:t>
              </a:r>
              <a:endParaRPr lang="en-US" sz="2000" spc="300" dirty="0">
                <a:solidFill>
                  <a:srgbClr val="118AB2"/>
                </a:solidFill>
                <a:latin typeface="Anton" panose="00000500000000000000" pitchFamily="2" charset="0"/>
              </a:endParaRPr>
            </a:p>
          </p:txBody>
        </p:sp>
      </p:grp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11DDBD69-51C5-405D-BBBA-9C98635472A7}"/>
              </a:ext>
            </a:extLst>
          </p:cNvPr>
          <p:cNvCxnSpPr/>
          <p:nvPr/>
        </p:nvCxnSpPr>
        <p:spPr>
          <a:xfrm>
            <a:off x="2709929" y="7459369"/>
            <a:ext cx="2035978" cy="0"/>
          </a:xfrm>
          <a:prstGeom prst="line">
            <a:avLst/>
          </a:prstGeom>
          <a:ln w="19050">
            <a:solidFill>
              <a:srgbClr val="073B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B322033C-947B-45E0-B7B9-C72EDFB8F841}"/>
              </a:ext>
            </a:extLst>
          </p:cNvPr>
          <p:cNvCxnSpPr/>
          <p:nvPr/>
        </p:nvCxnSpPr>
        <p:spPr>
          <a:xfrm>
            <a:off x="4616467" y="7661103"/>
            <a:ext cx="2035978" cy="0"/>
          </a:xfrm>
          <a:prstGeom prst="line">
            <a:avLst/>
          </a:prstGeom>
          <a:ln w="19050">
            <a:solidFill>
              <a:srgbClr val="118A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5A413F8D-A016-4F17-9D7E-67A113EEAEB9}"/>
              </a:ext>
            </a:extLst>
          </p:cNvPr>
          <p:cNvCxnSpPr/>
          <p:nvPr/>
        </p:nvCxnSpPr>
        <p:spPr>
          <a:xfrm>
            <a:off x="3175981" y="8419721"/>
            <a:ext cx="2035978" cy="0"/>
          </a:xfrm>
          <a:prstGeom prst="line">
            <a:avLst/>
          </a:prstGeom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CE59764A-0547-492E-ADF3-0F1B714FE7D4}"/>
              </a:ext>
            </a:extLst>
          </p:cNvPr>
          <p:cNvCxnSpPr/>
          <p:nvPr/>
        </p:nvCxnSpPr>
        <p:spPr>
          <a:xfrm>
            <a:off x="3203856" y="8896931"/>
            <a:ext cx="2035978" cy="0"/>
          </a:xfrm>
          <a:prstGeom prst="line">
            <a:avLst/>
          </a:prstGeom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F4173C33-F9C9-4068-BCB2-D6F11BAD3815}"/>
              </a:ext>
            </a:extLst>
          </p:cNvPr>
          <p:cNvGrpSpPr/>
          <p:nvPr/>
        </p:nvGrpSpPr>
        <p:grpSpPr>
          <a:xfrm>
            <a:off x="-4477871" y="6603896"/>
            <a:ext cx="2553613" cy="1285380"/>
            <a:chOff x="2082574" y="1263788"/>
            <a:chExt cx="2553613" cy="1285380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454B8B73-02CD-45F2-A244-9B42C0DCFA48}"/>
                </a:ext>
              </a:extLst>
            </p:cNvPr>
            <p:cNvGrpSpPr/>
            <p:nvPr/>
          </p:nvGrpSpPr>
          <p:grpSpPr>
            <a:xfrm>
              <a:off x="2082574" y="1263788"/>
              <a:ext cx="2553613" cy="1285380"/>
              <a:chOff x="2737657" y="2913616"/>
              <a:chExt cx="3059084" cy="1539813"/>
            </a:xfrm>
            <a:scene3d>
              <a:camera prst="orthographicFront">
                <a:rot lat="0" lon="0" rev="2400000"/>
              </a:camera>
              <a:lightRig rig="threePt" dir="t"/>
            </a:scene3d>
          </p:grpSpPr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8F70A12A-955A-44CA-AD14-CF775C1316A4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EE2BC23F-E057-433F-AD42-8B238FA1B9CC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2ED7E8C7-0ACF-4CBA-A6AE-5E93363CFD54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073B4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21B79F32-9457-46C6-9309-0F1ECB18C1F2}"/>
                </a:ext>
              </a:extLst>
            </p:cNvPr>
            <p:cNvSpPr txBox="1"/>
            <p:nvPr/>
          </p:nvSpPr>
          <p:spPr>
            <a:xfrm rot="19173824">
              <a:off x="3304028" y="2073478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073B4C"/>
                  </a:solidFill>
                  <a:latin typeface="Anton" panose="00000500000000000000" pitchFamily="2" charset="0"/>
                </a:rPr>
                <a:t>01</a:t>
              </a:r>
              <a:endParaRPr lang="en-US" sz="2000" spc="300" dirty="0">
                <a:solidFill>
                  <a:srgbClr val="073B4C"/>
                </a:solidFill>
                <a:latin typeface="Anton" panose="00000500000000000000" pitchFamily="2" charset="0"/>
              </a:endParaRPr>
            </a:p>
          </p:txBody>
        </p:sp>
      </p:grpSp>
      <p:sp>
        <p:nvSpPr>
          <p:cNvPr id="149" name="TextBox 148">
            <a:extLst>
              <a:ext uri="{FF2B5EF4-FFF2-40B4-BE49-F238E27FC236}">
                <a16:creationId xmlns:a16="http://schemas.microsoft.com/office/drawing/2014/main" id="{55182AE9-631D-4DC8-BB96-2460DA99BD6D}"/>
              </a:ext>
            </a:extLst>
          </p:cNvPr>
          <p:cNvSpPr txBox="1"/>
          <p:nvPr/>
        </p:nvSpPr>
        <p:spPr>
          <a:xfrm>
            <a:off x="2479648" y="7065395"/>
            <a:ext cx="1962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073B4C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PROPONENTS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EBADC8B7-E6F2-4DE6-A5B6-756A57DE88DE}"/>
              </a:ext>
            </a:extLst>
          </p:cNvPr>
          <p:cNvSpPr txBox="1"/>
          <p:nvPr/>
        </p:nvSpPr>
        <p:spPr>
          <a:xfrm>
            <a:off x="3408632" y="7897107"/>
            <a:ext cx="1962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118AB2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RATIONALE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5EEE4FEB-1D13-46C0-B11F-64AE2B6474EB}"/>
              </a:ext>
            </a:extLst>
          </p:cNvPr>
          <p:cNvSpPr txBox="1"/>
          <p:nvPr/>
        </p:nvSpPr>
        <p:spPr>
          <a:xfrm>
            <a:off x="4761472" y="8713678"/>
            <a:ext cx="1962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06D6A0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OBJECTIVES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1135AB04-9581-4CE2-8074-1E0A50C351D4}"/>
              </a:ext>
            </a:extLst>
          </p:cNvPr>
          <p:cNvSpPr txBox="1"/>
          <p:nvPr/>
        </p:nvSpPr>
        <p:spPr>
          <a:xfrm>
            <a:off x="4899403" y="8015735"/>
            <a:ext cx="2199185" cy="500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FFD166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SCOPE AND LIMITATION</a:t>
            </a:r>
          </a:p>
          <a:p>
            <a:pPr algn="ctr"/>
            <a:r>
              <a:rPr lang="en-IN" sz="1050" dirty="0">
                <a:latin typeface="Economica" panose="02000506040000020004" pitchFamily="2" charset="0"/>
              </a:rPr>
              <a:t>.</a:t>
            </a:r>
            <a:endParaRPr lang="en-US" sz="1050" dirty="0">
              <a:latin typeface="Economica" panose="02000506040000020004" pitchFamily="2" charset="0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3AC86DB6-6075-4A43-BF54-11BD4D3DC9C1}"/>
              </a:ext>
            </a:extLst>
          </p:cNvPr>
          <p:cNvSpPr txBox="1"/>
          <p:nvPr/>
        </p:nvSpPr>
        <p:spPr>
          <a:xfrm>
            <a:off x="5992024" y="7201456"/>
            <a:ext cx="1962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EF476F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METHODOLOGY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A1EDEF-FC10-4312-B134-CA6096982D3B}"/>
              </a:ext>
            </a:extLst>
          </p:cNvPr>
          <p:cNvSpPr/>
          <p:nvPr/>
        </p:nvSpPr>
        <p:spPr>
          <a:xfrm>
            <a:off x="4424075" y="6603896"/>
            <a:ext cx="3608487" cy="2266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D08ABF5C-1D62-4495-AB80-6BAD31305015}"/>
              </a:ext>
            </a:extLst>
          </p:cNvPr>
          <p:cNvCxnSpPr>
            <a:cxnSpLocks/>
          </p:cNvCxnSpPr>
          <p:nvPr/>
        </p:nvCxnSpPr>
        <p:spPr>
          <a:xfrm>
            <a:off x="575396" y="6552193"/>
            <a:ext cx="11007004" cy="0"/>
          </a:xfrm>
          <a:prstGeom prst="line">
            <a:avLst/>
          </a:prstGeom>
          <a:ln w="19050">
            <a:solidFill>
              <a:srgbClr val="EF47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FA6828C3-496B-4E99-B576-2C27983D3C7C}"/>
              </a:ext>
            </a:extLst>
          </p:cNvPr>
          <p:cNvSpPr txBox="1"/>
          <p:nvPr/>
        </p:nvSpPr>
        <p:spPr>
          <a:xfrm>
            <a:off x="4899403" y="3109493"/>
            <a:ext cx="25266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Methodology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7966574-D490-4AE9-AE69-1297CEE24495}"/>
              </a:ext>
            </a:extLst>
          </p:cNvPr>
          <p:cNvSpPr txBox="1"/>
          <p:nvPr/>
        </p:nvSpPr>
        <p:spPr>
          <a:xfrm>
            <a:off x="425730" y="-2579486"/>
            <a:ext cx="1063392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 fontAlgn="base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Data Source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</a:pPr>
            <a:endParaRPr lang="en-US" sz="18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</a:rPr>
              <a:t>Surveys</a:t>
            </a:r>
            <a:r>
              <a:rPr lang="en-US" sz="1800" i="0" u="none" strike="noStrike" dirty="0">
                <a:solidFill>
                  <a:srgbClr val="000000"/>
                </a:solidFill>
                <a:effectLst/>
              </a:rPr>
              <a:t>: Conducted with instructors, students, and IT experts to evaluate the effectiveness and usability of the AI-generated slides.</a:t>
            </a: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80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</a:rPr>
              <a:t>System Input: </a:t>
            </a:r>
            <a:r>
              <a:rPr lang="en-US" sz="1800" i="0" u="none" strike="noStrike" dirty="0">
                <a:solidFill>
                  <a:srgbClr val="000000"/>
                </a:solidFill>
                <a:effectLst/>
              </a:rPr>
              <a:t>Prompt commands, user-defined topics, and existing presentation materials were used as test inputs to assess the AI’s content generation capabilities.</a:t>
            </a:r>
            <a:endParaRPr lang="en-US" dirty="0">
              <a:effectLst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78E7631-8574-456C-90B9-EF95173E4A64}"/>
              </a:ext>
            </a:extLst>
          </p:cNvPr>
          <p:cNvSpPr txBox="1"/>
          <p:nvPr/>
        </p:nvSpPr>
        <p:spPr>
          <a:xfrm>
            <a:off x="-87096" y="-5522236"/>
            <a:ext cx="1100700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 fontAlgn="base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Mixed Method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</a:pPr>
            <a:endParaRPr lang="en-US" sz="180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7429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</a:rPr>
              <a:t>Quantitative Research:</a:t>
            </a:r>
          </a:p>
          <a:p>
            <a:pPr marL="914400" lvl="1"/>
            <a:r>
              <a:rPr lang="en-US" i="0" u="none" strike="noStrike" dirty="0">
                <a:solidFill>
                  <a:srgbClr val="000000"/>
                </a:solidFill>
                <a:effectLst/>
              </a:rPr>
              <a:t>Measures the system’s efficiency, such as speed of content generation and relevance of generated slides to user prompts, based on predefined criteria.</a:t>
            </a:r>
          </a:p>
          <a:p>
            <a:pPr marL="457200" rtl="0">
              <a:spcBef>
                <a:spcPts val="0"/>
              </a:spcBef>
              <a:spcAft>
                <a:spcPts val="0"/>
              </a:spcAft>
            </a:pPr>
            <a:br>
              <a:rPr lang="en-US" dirty="0"/>
            </a:br>
            <a:endParaRPr lang="en-US" dirty="0">
              <a:effectLst/>
            </a:endParaRPr>
          </a:p>
          <a:p>
            <a:pPr marL="7429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</a:rPr>
              <a:t>Qualitative research:</a:t>
            </a:r>
          </a:p>
          <a:p>
            <a:pPr marL="914400" lvl="1"/>
            <a:r>
              <a:rPr lang="en-US" i="0" u="none" strike="noStrike" dirty="0">
                <a:effectLst/>
              </a:rPr>
              <a:t>Feedback was gathered from actual users through surveys and questionnaires, and additional information was collected through online research</a:t>
            </a:r>
          </a:p>
          <a:p>
            <a:pPr marL="457200" rtl="0">
              <a:spcBef>
                <a:spcPts val="0"/>
              </a:spcBef>
              <a:spcAft>
                <a:spcPts val="0"/>
              </a:spcAft>
            </a:pPr>
            <a:r>
              <a:rPr lang="en-US" sz="1800" i="0" u="none" strike="noStrike" dirty="0">
                <a:solidFill>
                  <a:srgbClr val="000000"/>
                </a:solidFill>
                <a:effectLst/>
              </a:rPr>
              <a:t> </a:t>
            </a:r>
            <a:endParaRPr lang="en-US" dirty="0">
              <a:effectLst/>
            </a:endParaRP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1496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Oval 53">
            <a:extLst>
              <a:ext uri="{FF2B5EF4-FFF2-40B4-BE49-F238E27FC236}">
                <a16:creationId xmlns:a16="http://schemas.microsoft.com/office/drawing/2014/main" id="{E75E415E-D168-4A64-BFEB-CF6E5E91C618}"/>
              </a:ext>
            </a:extLst>
          </p:cNvPr>
          <p:cNvSpPr/>
          <p:nvPr/>
        </p:nvSpPr>
        <p:spPr>
          <a:xfrm>
            <a:off x="4100900" y="5769562"/>
            <a:ext cx="3554083" cy="1174161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85000"/>
                  <a:alpha val="0"/>
                </a:schemeClr>
              </a:gs>
              <a:gs pos="95000">
                <a:schemeClr val="tx1">
                  <a:lumMod val="85000"/>
                  <a:lumOff val="15000"/>
                </a:schemeClr>
              </a:gs>
            </a:gsLst>
            <a:lin ang="0" scaled="1"/>
            <a:tileRect/>
          </a:gradFill>
          <a:ln>
            <a:noFill/>
          </a:ln>
          <a:effectLst>
            <a:softEdge rad="3048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59A91C9-5054-421D-8AB9-E071BA377352}"/>
              </a:ext>
            </a:extLst>
          </p:cNvPr>
          <p:cNvGrpSpPr/>
          <p:nvPr/>
        </p:nvGrpSpPr>
        <p:grpSpPr>
          <a:xfrm rot="19436487">
            <a:off x="4815573" y="5027855"/>
            <a:ext cx="3355676" cy="1400788"/>
            <a:chOff x="2038070" y="4505166"/>
            <a:chExt cx="3355676" cy="1400788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343157D5-4FF2-4FA1-9D59-419EF512DD63}"/>
                </a:ext>
              </a:extLst>
            </p:cNvPr>
            <p:cNvGrpSpPr/>
            <p:nvPr/>
          </p:nvGrpSpPr>
          <p:grpSpPr>
            <a:xfrm>
              <a:off x="2038070" y="4505166"/>
              <a:ext cx="3355676" cy="1400788"/>
              <a:chOff x="2596550" y="2775364"/>
              <a:chExt cx="4019910" cy="1678065"/>
            </a:xfrm>
            <a:scene3d>
              <a:camera prst="orthographicFront">
                <a:rot lat="0" lon="0" rev="19199999"/>
              </a:camera>
              <a:lightRig rig="threePt" dir="t"/>
            </a:scene3d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892C5BCC-B12D-4C7A-B111-34582936145D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B67A78B7-6B3D-456A-A208-4D26B1ABD8E3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1E2ED20F-42CC-4834-B53D-E458D5168208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EF476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475AEADC-907C-4D82-B7F4-153288554B19}"/>
                  </a:ext>
                </a:extLst>
              </p:cNvPr>
              <p:cNvSpPr/>
              <p:nvPr/>
            </p:nvSpPr>
            <p:spPr>
              <a:xfrm>
                <a:off x="2596550" y="2775364"/>
                <a:ext cx="4019910" cy="137394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alpha val="0"/>
                    </a:schemeClr>
                  </a:gs>
                  <a:gs pos="95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softEdge rad="266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4501ABC5-43E0-49AC-BC00-8C50BB95BF58}"/>
                </a:ext>
              </a:extLst>
            </p:cNvPr>
            <p:cNvSpPr txBox="1"/>
            <p:nvPr/>
          </p:nvSpPr>
          <p:spPr>
            <a:xfrm rot="2317436">
              <a:off x="3084625" y="5387604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EF476F"/>
                  </a:solidFill>
                  <a:latin typeface="Anton" panose="00000500000000000000" pitchFamily="2" charset="0"/>
                </a:rPr>
                <a:t>05</a:t>
              </a:r>
              <a:endParaRPr lang="en-US" sz="2000" spc="300" dirty="0">
                <a:solidFill>
                  <a:srgbClr val="EF476F"/>
                </a:solidFill>
                <a:latin typeface="Anton" panose="00000500000000000000" pitchFamily="2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0F3C0F4-B6E4-4C48-9EF4-98AD4F55FA69}"/>
              </a:ext>
            </a:extLst>
          </p:cNvPr>
          <p:cNvGrpSpPr/>
          <p:nvPr/>
        </p:nvGrpSpPr>
        <p:grpSpPr>
          <a:xfrm>
            <a:off x="-615454" y="8280152"/>
            <a:ext cx="3355676" cy="1400788"/>
            <a:chOff x="2459965" y="3663791"/>
            <a:chExt cx="3355676" cy="140078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A5F928E-6A3A-4AC3-B40D-78D692B6B9A6}"/>
                </a:ext>
              </a:extLst>
            </p:cNvPr>
            <p:cNvGrpSpPr/>
            <p:nvPr/>
          </p:nvGrpSpPr>
          <p:grpSpPr>
            <a:xfrm>
              <a:off x="2459965" y="3663791"/>
              <a:ext cx="3355676" cy="1400788"/>
              <a:chOff x="2596550" y="2775364"/>
              <a:chExt cx="4019910" cy="1678065"/>
            </a:xfrm>
            <a:scene3d>
              <a:camera prst="orthographicFront">
                <a:rot lat="0" lon="0" rev="20399999"/>
              </a:camera>
              <a:lightRig rig="threePt" dir="t"/>
            </a:scene3d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8B059B1-A6BA-41B1-862D-EFADE8A7E0E4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5A53785F-C2D2-4537-BF9E-41355E3DFB81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9D5353B7-0849-4523-BD12-172B32B20B51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FFD1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966420CD-FEF1-49EC-8302-619086DCC8A7}"/>
                  </a:ext>
                </a:extLst>
              </p:cNvPr>
              <p:cNvSpPr/>
              <p:nvPr/>
            </p:nvSpPr>
            <p:spPr>
              <a:xfrm>
                <a:off x="2596550" y="2775364"/>
                <a:ext cx="4019910" cy="137394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alpha val="0"/>
                    </a:schemeClr>
                  </a:gs>
                  <a:gs pos="95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softEdge rad="266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18C98E25-E4E3-49C9-BF77-2540DFCDED07}"/>
                </a:ext>
              </a:extLst>
            </p:cNvPr>
            <p:cNvSpPr txBox="1"/>
            <p:nvPr/>
          </p:nvSpPr>
          <p:spPr>
            <a:xfrm rot="962716">
              <a:off x="3693611" y="4653891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FFD166"/>
                  </a:solidFill>
                  <a:latin typeface="Anton" panose="00000500000000000000" pitchFamily="2" charset="0"/>
                </a:rPr>
                <a:t>04</a:t>
              </a:r>
              <a:endParaRPr lang="en-US" sz="2000" spc="300" dirty="0">
                <a:solidFill>
                  <a:srgbClr val="FFD166"/>
                </a:solidFill>
                <a:latin typeface="Anton" panose="00000500000000000000" pitchFamily="2" charset="0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A1592EFB-3A7E-45D6-A98E-2179EC9E0047}"/>
              </a:ext>
            </a:extLst>
          </p:cNvPr>
          <p:cNvGrpSpPr/>
          <p:nvPr/>
        </p:nvGrpSpPr>
        <p:grpSpPr>
          <a:xfrm>
            <a:off x="-3201065" y="7889276"/>
            <a:ext cx="3355676" cy="1400788"/>
            <a:chOff x="2589362" y="2728606"/>
            <a:chExt cx="3355676" cy="1400788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F3D935D-0ECA-4D6F-BEFE-A1CB93FD10E7}"/>
                </a:ext>
              </a:extLst>
            </p:cNvPr>
            <p:cNvGrpSpPr/>
            <p:nvPr/>
          </p:nvGrpSpPr>
          <p:grpSpPr>
            <a:xfrm>
              <a:off x="2589362" y="2728606"/>
              <a:ext cx="3355676" cy="1400788"/>
              <a:chOff x="2596550" y="2775364"/>
              <a:chExt cx="4019910" cy="1678065"/>
            </a:xfrm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561C2D06-12A5-43AC-90FD-8DE901D4A5A9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1DACD449-33AF-4702-91CF-490058943DF5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97505746-BE53-4BA7-8480-35238ED37367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06D6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F200FD4-1487-46E5-900E-DE692E1F5E2C}"/>
                  </a:ext>
                </a:extLst>
              </p:cNvPr>
              <p:cNvSpPr/>
              <p:nvPr/>
            </p:nvSpPr>
            <p:spPr>
              <a:xfrm>
                <a:off x="2596550" y="2775364"/>
                <a:ext cx="4019910" cy="137394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alpha val="0"/>
                    </a:schemeClr>
                  </a:gs>
                  <a:gs pos="95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softEdge rad="266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A80DC888-46C4-49C5-8C75-8CDF81E54FAC}"/>
                </a:ext>
              </a:extLst>
            </p:cNvPr>
            <p:cNvSpPr txBox="1"/>
            <p:nvPr/>
          </p:nvSpPr>
          <p:spPr>
            <a:xfrm>
              <a:off x="3908292" y="3708324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06D6A0"/>
                  </a:solidFill>
                  <a:latin typeface="Anton" panose="00000500000000000000" pitchFamily="2" charset="0"/>
                </a:rPr>
                <a:t>03</a:t>
              </a:r>
              <a:endParaRPr lang="en-US" sz="2000" spc="300" dirty="0">
                <a:solidFill>
                  <a:srgbClr val="06D6A0"/>
                </a:solidFill>
                <a:latin typeface="Anton" panose="00000500000000000000" pitchFamily="2" charset="0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02B6B8B-8297-4273-8010-61142DF79695}"/>
              </a:ext>
            </a:extLst>
          </p:cNvPr>
          <p:cNvGrpSpPr/>
          <p:nvPr/>
        </p:nvGrpSpPr>
        <p:grpSpPr>
          <a:xfrm>
            <a:off x="-4789415" y="4750005"/>
            <a:ext cx="3355676" cy="1428965"/>
            <a:chOff x="2376531" y="1804037"/>
            <a:chExt cx="3355676" cy="1428965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62C35E0C-2906-4AAF-8057-3A40B59EE48B}"/>
                </a:ext>
              </a:extLst>
            </p:cNvPr>
            <p:cNvGrpSpPr/>
            <p:nvPr/>
          </p:nvGrpSpPr>
          <p:grpSpPr>
            <a:xfrm>
              <a:off x="2376531" y="1804037"/>
              <a:ext cx="3355676" cy="1400788"/>
              <a:chOff x="2596550" y="2775364"/>
              <a:chExt cx="4019910" cy="1678065"/>
            </a:xfrm>
            <a:scene3d>
              <a:camera prst="orthographicFront">
                <a:rot lat="0" lon="0" rev="1200000"/>
              </a:camera>
              <a:lightRig rig="threePt" dir="t"/>
            </a:scene3d>
          </p:grpSpPr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129D9395-4F7F-469C-A275-CFE0E62E8CDB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A3AAFBC9-A40E-444C-AE46-4536C94E12FD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2BA9BCEE-9897-4C90-A035-492954969E3F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118A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3C0E6B84-CBA1-4654-8281-81A3F63EE4B8}"/>
                  </a:ext>
                </a:extLst>
              </p:cNvPr>
              <p:cNvSpPr/>
              <p:nvPr/>
            </p:nvSpPr>
            <p:spPr>
              <a:xfrm>
                <a:off x="2596550" y="2775364"/>
                <a:ext cx="4019910" cy="137394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alpha val="0"/>
                    </a:schemeClr>
                  </a:gs>
                  <a:gs pos="95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softEdge rad="266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0CBCCC58-A312-4FD0-A98A-20092941C790}"/>
                </a:ext>
              </a:extLst>
            </p:cNvPr>
            <p:cNvSpPr txBox="1"/>
            <p:nvPr/>
          </p:nvSpPr>
          <p:spPr>
            <a:xfrm rot="20409358">
              <a:off x="3733524" y="2832892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118AB2"/>
                  </a:solidFill>
                  <a:latin typeface="Anton" panose="00000500000000000000" pitchFamily="2" charset="0"/>
                </a:rPr>
                <a:t>02</a:t>
              </a:r>
              <a:endParaRPr lang="en-US" sz="2000" spc="300" dirty="0">
                <a:solidFill>
                  <a:srgbClr val="118AB2"/>
                </a:solidFill>
                <a:latin typeface="Anton" panose="00000500000000000000" pitchFamily="2" charset="0"/>
              </a:endParaRPr>
            </a:p>
          </p:txBody>
        </p:sp>
      </p:grp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11DDBD69-51C5-405D-BBBA-9C98635472A7}"/>
              </a:ext>
            </a:extLst>
          </p:cNvPr>
          <p:cNvCxnSpPr/>
          <p:nvPr/>
        </p:nvCxnSpPr>
        <p:spPr>
          <a:xfrm>
            <a:off x="2709929" y="7459369"/>
            <a:ext cx="2035978" cy="0"/>
          </a:xfrm>
          <a:prstGeom prst="line">
            <a:avLst/>
          </a:prstGeom>
          <a:ln w="19050">
            <a:solidFill>
              <a:srgbClr val="073B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B322033C-947B-45E0-B7B9-C72EDFB8F841}"/>
              </a:ext>
            </a:extLst>
          </p:cNvPr>
          <p:cNvCxnSpPr/>
          <p:nvPr/>
        </p:nvCxnSpPr>
        <p:spPr>
          <a:xfrm>
            <a:off x="4616467" y="7661103"/>
            <a:ext cx="2035978" cy="0"/>
          </a:xfrm>
          <a:prstGeom prst="line">
            <a:avLst/>
          </a:prstGeom>
          <a:ln w="19050">
            <a:solidFill>
              <a:srgbClr val="118A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5A413F8D-A016-4F17-9D7E-67A113EEAEB9}"/>
              </a:ext>
            </a:extLst>
          </p:cNvPr>
          <p:cNvCxnSpPr/>
          <p:nvPr/>
        </p:nvCxnSpPr>
        <p:spPr>
          <a:xfrm>
            <a:off x="3175981" y="8419721"/>
            <a:ext cx="2035978" cy="0"/>
          </a:xfrm>
          <a:prstGeom prst="line">
            <a:avLst/>
          </a:prstGeom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CE59764A-0547-492E-ADF3-0F1B714FE7D4}"/>
              </a:ext>
            </a:extLst>
          </p:cNvPr>
          <p:cNvCxnSpPr/>
          <p:nvPr/>
        </p:nvCxnSpPr>
        <p:spPr>
          <a:xfrm>
            <a:off x="3203856" y="8896931"/>
            <a:ext cx="2035978" cy="0"/>
          </a:xfrm>
          <a:prstGeom prst="line">
            <a:avLst/>
          </a:prstGeom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F4173C33-F9C9-4068-BCB2-D6F11BAD3815}"/>
              </a:ext>
            </a:extLst>
          </p:cNvPr>
          <p:cNvGrpSpPr/>
          <p:nvPr/>
        </p:nvGrpSpPr>
        <p:grpSpPr>
          <a:xfrm>
            <a:off x="-4477871" y="6603896"/>
            <a:ext cx="2553613" cy="1285380"/>
            <a:chOff x="2082574" y="1263788"/>
            <a:chExt cx="2553613" cy="1285380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454B8B73-02CD-45F2-A244-9B42C0DCFA48}"/>
                </a:ext>
              </a:extLst>
            </p:cNvPr>
            <p:cNvGrpSpPr/>
            <p:nvPr/>
          </p:nvGrpSpPr>
          <p:grpSpPr>
            <a:xfrm>
              <a:off x="2082574" y="1263788"/>
              <a:ext cx="2553613" cy="1285380"/>
              <a:chOff x="2737657" y="2913616"/>
              <a:chExt cx="3059084" cy="1539813"/>
            </a:xfrm>
            <a:scene3d>
              <a:camera prst="orthographicFront">
                <a:rot lat="0" lon="0" rev="2400000"/>
              </a:camera>
              <a:lightRig rig="threePt" dir="t"/>
            </a:scene3d>
          </p:grpSpPr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8F70A12A-955A-44CA-AD14-CF775C1316A4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EE2BC23F-E057-433F-AD42-8B238FA1B9CC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2ED7E8C7-0ACF-4CBA-A6AE-5E93363CFD54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073B4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21B79F32-9457-46C6-9309-0F1ECB18C1F2}"/>
                </a:ext>
              </a:extLst>
            </p:cNvPr>
            <p:cNvSpPr txBox="1"/>
            <p:nvPr/>
          </p:nvSpPr>
          <p:spPr>
            <a:xfrm rot="19173824">
              <a:off x="3304028" y="2073478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073B4C"/>
                  </a:solidFill>
                  <a:latin typeface="Anton" panose="00000500000000000000" pitchFamily="2" charset="0"/>
                </a:rPr>
                <a:t>01</a:t>
              </a:r>
              <a:endParaRPr lang="en-US" sz="2000" spc="300" dirty="0">
                <a:solidFill>
                  <a:srgbClr val="073B4C"/>
                </a:solidFill>
                <a:latin typeface="Anton" panose="00000500000000000000" pitchFamily="2" charset="0"/>
              </a:endParaRPr>
            </a:p>
          </p:txBody>
        </p:sp>
      </p:grpSp>
      <p:sp>
        <p:nvSpPr>
          <p:cNvPr id="149" name="TextBox 148">
            <a:extLst>
              <a:ext uri="{FF2B5EF4-FFF2-40B4-BE49-F238E27FC236}">
                <a16:creationId xmlns:a16="http://schemas.microsoft.com/office/drawing/2014/main" id="{55182AE9-631D-4DC8-BB96-2460DA99BD6D}"/>
              </a:ext>
            </a:extLst>
          </p:cNvPr>
          <p:cNvSpPr txBox="1"/>
          <p:nvPr/>
        </p:nvSpPr>
        <p:spPr>
          <a:xfrm>
            <a:off x="2479648" y="7065395"/>
            <a:ext cx="1962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073B4C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PROPONENTS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EBADC8B7-E6F2-4DE6-A5B6-756A57DE88DE}"/>
              </a:ext>
            </a:extLst>
          </p:cNvPr>
          <p:cNvSpPr txBox="1"/>
          <p:nvPr/>
        </p:nvSpPr>
        <p:spPr>
          <a:xfrm>
            <a:off x="3408632" y="7897107"/>
            <a:ext cx="1962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118AB2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RATIONALE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5EEE4FEB-1D13-46C0-B11F-64AE2B6474EB}"/>
              </a:ext>
            </a:extLst>
          </p:cNvPr>
          <p:cNvSpPr txBox="1"/>
          <p:nvPr/>
        </p:nvSpPr>
        <p:spPr>
          <a:xfrm>
            <a:off x="4761472" y="8713678"/>
            <a:ext cx="1962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06D6A0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OBJECTIVES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1135AB04-9581-4CE2-8074-1E0A50C351D4}"/>
              </a:ext>
            </a:extLst>
          </p:cNvPr>
          <p:cNvSpPr txBox="1"/>
          <p:nvPr/>
        </p:nvSpPr>
        <p:spPr>
          <a:xfrm>
            <a:off x="4899403" y="8015735"/>
            <a:ext cx="2199185" cy="500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FFD166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SCOPE AND LIMITATION</a:t>
            </a:r>
          </a:p>
          <a:p>
            <a:pPr algn="ctr"/>
            <a:r>
              <a:rPr lang="en-IN" sz="1050" dirty="0">
                <a:latin typeface="Economica" panose="02000506040000020004" pitchFamily="2" charset="0"/>
              </a:rPr>
              <a:t>.</a:t>
            </a:r>
            <a:endParaRPr lang="en-US" sz="1050" dirty="0">
              <a:latin typeface="Economica" panose="02000506040000020004" pitchFamily="2" charset="0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3AC86DB6-6075-4A43-BF54-11BD4D3DC9C1}"/>
              </a:ext>
            </a:extLst>
          </p:cNvPr>
          <p:cNvSpPr txBox="1"/>
          <p:nvPr/>
        </p:nvSpPr>
        <p:spPr>
          <a:xfrm>
            <a:off x="5992024" y="7201456"/>
            <a:ext cx="1962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EF476F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METHODOLOGY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A1EDEF-FC10-4312-B134-CA6096982D3B}"/>
              </a:ext>
            </a:extLst>
          </p:cNvPr>
          <p:cNvSpPr/>
          <p:nvPr/>
        </p:nvSpPr>
        <p:spPr>
          <a:xfrm>
            <a:off x="4424075" y="6603896"/>
            <a:ext cx="3608487" cy="2266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D08ABF5C-1D62-4495-AB80-6BAD31305015}"/>
              </a:ext>
            </a:extLst>
          </p:cNvPr>
          <p:cNvCxnSpPr>
            <a:cxnSpLocks/>
          </p:cNvCxnSpPr>
          <p:nvPr/>
        </p:nvCxnSpPr>
        <p:spPr>
          <a:xfrm>
            <a:off x="575396" y="6552193"/>
            <a:ext cx="11007004" cy="0"/>
          </a:xfrm>
          <a:prstGeom prst="line">
            <a:avLst/>
          </a:prstGeom>
          <a:ln w="19050">
            <a:solidFill>
              <a:srgbClr val="EF47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FA6828C3-496B-4E99-B576-2C27983D3C7C}"/>
              </a:ext>
            </a:extLst>
          </p:cNvPr>
          <p:cNvSpPr txBox="1"/>
          <p:nvPr/>
        </p:nvSpPr>
        <p:spPr>
          <a:xfrm>
            <a:off x="5064112" y="9214363"/>
            <a:ext cx="25266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Methodology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40D545-B147-4DBA-8BC2-E4C74FDA51F3}"/>
              </a:ext>
            </a:extLst>
          </p:cNvPr>
          <p:cNvSpPr txBox="1"/>
          <p:nvPr/>
        </p:nvSpPr>
        <p:spPr>
          <a:xfrm>
            <a:off x="239190" y="187000"/>
            <a:ext cx="1100700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 fontAlgn="base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Mixed Method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</a:pPr>
            <a:endParaRPr lang="en-US" sz="180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7429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</a:rPr>
              <a:t>Quantitative Research:</a:t>
            </a:r>
          </a:p>
          <a:p>
            <a:pPr marL="914400" lvl="1"/>
            <a:r>
              <a:rPr lang="en-US" i="0" u="none" strike="noStrike" dirty="0">
                <a:solidFill>
                  <a:srgbClr val="000000"/>
                </a:solidFill>
                <a:effectLst/>
              </a:rPr>
              <a:t>Measures the system’s efficiency, such as speed of content generation and relevance of generated slides to user prompts, based on predefined criteria.</a:t>
            </a:r>
          </a:p>
          <a:p>
            <a:pPr marL="457200" rtl="0">
              <a:spcBef>
                <a:spcPts val="0"/>
              </a:spcBef>
              <a:spcAft>
                <a:spcPts val="0"/>
              </a:spcAft>
            </a:pPr>
            <a:br>
              <a:rPr lang="en-US" dirty="0"/>
            </a:br>
            <a:endParaRPr lang="en-US" dirty="0">
              <a:effectLst/>
            </a:endParaRPr>
          </a:p>
          <a:p>
            <a:pPr marL="7429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</a:rPr>
              <a:t>Qualitative research:</a:t>
            </a:r>
          </a:p>
          <a:p>
            <a:pPr marL="914400" lvl="1"/>
            <a:r>
              <a:rPr lang="en-US" i="0" u="none" strike="noStrike" dirty="0">
                <a:effectLst/>
              </a:rPr>
              <a:t>Feedback was gathered from actual users through surveys and questionnaires, and additional information was collected through online research</a:t>
            </a:r>
          </a:p>
          <a:p>
            <a:pPr marL="457200" rtl="0">
              <a:spcBef>
                <a:spcPts val="0"/>
              </a:spcBef>
              <a:spcAft>
                <a:spcPts val="0"/>
              </a:spcAft>
            </a:pPr>
            <a:r>
              <a:rPr lang="en-US" sz="1800" i="0" u="none" strike="noStrike" dirty="0">
                <a:solidFill>
                  <a:srgbClr val="000000"/>
                </a:solidFill>
                <a:effectLst/>
              </a:rPr>
              <a:t> </a:t>
            </a:r>
            <a:endParaRPr lang="en-US" dirty="0">
              <a:effectLst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9CD760-D554-4A3C-8A1C-79EE72FB37EF}"/>
              </a:ext>
            </a:extLst>
          </p:cNvPr>
          <p:cNvSpPr txBox="1"/>
          <p:nvPr/>
        </p:nvSpPr>
        <p:spPr>
          <a:xfrm>
            <a:off x="239190" y="3063047"/>
            <a:ext cx="1063392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 fontAlgn="base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Data Source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</a:pPr>
            <a:endParaRPr lang="en-US" sz="18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</a:rPr>
              <a:t>Surveys</a:t>
            </a:r>
            <a:r>
              <a:rPr lang="en-US" sz="1800" i="0" u="none" strike="noStrike" dirty="0">
                <a:solidFill>
                  <a:srgbClr val="000000"/>
                </a:solidFill>
                <a:effectLst/>
              </a:rPr>
              <a:t>: Conducted with instructors, students, and IT experts to evaluate the effectiveness and usability of the AI-generated slides.</a:t>
            </a: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80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</a:rPr>
              <a:t>System Input: </a:t>
            </a:r>
            <a:r>
              <a:rPr lang="en-US" sz="1800" i="0" u="none" strike="noStrike" dirty="0">
                <a:solidFill>
                  <a:srgbClr val="000000"/>
                </a:solidFill>
                <a:effectLst/>
              </a:rPr>
              <a:t>Prompt commands, user-defined topics, and existing presentation materials were used as test inputs to assess the AI’s content generation capabilities.</a:t>
            </a:r>
            <a:endParaRPr lang="en-US" dirty="0">
              <a:effectLst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13AB075-A1C4-497C-99EC-6CADB12CF11E}"/>
              </a:ext>
            </a:extLst>
          </p:cNvPr>
          <p:cNvSpPr txBox="1"/>
          <p:nvPr/>
        </p:nvSpPr>
        <p:spPr>
          <a:xfrm>
            <a:off x="774731" y="-5215663"/>
            <a:ext cx="717973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 fontAlgn="base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Software Development Methodology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</a:pPr>
            <a:endParaRPr lang="en-US" sz="18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Product Backlog Creation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en-US" dirty="0">
              <a:effectLst/>
            </a:endParaRP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Sprint Planning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en-US" dirty="0">
              <a:effectLst/>
            </a:endParaRP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Sprint Backlog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en-US" dirty="0">
              <a:effectLst/>
            </a:endParaRP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Daily Scrum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en-US" dirty="0">
              <a:effectLst/>
            </a:endParaRP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Increment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en-US" dirty="0">
              <a:effectLst/>
            </a:endParaRP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Sprint Review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en-US" dirty="0">
              <a:effectLst/>
            </a:endParaRP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Sprint Retrospective</a:t>
            </a:r>
            <a:endParaRPr lang="en-US" dirty="0">
              <a:effectLst/>
            </a:endParaRP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67431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Oval 53">
            <a:extLst>
              <a:ext uri="{FF2B5EF4-FFF2-40B4-BE49-F238E27FC236}">
                <a16:creationId xmlns:a16="http://schemas.microsoft.com/office/drawing/2014/main" id="{E75E415E-D168-4A64-BFEB-CF6E5E91C618}"/>
              </a:ext>
            </a:extLst>
          </p:cNvPr>
          <p:cNvSpPr/>
          <p:nvPr/>
        </p:nvSpPr>
        <p:spPr>
          <a:xfrm>
            <a:off x="4100900" y="5769562"/>
            <a:ext cx="3554083" cy="1174161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85000"/>
                  <a:alpha val="0"/>
                </a:schemeClr>
              </a:gs>
              <a:gs pos="95000">
                <a:schemeClr val="tx1">
                  <a:lumMod val="85000"/>
                  <a:lumOff val="15000"/>
                </a:schemeClr>
              </a:gs>
            </a:gsLst>
            <a:lin ang="0" scaled="1"/>
            <a:tileRect/>
          </a:gradFill>
          <a:ln>
            <a:noFill/>
          </a:ln>
          <a:effectLst>
            <a:softEdge rad="3048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59A91C9-5054-421D-8AB9-E071BA377352}"/>
              </a:ext>
            </a:extLst>
          </p:cNvPr>
          <p:cNvGrpSpPr/>
          <p:nvPr/>
        </p:nvGrpSpPr>
        <p:grpSpPr>
          <a:xfrm rot="19436487">
            <a:off x="4815573" y="5027855"/>
            <a:ext cx="3355676" cy="1400788"/>
            <a:chOff x="2038070" y="4505166"/>
            <a:chExt cx="3355676" cy="1400788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343157D5-4FF2-4FA1-9D59-419EF512DD63}"/>
                </a:ext>
              </a:extLst>
            </p:cNvPr>
            <p:cNvGrpSpPr/>
            <p:nvPr/>
          </p:nvGrpSpPr>
          <p:grpSpPr>
            <a:xfrm>
              <a:off x="2038070" y="4505166"/>
              <a:ext cx="3355676" cy="1400788"/>
              <a:chOff x="2596550" y="2775364"/>
              <a:chExt cx="4019910" cy="1678065"/>
            </a:xfrm>
            <a:scene3d>
              <a:camera prst="orthographicFront">
                <a:rot lat="0" lon="0" rev="19199999"/>
              </a:camera>
              <a:lightRig rig="threePt" dir="t"/>
            </a:scene3d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892C5BCC-B12D-4C7A-B111-34582936145D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B67A78B7-6B3D-456A-A208-4D26B1ABD8E3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1E2ED20F-42CC-4834-B53D-E458D5168208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EF476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475AEADC-907C-4D82-B7F4-153288554B19}"/>
                  </a:ext>
                </a:extLst>
              </p:cNvPr>
              <p:cNvSpPr/>
              <p:nvPr/>
            </p:nvSpPr>
            <p:spPr>
              <a:xfrm>
                <a:off x="2596550" y="2775364"/>
                <a:ext cx="4019910" cy="137394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alpha val="0"/>
                    </a:schemeClr>
                  </a:gs>
                  <a:gs pos="95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softEdge rad="266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4501ABC5-43E0-49AC-BC00-8C50BB95BF58}"/>
                </a:ext>
              </a:extLst>
            </p:cNvPr>
            <p:cNvSpPr txBox="1"/>
            <p:nvPr/>
          </p:nvSpPr>
          <p:spPr>
            <a:xfrm rot="2317436">
              <a:off x="3084625" y="5387604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EF476F"/>
                  </a:solidFill>
                  <a:latin typeface="Anton" panose="00000500000000000000" pitchFamily="2" charset="0"/>
                </a:rPr>
                <a:t>05</a:t>
              </a:r>
              <a:endParaRPr lang="en-US" sz="2000" spc="300" dirty="0">
                <a:solidFill>
                  <a:srgbClr val="EF476F"/>
                </a:solidFill>
                <a:latin typeface="Anton" panose="00000500000000000000" pitchFamily="2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0F3C0F4-B6E4-4C48-9EF4-98AD4F55FA69}"/>
              </a:ext>
            </a:extLst>
          </p:cNvPr>
          <p:cNvGrpSpPr/>
          <p:nvPr/>
        </p:nvGrpSpPr>
        <p:grpSpPr>
          <a:xfrm>
            <a:off x="-615454" y="8280152"/>
            <a:ext cx="3355676" cy="1400788"/>
            <a:chOff x="2459965" y="3663791"/>
            <a:chExt cx="3355676" cy="140078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A5F928E-6A3A-4AC3-B40D-78D692B6B9A6}"/>
                </a:ext>
              </a:extLst>
            </p:cNvPr>
            <p:cNvGrpSpPr/>
            <p:nvPr/>
          </p:nvGrpSpPr>
          <p:grpSpPr>
            <a:xfrm>
              <a:off x="2459965" y="3663791"/>
              <a:ext cx="3355676" cy="1400788"/>
              <a:chOff x="2596550" y="2775364"/>
              <a:chExt cx="4019910" cy="1678065"/>
            </a:xfrm>
            <a:scene3d>
              <a:camera prst="orthographicFront">
                <a:rot lat="0" lon="0" rev="20399999"/>
              </a:camera>
              <a:lightRig rig="threePt" dir="t"/>
            </a:scene3d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8B059B1-A6BA-41B1-862D-EFADE8A7E0E4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5A53785F-C2D2-4537-BF9E-41355E3DFB81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9D5353B7-0849-4523-BD12-172B32B20B51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FFD1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966420CD-FEF1-49EC-8302-619086DCC8A7}"/>
                  </a:ext>
                </a:extLst>
              </p:cNvPr>
              <p:cNvSpPr/>
              <p:nvPr/>
            </p:nvSpPr>
            <p:spPr>
              <a:xfrm>
                <a:off x="2596550" y="2775364"/>
                <a:ext cx="4019910" cy="137394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alpha val="0"/>
                    </a:schemeClr>
                  </a:gs>
                  <a:gs pos="95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softEdge rad="266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18C98E25-E4E3-49C9-BF77-2540DFCDED07}"/>
                </a:ext>
              </a:extLst>
            </p:cNvPr>
            <p:cNvSpPr txBox="1"/>
            <p:nvPr/>
          </p:nvSpPr>
          <p:spPr>
            <a:xfrm rot="962716">
              <a:off x="3693611" y="4653891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FFD166"/>
                  </a:solidFill>
                  <a:latin typeface="Anton" panose="00000500000000000000" pitchFamily="2" charset="0"/>
                </a:rPr>
                <a:t>04</a:t>
              </a:r>
              <a:endParaRPr lang="en-US" sz="2000" spc="300" dirty="0">
                <a:solidFill>
                  <a:srgbClr val="FFD166"/>
                </a:solidFill>
                <a:latin typeface="Anton" panose="00000500000000000000" pitchFamily="2" charset="0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A1592EFB-3A7E-45D6-A98E-2179EC9E0047}"/>
              </a:ext>
            </a:extLst>
          </p:cNvPr>
          <p:cNvGrpSpPr/>
          <p:nvPr/>
        </p:nvGrpSpPr>
        <p:grpSpPr>
          <a:xfrm>
            <a:off x="-3201065" y="7889276"/>
            <a:ext cx="3355676" cy="1400788"/>
            <a:chOff x="2589362" y="2728606"/>
            <a:chExt cx="3355676" cy="1400788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F3D935D-0ECA-4D6F-BEFE-A1CB93FD10E7}"/>
                </a:ext>
              </a:extLst>
            </p:cNvPr>
            <p:cNvGrpSpPr/>
            <p:nvPr/>
          </p:nvGrpSpPr>
          <p:grpSpPr>
            <a:xfrm>
              <a:off x="2589362" y="2728606"/>
              <a:ext cx="3355676" cy="1400788"/>
              <a:chOff x="2596550" y="2775364"/>
              <a:chExt cx="4019910" cy="1678065"/>
            </a:xfrm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561C2D06-12A5-43AC-90FD-8DE901D4A5A9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1DACD449-33AF-4702-91CF-490058943DF5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97505746-BE53-4BA7-8480-35238ED37367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06D6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F200FD4-1487-46E5-900E-DE692E1F5E2C}"/>
                  </a:ext>
                </a:extLst>
              </p:cNvPr>
              <p:cNvSpPr/>
              <p:nvPr/>
            </p:nvSpPr>
            <p:spPr>
              <a:xfrm>
                <a:off x="2596550" y="2775364"/>
                <a:ext cx="4019910" cy="137394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alpha val="0"/>
                    </a:schemeClr>
                  </a:gs>
                  <a:gs pos="95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softEdge rad="266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A80DC888-46C4-49C5-8C75-8CDF81E54FAC}"/>
                </a:ext>
              </a:extLst>
            </p:cNvPr>
            <p:cNvSpPr txBox="1"/>
            <p:nvPr/>
          </p:nvSpPr>
          <p:spPr>
            <a:xfrm>
              <a:off x="3908292" y="3708324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06D6A0"/>
                  </a:solidFill>
                  <a:latin typeface="Anton" panose="00000500000000000000" pitchFamily="2" charset="0"/>
                </a:rPr>
                <a:t>03</a:t>
              </a:r>
              <a:endParaRPr lang="en-US" sz="2000" spc="300" dirty="0">
                <a:solidFill>
                  <a:srgbClr val="06D6A0"/>
                </a:solidFill>
                <a:latin typeface="Anton" panose="00000500000000000000" pitchFamily="2" charset="0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02B6B8B-8297-4273-8010-61142DF79695}"/>
              </a:ext>
            </a:extLst>
          </p:cNvPr>
          <p:cNvGrpSpPr/>
          <p:nvPr/>
        </p:nvGrpSpPr>
        <p:grpSpPr>
          <a:xfrm>
            <a:off x="-4789415" y="4750005"/>
            <a:ext cx="3355676" cy="1428965"/>
            <a:chOff x="2376531" y="1804037"/>
            <a:chExt cx="3355676" cy="1428965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62C35E0C-2906-4AAF-8057-3A40B59EE48B}"/>
                </a:ext>
              </a:extLst>
            </p:cNvPr>
            <p:cNvGrpSpPr/>
            <p:nvPr/>
          </p:nvGrpSpPr>
          <p:grpSpPr>
            <a:xfrm>
              <a:off x="2376531" y="1804037"/>
              <a:ext cx="3355676" cy="1400788"/>
              <a:chOff x="2596550" y="2775364"/>
              <a:chExt cx="4019910" cy="1678065"/>
            </a:xfrm>
            <a:scene3d>
              <a:camera prst="orthographicFront">
                <a:rot lat="0" lon="0" rev="1200000"/>
              </a:camera>
              <a:lightRig rig="threePt" dir="t"/>
            </a:scene3d>
          </p:grpSpPr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129D9395-4F7F-469C-A275-CFE0E62E8CDB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A3AAFBC9-A40E-444C-AE46-4536C94E12FD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2BA9BCEE-9897-4C90-A035-492954969E3F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118A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3C0E6B84-CBA1-4654-8281-81A3F63EE4B8}"/>
                  </a:ext>
                </a:extLst>
              </p:cNvPr>
              <p:cNvSpPr/>
              <p:nvPr/>
            </p:nvSpPr>
            <p:spPr>
              <a:xfrm>
                <a:off x="2596550" y="2775364"/>
                <a:ext cx="4019910" cy="137394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alpha val="0"/>
                    </a:schemeClr>
                  </a:gs>
                  <a:gs pos="95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softEdge rad="266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0CBCCC58-A312-4FD0-A98A-20092941C790}"/>
                </a:ext>
              </a:extLst>
            </p:cNvPr>
            <p:cNvSpPr txBox="1"/>
            <p:nvPr/>
          </p:nvSpPr>
          <p:spPr>
            <a:xfrm rot="20409358">
              <a:off x="3733524" y="2832892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118AB2"/>
                  </a:solidFill>
                  <a:latin typeface="Anton" panose="00000500000000000000" pitchFamily="2" charset="0"/>
                </a:rPr>
                <a:t>02</a:t>
              </a:r>
              <a:endParaRPr lang="en-US" sz="2000" spc="300" dirty="0">
                <a:solidFill>
                  <a:srgbClr val="118AB2"/>
                </a:solidFill>
                <a:latin typeface="Anton" panose="00000500000000000000" pitchFamily="2" charset="0"/>
              </a:endParaRPr>
            </a:p>
          </p:txBody>
        </p:sp>
      </p:grp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11DDBD69-51C5-405D-BBBA-9C98635472A7}"/>
              </a:ext>
            </a:extLst>
          </p:cNvPr>
          <p:cNvCxnSpPr/>
          <p:nvPr/>
        </p:nvCxnSpPr>
        <p:spPr>
          <a:xfrm>
            <a:off x="2709929" y="7459369"/>
            <a:ext cx="2035978" cy="0"/>
          </a:xfrm>
          <a:prstGeom prst="line">
            <a:avLst/>
          </a:prstGeom>
          <a:ln w="19050">
            <a:solidFill>
              <a:srgbClr val="073B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B322033C-947B-45E0-B7B9-C72EDFB8F841}"/>
              </a:ext>
            </a:extLst>
          </p:cNvPr>
          <p:cNvCxnSpPr/>
          <p:nvPr/>
        </p:nvCxnSpPr>
        <p:spPr>
          <a:xfrm>
            <a:off x="4616467" y="7661103"/>
            <a:ext cx="2035978" cy="0"/>
          </a:xfrm>
          <a:prstGeom prst="line">
            <a:avLst/>
          </a:prstGeom>
          <a:ln w="19050">
            <a:solidFill>
              <a:srgbClr val="118A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5A413F8D-A016-4F17-9D7E-67A113EEAEB9}"/>
              </a:ext>
            </a:extLst>
          </p:cNvPr>
          <p:cNvCxnSpPr/>
          <p:nvPr/>
        </p:nvCxnSpPr>
        <p:spPr>
          <a:xfrm>
            <a:off x="3175981" y="8419721"/>
            <a:ext cx="2035978" cy="0"/>
          </a:xfrm>
          <a:prstGeom prst="line">
            <a:avLst/>
          </a:prstGeom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CE59764A-0547-492E-ADF3-0F1B714FE7D4}"/>
              </a:ext>
            </a:extLst>
          </p:cNvPr>
          <p:cNvCxnSpPr/>
          <p:nvPr/>
        </p:nvCxnSpPr>
        <p:spPr>
          <a:xfrm>
            <a:off x="3203856" y="8896931"/>
            <a:ext cx="2035978" cy="0"/>
          </a:xfrm>
          <a:prstGeom prst="line">
            <a:avLst/>
          </a:prstGeom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F4173C33-F9C9-4068-BCB2-D6F11BAD3815}"/>
              </a:ext>
            </a:extLst>
          </p:cNvPr>
          <p:cNvGrpSpPr/>
          <p:nvPr/>
        </p:nvGrpSpPr>
        <p:grpSpPr>
          <a:xfrm>
            <a:off x="-4477871" y="6603896"/>
            <a:ext cx="2553613" cy="1285380"/>
            <a:chOff x="2082574" y="1263788"/>
            <a:chExt cx="2553613" cy="1285380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454B8B73-02CD-45F2-A244-9B42C0DCFA48}"/>
                </a:ext>
              </a:extLst>
            </p:cNvPr>
            <p:cNvGrpSpPr/>
            <p:nvPr/>
          </p:nvGrpSpPr>
          <p:grpSpPr>
            <a:xfrm>
              <a:off x="2082574" y="1263788"/>
              <a:ext cx="2553613" cy="1285380"/>
              <a:chOff x="2737657" y="2913616"/>
              <a:chExt cx="3059084" cy="1539813"/>
            </a:xfrm>
            <a:scene3d>
              <a:camera prst="orthographicFront">
                <a:rot lat="0" lon="0" rev="2400000"/>
              </a:camera>
              <a:lightRig rig="threePt" dir="t"/>
            </a:scene3d>
          </p:grpSpPr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8F70A12A-955A-44CA-AD14-CF775C1316A4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EE2BC23F-E057-433F-AD42-8B238FA1B9CC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2ED7E8C7-0ACF-4CBA-A6AE-5E93363CFD54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073B4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21B79F32-9457-46C6-9309-0F1ECB18C1F2}"/>
                </a:ext>
              </a:extLst>
            </p:cNvPr>
            <p:cNvSpPr txBox="1"/>
            <p:nvPr/>
          </p:nvSpPr>
          <p:spPr>
            <a:xfrm rot="19173824">
              <a:off x="3304028" y="2073478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073B4C"/>
                  </a:solidFill>
                  <a:latin typeface="Anton" panose="00000500000000000000" pitchFamily="2" charset="0"/>
                </a:rPr>
                <a:t>01</a:t>
              </a:r>
              <a:endParaRPr lang="en-US" sz="2000" spc="300" dirty="0">
                <a:solidFill>
                  <a:srgbClr val="073B4C"/>
                </a:solidFill>
                <a:latin typeface="Anton" panose="00000500000000000000" pitchFamily="2" charset="0"/>
              </a:endParaRPr>
            </a:p>
          </p:txBody>
        </p:sp>
      </p:grpSp>
      <p:sp>
        <p:nvSpPr>
          <p:cNvPr id="149" name="TextBox 148">
            <a:extLst>
              <a:ext uri="{FF2B5EF4-FFF2-40B4-BE49-F238E27FC236}">
                <a16:creationId xmlns:a16="http://schemas.microsoft.com/office/drawing/2014/main" id="{55182AE9-631D-4DC8-BB96-2460DA99BD6D}"/>
              </a:ext>
            </a:extLst>
          </p:cNvPr>
          <p:cNvSpPr txBox="1"/>
          <p:nvPr/>
        </p:nvSpPr>
        <p:spPr>
          <a:xfrm>
            <a:off x="2479648" y="7065395"/>
            <a:ext cx="1962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073B4C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PROPONENTS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EBADC8B7-E6F2-4DE6-A5B6-756A57DE88DE}"/>
              </a:ext>
            </a:extLst>
          </p:cNvPr>
          <p:cNvSpPr txBox="1"/>
          <p:nvPr/>
        </p:nvSpPr>
        <p:spPr>
          <a:xfrm>
            <a:off x="3408632" y="7897107"/>
            <a:ext cx="1962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118AB2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RATIONALE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5EEE4FEB-1D13-46C0-B11F-64AE2B6474EB}"/>
              </a:ext>
            </a:extLst>
          </p:cNvPr>
          <p:cNvSpPr txBox="1"/>
          <p:nvPr/>
        </p:nvSpPr>
        <p:spPr>
          <a:xfrm>
            <a:off x="4761472" y="8713678"/>
            <a:ext cx="1962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06D6A0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OBJECTIVES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1135AB04-9581-4CE2-8074-1E0A50C351D4}"/>
              </a:ext>
            </a:extLst>
          </p:cNvPr>
          <p:cNvSpPr txBox="1"/>
          <p:nvPr/>
        </p:nvSpPr>
        <p:spPr>
          <a:xfrm>
            <a:off x="4899403" y="8015735"/>
            <a:ext cx="2199185" cy="500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FFD166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SCOPE AND LIMITATION</a:t>
            </a:r>
          </a:p>
          <a:p>
            <a:pPr algn="ctr"/>
            <a:r>
              <a:rPr lang="en-IN" sz="1050" dirty="0">
                <a:latin typeface="Economica" panose="02000506040000020004" pitchFamily="2" charset="0"/>
              </a:rPr>
              <a:t>.</a:t>
            </a:r>
            <a:endParaRPr lang="en-US" sz="1050" dirty="0">
              <a:latin typeface="Economica" panose="02000506040000020004" pitchFamily="2" charset="0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3AC86DB6-6075-4A43-BF54-11BD4D3DC9C1}"/>
              </a:ext>
            </a:extLst>
          </p:cNvPr>
          <p:cNvSpPr txBox="1"/>
          <p:nvPr/>
        </p:nvSpPr>
        <p:spPr>
          <a:xfrm>
            <a:off x="5992024" y="7201456"/>
            <a:ext cx="1962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EF476F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METHODOLOGY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A1EDEF-FC10-4312-B134-CA6096982D3B}"/>
              </a:ext>
            </a:extLst>
          </p:cNvPr>
          <p:cNvSpPr/>
          <p:nvPr/>
        </p:nvSpPr>
        <p:spPr>
          <a:xfrm>
            <a:off x="4424075" y="6603896"/>
            <a:ext cx="3608487" cy="2266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D08ABF5C-1D62-4495-AB80-6BAD31305015}"/>
              </a:ext>
            </a:extLst>
          </p:cNvPr>
          <p:cNvCxnSpPr>
            <a:cxnSpLocks/>
          </p:cNvCxnSpPr>
          <p:nvPr/>
        </p:nvCxnSpPr>
        <p:spPr>
          <a:xfrm>
            <a:off x="575396" y="6552193"/>
            <a:ext cx="11007004" cy="0"/>
          </a:xfrm>
          <a:prstGeom prst="line">
            <a:avLst/>
          </a:prstGeom>
          <a:ln w="19050">
            <a:solidFill>
              <a:srgbClr val="EF47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FA6828C3-496B-4E99-B576-2C27983D3C7C}"/>
              </a:ext>
            </a:extLst>
          </p:cNvPr>
          <p:cNvSpPr txBox="1"/>
          <p:nvPr/>
        </p:nvSpPr>
        <p:spPr>
          <a:xfrm>
            <a:off x="11193613" y="10262544"/>
            <a:ext cx="25266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Methodology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9CD760-D554-4A3C-8A1C-79EE72FB37EF}"/>
              </a:ext>
            </a:extLst>
          </p:cNvPr>
          <p:cNvSpPr txBox="1"/>
          <p:nvPr/>
        </p:nvSpPr>
        <p:spPr>
          <a:xfrm>
            <a:off x="317494" y="9271811"/>
            <a:ext cx="1063392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 fontAlgn="base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Data Source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</a:pPr>
            <a:endParaRPr lang="en-US" sz="18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</a:rPr>
              <a:t>Surveys</a:t>
            </a:r>
            <a:r>
              <a:rPr lang="en-US" sz="1800" i="0" u="none" strike="noStrike" dirty="0">
                <a:solidFill>
                  <a:srgbClr val="000000"/>
                </a:solidFill>
                <a:effectLst/>
              </a:rPr>
              <a:t>: Conducted with instructors, students, and IT experts to evaluate the effectiveness and usability of the AI-generated slides.</a:t>
            </a: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80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</a:rPr>
              <a:t>System Input: </a:t>
            </a:r>
            <a:r>
              <a:rPr lang="en-US" sz="1800" i="0" u="none" strike="noStrike" dirty="0">
                <a:solidFill>
                  <a:srgbClr val="000000"/>
                </a:solidFill>
                <a:effectLst/>
              </a:rPr>
              <a:t>Prompt commands, user-defined topics, and existing presentation materials were used as test inputs to assess the AI’s content generation capabilities.</a:t>
            </a:r>
            <a:endParaRPr lang="en-US" dirty="0">
              <a:effectLst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E6AAB8-96B8-4C0D-A207-8B509FB06C7D}"/>
              </a:ext>
            </a:extLst>
          </p:cNvPr>
          <p:cNvSpPr txBox="1"/>
          <p:nvPr/>
        </p:nvSpPr>
        <p:spPr>
          <a:xfrm>
            <a:off x="631978" y="507208"/>
            <a:ext cx="717973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 fontAlgn="base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Software Development Methodology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</a:pPr>
            <a:endParaRPr lang="en-US" sz="18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Product Backlog Creation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en-US" dirty="0">
              <a:effectLst/>
            </a:endParaRP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Sprint Planning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en-US" dirty="0">
              <a:effectLst/>
            </a:endParaRP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Sprint Backlog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en-US" dirty="0">
              <a:effectLst/>
            </a:endParaRP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Daily Scrum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en-US" dirty="0">
              <a:effectLst/>
            </a:endParaRP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Increment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en-US" dirty="0">
              <a:effectLst/>
            </a:endParaRP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Sprint Review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en-US" dirty="0">
              <a:effectLst/>
            </a:endParaRP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Sprint Retrospective</a:t>
            </a:r>
            <a:endParaRPr lang="en-US" dirty="0">
              <a:effectLst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BB9161A-1EA5-476A-83D5-0DA39B8F74DA}"/>
              </a:ext>
            </a:extLst>
          </p:cNvPr>
          <p:cNvSpPr txBox="1"/>
          <p:nvPr/>
        </p:nvSpPr>
        <p:spPr>
          <a:xfrm>
            <a:off x="317494" y="7222277"/>
            <a:ext cx="1100700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 fontAlgn="base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Mixed Method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</a:pPr>
            <a:endParaRPr lang="en-US" sz="180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7429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</a:rPr>
              <a:t>Quantitative Research:</a:t>
            </a:r>
          </a:p>
          <a:p>
            <a:pPr marL="914400" lvl="1"/>
            <a:r>
              <a:rPr lang="en-US" i="0" u="none" strike="noStrike" dirty="0">
                <a:solidFill>
                  <a:srgbClr val="000000"/>
                </a:solidFill>
                <a:effectLst/>
              </a:rPr>
              <a:t>Measures the system’s efficiency, such as speed of content generation and relevance of generated slides to user prompts, based on predefined criteria.</a:t>
            </a:r>
          </a:p>
          <a:p>
            <a:pPr marL="457200" rtl="0">
              <a:spcBef>
                <a:spcPts val="0"/>
              </a:spcBef>
              <a:spcAft>
                <a:spcPts val="0"/>
              </a:spcAft>
            </a:pPr>
            <a:br>
              <a:rPr lang="en-US" dirty="0"/>
            </a:br>
            <a:endParaRPr lang="en-US" dirty="0">
              <a:effectLst/>
            </a:endParaRPr>
          </a:p>
          <a:p>
            <a:pPr marL="7429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</a:rPr>
              <a:t>Qualitative research:</a:t>
            </a:r>
          </a:p>
          <a:p>
            <a:pPr marL="914400" lvl="1"/>
            <a:r>
              <a:rPr lang="en-US" i="0" u="none" strike="noStrike" dirty="0">
                <a:effectLst/>
              </a:rPr>
              <a:t>Feedback was gathered from actual users through surveys and questionnaires, and additional information was collected through online research</a:t>
            </a:r>
          </a:p>
          <a:p>
            <a:pPr marL="457200" rtl="0">
              <a:spcBef>
                <a:spcPts val="0"/>
              </a:spcBef>
              <a:spcAft>
                <a:spcPts val="0"/>
              </a:spcAft>
            </a:pPr>
            <a:r>
              <a:rPr lang="en-US" sz="1800" i="0" u="none" strike="noStrike" dirty="0">
                <a:solidFill>
                  <a:srgbClr val="000000"/>
                </a:solidFill>
                <a:effectLst/>
              </a:rPr>
              <a:t> </a:t>
            </a:r>
            <a:endParaRPr lang="en-US" dirty="0">
              <a:effectLst/>
            </a:endParaRP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6139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Oval 53">
            <a:extLst>
              <a:ext uri="{FF2B5EF4-FFF2-40B4-BE49-F238E27FC236}">
                <a16:creationId xmlns:a16="http://schemas.microsoft.com/office/drawing/2014/main" id="{E75E415E-D168-4A64-BFEB-CF6E5E91C618}"/>
              </a:ext>
            </a:extLst>
          </p:cNvPr>
          <p:cNvSpPr/>
          <p:nvPr/>
        </p:nvSpPr>
        <p:spPr>
          <a:xfrm>
            <a:off x="1062384" y="5429735"/>
            <a:ext cx="3554083" cy="1174161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85000"/>
                  <a:alpha val="0"/>
                </a:schemeClr>
              </a:gs>
              <a:gs pos="95000">
                <a:schemeClr val="tx1">
                  <a:lumMod val="85000"/>
                  <a:lumOff val="15000"/>
                </a:schemeClr>
              </a:gs>
            </a:gsLst>
            <a:lin ang="0" scaled="1"/>
            <a:tileRect/>
          </a:gradFill>
          <a:ln>
            <a:noFill/>
          </a:ln>
          <a:effectLst>
            <a:softEdge rad="3048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59A91C9-5054-421D-8AB9-E071BA377352}"/>
              </a:ext>
            </a:extLst>
          </p:cNvPr>
          <p:cNvGrpSpPr/>
          <p:nvPr/>
        </p:nvGrpSpPr>
        <p:grpSpPr>
          <a:xfrm>
            <a:off x="2038070" y="4505166"/>
            <a:ext cx="3355676" cy="1400788"/>
            <a:chOff x="2038070" y="4505166"/>
            <a:chExt cx="3355676" cy="1400788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343157D5-4FF2-4FA1-9D59-419EF512DD63}"/>
                </a:ext>
              </a:extLst>
            </p:cNvPr>
            <p:cNvGrpSpPr/>
            <p:nvPr/>
          </p:nvGrpSpPr>
          <p:grpSpPr>
            <a:xfrm>
              <a:off x="2038070" y="4505166"/>
              <a:ext cx="3355676" cy="1400788"/>
              <a:chOff x="2596550" y="2775364"/>
              <a:chExt cx="4019910" cy="1678065"/>
            </a:xfrm>
            <a:scene3d>
              <a:camera prst="orthographicFront">
                <a:rot lat="0" lon="0" rev="19199999"/>
              </a:camera>
              <a:lightRig rig="threePt" dir="t"/>
            </a:scene3d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892C5BCC-B12D-4C7A-B111-34582936145D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B67A78B7-6B3D-456A-A208-4D26B1ABD8E3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1E2ED20F-42CC-4834-B53D-E458D5168208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EF476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475AEADC-907C-4D82-B7F4-153288554B19}"/>
                  </a:ext>
                </a:extLst>
              </p:cNvPr>
              <p:cNvSpPr/>
              <p:nvPr/>
            </p:nvSpPr>
            <p:spPr>
              <a:xfrm>
                <a:off x="2596550" y="2775364"/>
                <a:ext cx="4019910" cy="137394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alpha val="0"/>
                    </a:schemeClr>
                  </a:gs>
                  <a:gs pos="95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softEdge rad="266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4501ABC5-43E0-49AC-BC00-8C50BB95BF58}"/>
                </a:ext>
              </a:extLst>
            </p:cNvPr>
            <p:cNvSpPr txBox="1"/>
            <p:nvPr/>
          </p:nvSpPr>
          <p:spPr>
            <a:xfrm rot="2317436">
              <a:off x="3084625" y="5387604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EF476F"/>
                  </a:solidFill>
                  <a:latin typeface="Anton" panose="00000500000000000000" pitchFamily="2" charset="0"/>
                </a:rPr>
                <a:t>05</a:t>
              </a:r>
              <a:endParaRPr lang="en-US" sz="2000" spc="300" dirty="0">
                <a:solidFill>
                  <a:srgbClr val="EF476F"/>
                </a:solidFill>
                <a:latin typeface="Anton" panose="00000500000000000000" pitchFamily="2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0F3C0F4-B6E4-4C48-9EF4-98AD4F55FA69}"/>
              </a:ext>
            </a:extLst>
          </p:cNvPr>
          <p:cNvGrpSpPr/>
          <p:nvPr/>
        </p:nvGrpSpPr>
        <p:grpSpPr>
          <a:xfrm>
            <a:off x="2459965" y="3663791"/>
            <a:ext cx="3355676" cy="1400788"/>
            <a:chOff x="2459965" y="3663791"/>
            <a:chExt cx="3355676" cy="140078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A5F928E-6A3A-4AC3-B40D-78D692B6B9A6}"/>
                </a:ext>
              </a:extLst>
            </p:cNvPr>
            <p:cNvGrpSpPr/>
            <p:nvPr/>
          </p:nvGrpSpPr>
          <p:grpSpPr>
            <a:xfrm>
              <a:off x="2459965" y="3663791"/>
              <a:ext cx="3355676" cy="1400788"/>
              <a:chOff x="2596550" y="2775364"/>
              <a:chExt cx="4019910" cy="1678065"/>
            </a:xfrm>
            <a:scene3d>
              <a:camera prst="orthographicFront">
                <a:rot lat="0" lon="0" rev="20399999"/>
              </a:camera>
              <a:lightRig rig="threePt" dir="t"/>
            </a:scene3d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8B059B1-A6BA-41B1-862D-EFADE8A7E0E4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5A53785F-C2D2-4537-BF9E-41355E3DFB81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9D5353B7-0849-4523-BD12-172B32B20B51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FFD1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966420CD-FEF1-49EC-8302-619086DCC8A7}"/>
                  </a:ext>
                </a:extLst>
              </p:cNvPr>
              <p:cNvSpPr/>
              <p:nvPr/>
            </p:nvSpPr>
            <p:spPr>
              <a:xfrm>
                <a:off x="2596550" y="2775364"/>
                <a:ext cx="4019910" cy="137394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alpha val="0"/>
                    </a:schemeClr>
                  </a:gs>
                  <a:gs pos="95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softEdge rad="266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18C98E25-E4E3-49C9-BF77-2540DFCDED07}"/>
                </a:ext>
              </a:extLst>
            </p:cNvPr>
            <p:cNvSpPr txBox="1"/>
            <p:nvPr/>
          </p:nvSpPr>
          <p:spPr>
            <a:xfrm rot="962716">
              <a:off x="3693611" y="4653891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FFD166"/>
                  </a:solidFill>
                  <a:latin typeface="Anton" panose="00000500000000000000" pitchFamily="2" charset="0"/>
                </a:rPr>
                <a:t>04</a:t>
              </a:r>
              <a:endParaRPr lang="en-US" sz="2000" spc="300" dirty="0">
                <a:solidFill>
                  <a:srgbClr val="FFD166"/>
                </a:solidFill>
                <a:latin typeface="Anton" panose="00000500000000000000" pitchFamily="2" charset="0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A1592EFB-3A7E-45D6-A98E-2179EC9E0047}"/>
              </a:ext>
            </a:extLst>
          </p:cNvPr>
          <p:cNvGrpSpPr/>
          <p:nvPr/>
        </p:nvGrpSpPr>
        <p:grpSpPr>
          <a:xfrm>
            <a:off x="2589362" y="2728606"/>
            <a:ext cx="3355676" cy="1400788"/>
            <a:chOff x="2589362" y="2728606"/>
            <a:chExt cx="3355676" cy="1400788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F3D935D-0ECA-4D6F-BEFE-A1CB93FD10E7}"/>
                </a:ext>
              </a:extLst>
            </p:cNvPr>
            <p:cNvGrpSpPr/>
            <p:nvPr/>
          </p:nvGrpSpPr>
          <p:grpSpPr>
            <a:xfrm>
              <a:off x="2589362" y="2728606"/>
              <a:ext cx="3355676" cy="1400788"/>
              <a:chOff x="2596550" y="2775364"/>
              <a:chExt cx="4019910" cy="1678065"/>
            </a:xfrm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561C2D06-12A5-43AC-90FD-8DE901D4A5A9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1DACD449-33AF-4702-91CF-490058943DF5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97505746-BE53-4BA7-8480-35238ED37367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06D6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F200FD4-1487-46E5-900E-DE692E1F5E2C}"/>
                  </a:ext>
                </a:extLst>
              </p:cNvPr>
              <p:cNvSpPr/>
              <p:nvPr/>
            </p:nvSpPr>
            <p:spPr>
              <a:xfrm>
                <a:off x="2596550" y="2775364"/>
                <a:ext cx="4019910" cy="137394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alpha val="0"/>
                    </a:schemeClr>
                  </a:gs>
                  <a:gs pos="95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softEdge rad="266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A80DC888-46C4-49C5-8C75-8CDF81E54FAC}"/>
                </a:ext>
              </a:extLst>
            </p:cNvPr>
            <p:cNvSpPr txBox="1"/>
            <p:nvPr/>
          </p:nvSpPr>
          <p:spPr>
            <a:xfrm>
              <a:off x="3908292" y="3708324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06D6A0"/>
                  </a:solidFill>
                  <a:latin typeface="Anton" panose="00000500000000000000" pitchFamily="2" charset="0"/>
                </a:rPr>
                <a:t>03</a:t>
              </a:r>
              <a:endParaRPr lang="en-US" sz="2000" spc="300" dirty="0">
                <a:solidFill>
                  <a:srgbClr val="06D6A0"/>
                </a:solidFill>
                <a:latin typeface="Anton" panose="00000500000000000000" pitchFamily="2" charset="0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02B6B8B-8297-4273-8010-61142DF79695}"/>
              </a:ext>
            </a:extLst>
          </p:cNvPr>
          <p:cNvGrpSpPr/>
          <p:nvPr/>
        </p:nvGrpSpPr>
        <p:grpSpPr>
          <a:xfrm>
            <a:off x="2376531" y="1804037"/>
            <a:ext cx="3355676" cy="1428965"/>
            <a:chOff x="2376531" y="1804037"/>
            <a:chExt cx="3355676" cy="1428965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62C35E0C-2906-4AAF-8057-3A40B59EE48B}"/>
                </a:ext>
              </a:extLst>
            </p:cNvPr>
            <p:cNvGrpSpPr/>
            <p:nvPr/>
          </p:nvGrpSpPr>
          <p:grpSpPr>
            <a:xfrm>
              <a:off x="2376531" y="1804037"/>
              <a:ext cx="3355676" cy="1400788"/>
              <a:chOff x="2596550" y="2775364"/>
              <a:chExt cx="4019910" cy="1678065"/>
            </a:xfrm>
            <a:scene3d>
              <a:camera prst="orthographicFront">
                <a:rot lat="0" lon="0" rev="1200000"/>
              </a:camera>
              <a:lightRig rig="threePt" dir="t"/>
            </a:scene3d>
          </p:grpSpPr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129D9395-4F7F-469C-A275-CFE0E62E8CDB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A3AAFBC9-A40E-444C-AE46-4536C94E12FD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2BA9BCEE-9897-4C90-A035-492954969E3F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118A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3C0E6B84-CBA1-4654-8281-81A3F63EE4B8}"/>
                  </a:ext>
                </a:extLst>
              </p:cNvPr>
              <p:cNvSpPr/>
              <p:nvPr/>
            </p:nvSpPr>
            <p:spPr>
              <a:xfrm>
                <a:off x="2596550" y="2775364"/>
                <a:ext cx="4019910" cy="137394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alpha val="0"/>
                    </a:schemeClr>
                  </a:gs>
                  <a:gs pos="95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>
                <a:softEdge rad="266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0CBCCC58-A312-4FD0-A98A-20092941C790}"/>
                </a:ext>
              </a:extLst>
            </p:cNvPr>
            <p:cNvSpPr txBox="1"/>
            <p:nvPr/>
          </p:nvSpPr>
          <p:spPr>
            <a:xfrm rot="20409358">
              <a:off x="3733524" y="2832892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118AB2"/>
                  </a:solidFill>
                  <a:latin typeface="Anton" panose="00000500000000000000" pitchFamily="2" charset="0"/>
                </a:rPr>
                <a:t>02</a:t>
              </a:r>
              <a:endParaRPr lang="en-US" sz="2000" spc="300" dirty="0">
                <a:solidFill>
                  <a:srgbClr val="118AB2"/>
                </a:solidFill>
                <a:latin typeface="Anton" panose="00000500000000000000" pitchFamily="2" charset="0"/>
              </a:endParaRPr>
            </a:p>
          </p:txBody>
        </p:sp>
      </p:grp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11DDBD69-51C5-405D-BBBA-9C98635472A7}"/>
              </a:ext>
            </a:extLst>
          </p:cNvPr>
          <p:cNvCxnSpPr/>
          <p:nvPr/>
        </p:nvCxnSpPr>
        <p:spPr>
          <a:xfrm>
            <a:off x="4175043" y="931653"/>
            <a:ext cx="2035978" cy="0"/>
          </a:xfrm>
          <a:prstGeom prst="line">
            <a:avLst/>
          </a:prstGeom>
          <a:ln w="19050">
            <a:solidFill>
              <a:srgbClr val="073B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B322033C-947B-45E0-B7B9-C72EDFB8F841}"/>
              </a:ext>
            </a:extLst>
          </p:cNvPr>
          <p:cNvCxnSpPr/>
          <p:nvPr/>
        </p:nvCxnSpPr>
        <p:spPr>
          <a:xfrm>
            <a:off x="4927049" y="2011729"/>
            <a:ext cx="2035978" cy="0"/>
          </a:xfrm>
          <a:prstGeom prst="line">
            <a:avLst/>
          </a:prstGeom>
          <a:ln w="19050">
            <a:solidFill>
              <a:srgbClr val="118A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5A413F8D-A016-4F17-9D7E-67A113EEAEB9}"/>
              </a:ext>
            </a:extLst>
          </p:cNvPr>
          <p:cNvCxnSpPr/>
          <p:nvPr/>
        </p:nvCxnSpPr>
        <p:spPr>
          <a:xfrm>
            <a:off x="5260766" y="3292294"/>
            <a:ext cx="2035978" cy="0"/>
          </a:xfrm>
          <a:prstGeom prst="line">
            <a:avLst/>
          </a:prstGeom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CE59764A-0547-492E-ADF3-0F1B714FE7D4}"/>
              </a:ext>
            </a:extLst>
          </p:cNvPr>
          <p:cNvCxnSpPr/>
          <p:nvPr/>
        </p:nvCxnSpPr>
        <p:spPr>
          <a:xfrm>
            <a:off x="5114117" y="4501309"/>
            <a:ext cx="2035978" cy="0"/>
          </a:xfrm>
          <a:prstGeom prst="line">
            <a:avLst/>
          </a:prstGeom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D08ABF5C-1D62-4495-AB80-6BAD31305015}"/>
              </a:ext>
            </a:extLst>
          </p:cNvPr>
          <p:cNvCxnSpPr/>
          <p:nvPr/>
        </p:nvCxnSpPr>
        <p:spPr>
          <a:xfrm>
            <a:off x="4536148" y="5752139"/>
            <a:ext cx="2035978" cy="0"/>
          </a:xfrm>
          <a:prstGeom prst="line">
            <a:avLst/>
          </a:prstGeom>
          <a:ln w="19050">
            <a:solidFill>
              <a:srgbClr val="EF47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F4173C33-F9C9-4068-BCB2-D6F11BAD3815}"/>
              </a:ext>
            </a:extLst>
          </p:cNvPr>
          <p:cNvGrpSpPr/>
          <p:nvPr/>
        </p:nvGrpSpPr>
        <p:grpSpPr>
          <a:xfrm>
            <a:off x="2082574" y="1263788"/>
            <a:ext cx="2553613" cy="1285380"/>
            <a:chOff x="2082574" y="1263788"/>
            <a:chExt cx="2553613" cy="1285380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454B8B73-02CD-45F2-A244-9B42C0DCFA48}"/>
                </a:ext>
              </a:extLst>
            </p:cNvPr>
            <p:cNvGrpSpPr/>
            <p:nvPr/>
          </p:nvGrpSpPr>
          <p:grpSpPr>
            <a:xfrm>
              <a:off x="2082574" y="1263788"/>
              <a:ext cx="2553613" cy="1285380"/>
              <a:chOff x="2737657" y="2913616"/>
              <a:chExt cx="3059084" cy="1539813"/>
            </a:xfrm>
            <a:scene3d>
              <a:camera prst="orthographicFront">
                <a:rot lat="0" lon="0" rev="2400000"/>
              </a:camera>
              <a:lightRig rig="threePt" dir="t"/>
            </a:scene3d>
          </p:grpSpPr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8F70A12A-955A-44CA-AD14-CF775C1316A4}"/>
                  </a:ext>
                </a:extLst>
              </p:cNvPr>
              <p:cNvSpPr/>
              <p:nvPr/>
            </p:nvSpPr>
            <p:spPr>
              <a:xfrm>
                <a:off x="2737657" y="3422653"/>
                <a:ext cx="3059084" cy="1030776"/>
              </a:xfrm>
              <a:custGeom>
                <a:avLst/>
                <a:gdLst>
                  <a:gd name="connsiteX0" fmla="*/ 1529542 w 3059084"/>
                  <a:gd name="connsiteY0" fmla="*/ 0 h 1030780"/>
                  <a:gd name="connsiteX1" fmla="*/ 1716541 w 3059084"/>
                  <a:gd name="connsiteY1" fmla="*/ 6352 h 1030780"/>
                  <a:gd name="connsiteX2" fmla="*/ 3059083 w 3059084"/>
                  <a:gd name="connsiteY2" fmla="*/ 6352 h 1030780"/>
                  <a:gd name="connsiteX3" fmla="*/ 3059083 w 3059084"/>
                  <a:gd name="connsiteY3" fmla="*/ 515387 h 1030780"/>
                  <a:gd name="connsiteX4" fmla="*/ 3059084 w 3059084"/>
                  <a:gd name="connsiteY4" fmla="*/ 515390 h 1030780"/>
                  <a:gd name="connsiteX5" fmla="*/ 3059083 w 3059084"/>
                  <a:gd name="connsiteY5" fmla="*/ 515393 h 1030780"/>
                  <a:gd name="connsiteX6" fmla="*/ 3059083 w 3059084"/>
                  <a:gd name="connsiteY6" fmla="*/ 521740 h 1030780"/>
                  <a:gd name="connsiteX7" fmla="*/ 3057184 w 3059084"/>
                  <a:gd name="connsiteY7" fmla="*/ 521740 h 1030780"/>
                  <a:gd name="connsiteX8" fmla="*/ 3028009 w 3059084"/>
                  <a:gd name="connsiteY8" fmla="*/ 619259 h 1030780"/>
                  <a:gd name="connsiteX9" fmla="*/ 1529542 w 3059084"/>
                  <a:gd name="connsiteY9" fmla="*/ 1030780 h 1030780"/>
                  <a:gd name="connsiteX10" fmla="*/ 31075 w 3059084"/>
                  <a:gd name="connsiteY10" fmla="*/ 619259 h 1030780"/>
                  <a:gd name="connsiteX11" fmla="*/ 1900 w 3059084"/>
                  <a:gd name="connsiteY11" fmla="*/ 521740 h 1030780"/>
                  <a:gd name="connsiteX12" fmla="*/ 0 w 3059084"/>
                  <a:gd name="connsiteY12" fmla="*/ 521740 h 1030780"/>
                  <a:gd name="connsiteX13" fmla="*/ 0 w 3059084"/>
                  <a:gd name="connsiteY13" fmla="*/ 515390 h 1030780"/>
                  <a:gd name="connsiteX14" fmla="*/ 0 w 3059084"/>
                  <a:gd name="connsiteY14" fmla="*/ 6352 h 1030780"/>
                  <a:gd name="connsiteX15" fmla="*/ 1342544 w 3059084"/>
                  <a:gd name="connsiteY15" fmla="*/ 6352 h 1030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59084" h="1030780">
                    <a:moveTo>
                      <a:pt x="1529542" y="0"/>
                    </a:moveTo>
                    <a:lnTo>
                      <a:pt x="1716541" y="6352"/>
                    </a:lnTo>
                    <a:lnTo>
                      <a:pt x="3059083" y="6352"/>
                    </a:lnTo>
                    <a:lnTo>
                      <a:pt x="3059083" y="515387"/>
                    </a:lnTo>
                    <a:lnTo>
                      <a:pt x="3059084" y="515390"/>
                    </a:lnTo>
                    <a:lnTo>
                      <a:pt x="3059083" y="515393"/>
                    </a:lnTo>
                    <a:lnTo>
                      <a:pt x="3059083" y="521740"/>
                    </a:lnTo>
                    <a:lnTo>
                      <a:pt x="3057184" y="521740"/>
                    </a:lnTo>
                    <a:lnTo>
                      <a:pt x="3028009" y="619259"/>
                    </a:lnTo>
                    <a:cubicBezTo>
                      <a:pt x="2885385" y="854114"/>
                      <a:pt x="2268692" y="1030780"/>
                      <a:pt x="1529542" y="1030780"/>
                    </a:cubicBezTo>
                    <a:cubicBezTo>
                      <a:pt x="790392" y="1030780"/>
                      <a:pt x="173699" y="854114"/>
                      <a:pt x="31075" y="619259"/>
                    </a:cubicBezTo>
                    <a:lnTo>
                      <a:pt x="1900" y="521740"/>
                    </a:lnTo>
                    <a:lnTo>
                      <a:pt x="0" y="521740"/>
                    </a:lnTo>
                    <a:lnTo>
                      <a:pt x="0" y="515390"/>
                    </a:lnTo>
                    <a:lnTo>
                      <a:pt x="0" y="6352"/>
                    </a:lnTo>
                    <a:lnTo>
                      <a:pt x="1342544" y="6352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EE2BC23F-E057-433F-AD42-8B238FA1B9CC}"/>
                  </a:ext>
                </a:extLst>
              </p:cNvPr>
              <p:cNvSpPr/>
              <p:nvPr/>
            </p:nvSpPr>
            <p:spPr>
              <a:xfrm>
                <a:off x="2737658" y="2913616"/>
                <a:ext cx="3059083" cy="1030775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2ED7E8C7-0ACF-4CBA-A6AE-5E93363CFD54}"/>
                  </a:ext>
                </a:extLst>
              </p:cNvPr>
              <p:cNvSpPr/>
              <p:nvPr/>
            </p:nvSpPr>
            <p:spPr>
              <a:xfrm>
                <a:off x="3229493" y="3079342"/>
                <a:ext cx="2075411" cy="699321"/>
              </a:xfrm>
              <a:prstGeom prst="ellipse">
                <a:avLst/>
              </a:prstGeom>
              <a:solidFill>
                <a:srgbClr val="073B4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21B79F32-9457-46C6-9309-0F1ECB18C1F2}"/>
                </a:ext>
              </a:extLst>
            </p:cNvPr>
            <p:cNvSpPr txBox="1"/>
            <p:nvPr/>
          </p:nvSpPr>
          <p:spPr>
            <a:xfrm rot="19173824">
              <a:off x="3304028" y="2073478"/>
              <a:ext cx="6416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spc="300" dirty="0">
                  <a:solidFill>
                    <a:srgbClr val="073B4C"/>
                  </a:solidFill>
                  <a:latin typeface="Anton" panose="00000500000000000000" pitchFamily="2" charset="0"/>
                </a:rPr>
                <a:t>01</a:t>
              </a:r>
              <a:endParaRPr lang="en-US" sz="2000" spc="300" dirty="0">
                <a:solidFill>
                  <a:srgbClr val="073B4C"/>
                </a:solidFill>
                <a:latin typeface="Anton" panose="00000500000000000000" pitchFamily="2" charset="0"/>
              </a:endParaRPr>
            </a:p>
          </p:txBody>
        </p:sp>
      </p:grpSp>
      <p:sp>
        <p:nvSpPr>
          <p:cNvPr id="149" name="TextBox 148">
            <a:extLst>
              <a:ext uri="{FF2B5EF4-FFF2-40B4-BE49-F238E27FC236}">
                <a16:creationId xmlns:a16="http://schemas.microsoft.com/office/drawing/2014/main" id="{55182AE9-631D-4DC8-BB96-2460DA99BD6D}"/>
              </a:ext>
            </a:extLst>
          </p:cNvPr>
          <p:cNvSpPr txBox="1"/>
          <p:nvPr/>
        </p:nvSpPr>
        <p:spPr>
          <a:xfrm>
            <a:off x="5911486" y="731165"/>
            <a:ext cx="1962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073B4C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PROPONENTS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EBADC8B7-E6F2-4DE6-A5B6-756A57DE88DE}"/>
              </a:ext>
            </a:extLst>
          </p:cNvPr>
          <p:cNvSpPr txBox="1"/>
          <p:nvPr/>
        </p:nvSpPr>
        <p:spPr>
          <a:xfrm>
            <a:off x="6572126" y="1848758"/>
            <a:ext cx="1962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118AB2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RATIONALE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5EEE4FEB-1D13-46C0-B11F-64AE2B6474EB}"/>
              </a:ext>
            </a:extLst>
          </p:cNvPr>
          <p:cNvSpPr txBox="1"/>
          <p:nvPr/>
        </p:nvSpPr>
        <p:spPr>
          <a:xfrm>
            <a:off x="6907432" y="3114895"/>
            <a:ext cx="1962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06D6A0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OBJECTIVES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1135AB04-9581-4CE2-8074-1E0A50C351D4}"/>
              </a:ext>
            </a:extLst>
          </p:cNvPr>
          <p:cNvSpPr txBox="1"/>
          <p:nvPr/>
        </p:nvSpPr>
        <p:spPr>
          <a:xfrm>
            <a:off x="7092167" y="4296958"/>
            <a:ext cx="2199185" cy="500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FFD166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SCOPE AND LIMITATION</a:t>
            </a:r>
          </a:p>
          <a:p>
            <a:pPr algn="ctr"/>
            <a:r>
              <a:rPr lang="en-IN" sz="1050" dirty="0">
                <a:latin typeface="Economica" panose="02000506040000020004" pitchFamily="2" charset="0"/>
              </a:rPr>
              <a:t>.</a:t>
            </a:r>
            <a:endParaRPr lang="en-US" sz="1050" dirty="0">
              <a:latin typeface="Economica" panose="02000506040000020004" pitchFamily="2" charset="0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3AC86DB6-6075-4A43-BF54-11BD4D3DC9C1}"/>
              </a:ext>
            </a:extLst>
          </p:cNvPr>
          <p:cNvSpPr txBox="1"/>
          <p:nvPr/>
        </p:nvSpPr>
        <p:spPr>
          <a:xfrm>
            <a:off x="6346044" y="5574858"/>
            <a:ext cx="1962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EF476F"/>
                </a:solidFill>
                <a:latin typeface="Rajdhani bold" panose="02000000000000000000" pitchFamily="2" charset="0"/>
                <a:cs typeface="Rajdhani bold" panose="02000000000000000000" pitchFamily="2" charset="0"/>
              </a:rPr>
              <a:t>METHODOLOGY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A1EDEF-FC10-4312-B134-CA6096982D3B}"/>
              </a:ext>
            </a:extLst>
          </p:cNvPr>
          <p:cNvSpPr/>
          <p:nvPr/>
        </p:nvSpPr>
        <p:spPr>
          <a:xfrm>
            <a:off x="4424075" y="6603896"/>
            <a:ext cx="3608487" cy="2266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DD80F36-C03B-4F05-BC29-FAAA5A9AB63C}"/>
              </a:ext>
            </a:extLst>
          </p:cNvPr>
          <p:cNvSpPr txBox="1"/>
          <p:nvPr/>
        </p:nvSpPr>
        <p:spPr>
          <a:xfrm>
            <a:off x="3786755" y="-1517221"/>
            <a:ext cx="52119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What is the goals of SkoLide?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38081FA-B2BE-4B25-AA68-87E77D42D915}"/>
              </a:ext>
            </a:extLst>
          </p:cNvPr>
          <p:cNvSpPr txBox="1"/>
          <p:nvPr/>
        </p:nvSpPr>
        <p:spPr>
          <a:xfrm>
            <a:off x="2308757" y="-700147"/>
            <a:ext cx="79399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What can SkoLide do, and what are its limit?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BE95920-5CED-480B-BA3F-E01AC8AA84AE}"/>
              </a:ext>
            </a:extLst>
          </p:cNvPr>
          <p:cNvSpPr txBox="1"/>
          <p:nvPr/>
        </p:nvSpPr>
        <p:spPr>
          <a:xfrm>
            <a:off x="4681708" y="7736106"/>
            <a:ext cx="25266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Methodology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7F90328-9A1A-44C6-80E0-397756124F03}"/>
              </a:ext>
            </a:extLst>
          </p:cNvPr>
          <p:cNvSpPr txBox="1"/>
          <p:nvPr/>
        </p:nvSpPr>
        <p:spPr>
          <a:xfrm>
            <a:off x="464502" y="7978454"/>
            <a:ext cx="717973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 fontAlgn="base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Software Development Methodology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</a:pPr>
            <a:endParaRPr lang="en-US" sz="18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Product Backlog Creation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en-US" dirty="0">
              <a:effectLst/>
            </a:endParaRP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Sprint Planning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en-US" dirty="0">
              <a:effectLst/>
            </a:endParaRP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Sprint Backlog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en-US" dirty="0">
              <a:effectLst/>
            </a:endParaRP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Daily Scrum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en-US" dirty="0">
              <a:effectLst/>
            </a:endParaRP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Increment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en-US" dirty="0">
              <a:effectLst/>
            </a:endParaRP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Sprint Review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en-US" dirty="0">
              <a:effectLst/>
            </a:endParaRP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Sprint Retrospective</a:t>
            </a:r>
            <a:endParaRPr lang="en-US" dirty="0">
              <a:effectLst/>
            </a:endParaRP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22232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2013</TotalTime>
  <Words>2143</Words>
  <Application>Microsoft Office PowerPoint</Application>
  <PresentationFormat>Widescreen</PresentationFormat>
  <Paragraphs>440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Anton</vt:lpstr>
      <vt:lpstr>Arial</vt:lpstr>
      <vt:lpstr>Calibri</vt:lpstr>
      <vt:lpstr>Calibri Light</vt:lpstr>
      <vt:lpstr>Economica</vt:lpstr>
      <vt:lpstr>Rajdhani bold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PowerUP with PowerPoint</dc:creator>
  <cp:lastModifiedBy>Matthew Pascua</cp:lastModifiedBy>
  <cp:revision>34</cp:revision>
  <dcterms:created xsi:type="dcterms:W3CDTF">2020-12-26T16:45:56Z</dcterms:created>
  <dcterms:modified xsi:type="dcterms:W3CDTF">2025-05-30T01:25:19Z</dcterms:modified>
</cp:coreProperties>
</file>