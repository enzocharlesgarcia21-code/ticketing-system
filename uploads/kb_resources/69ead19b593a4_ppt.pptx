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A5C37-CA16-59C0-02A9-DC26550D51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09EED5-45D0-F4C9-1543-D4B72295E8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2426E-A2FD-25B3-92DA-FD4ED2AFC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6364E-6569-495B-8645-1951748C04F4}" type="datetimeFigureOut">
              <a:rPr lang="en-PH" smtClean="0"/>
              <a:t>30/08/2025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36DD2-177D-C315-ACE2-1593FD4D6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7065D-AD78-089C-CC00-DAA18C9F4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8A8F-06FD-4AC8-B552-9FCB5284631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06296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A6155-7AB5-FDD0-DC32-1993CB6E8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4818D-260A-6646-7D4B-F999E098E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9BD1F-8B52-7185-B562-9AF6C0C5D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6364E-6569-495B-8645-1951748C04F4}" type="datetimeFigureOut">
              <a:rPr lang="en-PH" smtClean="0"/>
              <a:t>30/08/2025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01D53-09D0-8128-7A85-9217DF33B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A4770-BA14-D9D6-FDBB-F112ACCB0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8A8F-06FD-4AC8-B552-9FCB5284631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00223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E4DE3-831A-A918-4F0C-0FB890FFD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61F670-605C-A0B1-D493-89D0C5A51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E0589-8812-5621-C150-639338B9F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6364E-6569-495B-8645-1951748C04F4}" type="datetimeFigureOut">
              <a:rPr lang="en-PH" smtClean="0"/>
              <a:t>30/08/2025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F9D16-7E3E-A8D4-A330-D33525FBD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E779E-1726-1E4E-214E-84DCDD374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8A8F-06FD-4AC8-B552-9FCB5284631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97401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30450-4EFC-9702-B6D0-B89B506E4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E08A9-7F7E-3092-F01C-8A36E14B5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94F287-3257-A164-9205-43EF76644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AF0FE5-E75F-9C64-CC48-5C82EF74D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6364E-6569-495B-8645-1951748C04F4}" type="datetimeFigureOut">
              <a:rPr lang="en-PH" smtClean="0"/>
              <a:t>30/08/2025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4B8FEE-38CD-F345-D87E-BE6F58E6F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D799A8-3A6A-4FE7-C824-F8B02288C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8A8F-06FD-4AC8-B552-9FCB5284631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52195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F0E44-2D54-FBFA-F934-438E4A30C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CD7FC-883F-8C8E-3C2E-6E4AFA7F1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52791F-9E07-28E1-373A-A60E821613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627310-A6B6-3AD1-96A1-A2E211E971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913AF1-09EC-9E0F-4BE5-F9A8DCE00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D2F611-0921-7841-7485-285C3B719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6364E-6569-495B-8645-1951748C04F4}" type="datetimeFigureOut">
              <a:rPr lang="en-PH" smtClean="0"/>
              <a:t>30/08/2025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F722A0-2925-92B2-0A3A-DDA1D67B8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A17D43-4ECB-7DD1-0025-7A66C7F18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8A8F-06FD-4AC8-B552-9FCB5284631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57058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2636E-36E8-B55D-157A-3379A6641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B22304-2E4F-E53F-B9C8-8C2CAE7F9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6364E-6569-495B-8645-1951748C04F4}" type="datetimeFigureOut">
              <a:rPr lang="en-PH" smtClean="0"/>
              <a:t>30/08/2025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423173-BBD4-8920-D940-90247FB2B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C2334-8EDC-8C37-E7AE-46FCDA409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8A8F-06FD-4AC8-B552-9FCB5284631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6041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B4C913-6A1A-75F5-F2E0-461696419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6364E-6569-495B-8645-1951748C04F4}" type="datetimeFigureOut">
              <a:rPr lang="en-PH" smtClean="0"/>
              <a:t>30/08/2025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358789-1998-19E4-A34C-066810158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24D73-BFAC-FE65-4FCE-58B951141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8A8F-06FD-4AC8-B552-9FCB5284631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84413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74BAD-CBA4-3518-A64F-CC80FF7CE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E93CE-A1BE-120F-15B7-FBF163CF7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C3FEC-BB0E-90B1-7140-2A483D69C0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95AD73-7020-0129-25C3-A85C7941C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6364E-6569-495B-8645-1951748C04F4}" type="datetimeFigureOut">
              <a:rPr lang="en-PH" smtClean="0"/>
              <a:t>30/08/2025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242C0-3CD6-8783-ABE4-8A294902E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37A6A4-2BDA-5F5C-B4A5-585DE79D2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8A8F-06FD-4AC8-B552-9FCB5284631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28084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854B9-C4F9-4622-2B13-589C4EBDB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6C7E1D-3121-032C-2068-425E0FD5CD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84501D-EA09-AD88-54A9-7B257440BE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01D745-EF96-7F6F-1660-BCE7145D9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6364E-6569-495B-8645-1951748C04F4}" type="datetimeFigureOut">
              <a:rPr lang="en-PH" smtClean="0"/>
              <a:t>30/08/2025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BD7D2C-5E8A-B5CB-3D8F-111230CA8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02DC8-78E5-164A-4AD9-D9E99E3DA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8A8F-06FD-4AC8-B552-9FCB5284631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79092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3B8CC-4049-4D63-B822-CD70989CE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CD8F06-2C66-E469-C55B-98A3DD835D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C1C56-0DEF-5E43-253B-CB29C12ED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6364E-6569-495B-8645-1951748C04F4}" type="datetimeFigureOut">
              <a:rPr lang="en-PH" smtClean="0"/>
              <a:t>30/08/2025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757A4-33DF-F48B-B345-B8E83BA4E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F9863-5C88-FBEE-8C87-13D48FECB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8A8F-06FD-4AC8-B552-9FCB5284631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81104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2A7515-83F4-8572-E9B7-19B968338C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CAEC5C-2E99-62AC-260D-9B9AEE1844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161E0-E7FE-8DA9-A14E-3E135B371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6364E-6569-495B-8645-1951748C04F4}" type="datetimeFigureOut">
              <a:rPr lang="en-PH" smtClean="0"/>
              <a:t>30/08/2025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93EFC-82B0-531E-4F6C-DA9F84F56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011C2-4F47-2A68-0A31-7AEC5476A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8A8F-06FD-4AC8-B552-9FCB5284631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81304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7DEA9F-7D50-3278-6D69-97E3B2911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4E6E98-DBE9-FF14-CFDB-B5A66291C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68413-0E7C-F37F-FA6E-DDE0C03AE3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96364E-6569-495B-8645-1951748C04F4}" type="datetimeFigureOut">
              <a:rPr lang="en-PH" smtClean="0"/>
              <a:t>30/08/2025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F8B5E-1547-DFCD-446D-2949F7DA8A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30E3C-E535-AE0D-0AD6-67DA4E49E9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128A8F-06FD-4AC8-B552-9FCB5284631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60015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hoto of Messy Work Desk ,Messy and Cluttered Desk Stock Illustration ...">
            <a:extLst>
              <a:ext uri="{FF2B5EF4-FFF2-40B4-BE49-F238E27FC236}">
                <a16:creationId xmlns:a16="http://schemas.microsoft.com/office/drawing/2014/main" id="{F0EF677E-8BC6-FF8C-646D-BDB5AAEDAE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72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507C1CFF-3064-D755-ACC2-81150F72E704}"/>
              </a:ext>
            </a:extLst>
          </p:cNvPr>
          <p:cNvGrpSpPr/>
          <p:nvPr/>
        </p:nvGrpSpPr>
        <p:grpSpPr>
          <a:xfrm>
            <a:off x="0" y="5353085"/>
            <a:ext cx="12192000" cy="1107997"/>
            <a:chOff x="0" y="4806730"/>
            <a:chExt cx="12192000" cy="1107997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D52EB4C-6C97-DEC7-8ADB-368A593A2BE9}"/>
                </a:ext>
              </a:extLst>
            </p:cNvPr>
            <p:cNvSpPr/>
            <p:nvPr/>
          </p:nvSpPr>
          <p:spPr>
            <a:xfrm>
              <a:off x="375138" y="4806730"/>
              <a:ext cx="11558954" cy="110799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47C1155-F2AF-E286-2CCE-11B753974640}"/>
                </a:ext>
              </a:extLst>
            </p:cNvPr>
            <p:cNvSpPr/>
            <p:nvPr/>
          </p:nvSpPr>
          <p:spPr>
            <a:xfrm>
              <a:off x="0" y="4806731"/>
              <a:ext cx="12192000" cy="110799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6600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Fragmented 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1978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AECAD-6AF5-3C87-F0ED-946C9C1CA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omputer on a desk with papers and papers on it&#10;&#10;AI-generated content may be incorrect.">
            <a:extLst>
              <a:ext uri="{FF2B5EF4-FFF2-40B4-BE49-F238E27FC236}">
                <a16:creationId xmlns:a16="http://schemas.microsoft.com/office/drawing/2014/main" id="{800C0C43-D8E6-A90D-7F80-F7443D0339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55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3CC8B0D5-D1B7-CA5C-BF11-1BD30D4961BF}"/>
              </a:ext>
            </a:extLst>
          </p:cNvPr>
          <p:cNvGrpSpPr/>
          <p:nvPr/>
        </p:nvGrpSpPr>
        <p:grpSpPr>
          <a:xfrm>
            <a:off x="0" y="5353085"/>
            <a:ext cx="12192000" cy="1107997"/>
            <a:chOff x="0" y="4806730"/>
            <a:chExt cx="12192000" cy="110799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41EAA4B-64E1-B52E-5B81-BD164A6B0DDE}"/>
                </a:ext>
              </a:extLst>
            </p:cNvPr>
            <p:cNvSpPr/>
            <p:nvPr/>
          </p:nvSpPr>
          <p:spPr>
            <a:xfrm>
              <a:off x="375138" y="4806730"/>
              <a:ext cx="11558954" cy="110799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9690981-18F0-FC15-CDE7-E8F4F0815508}"/>
                </a:ext>
              </a:extLst>
            </p:cNvPr>
            <p:cNvSpPr/>
            <p:nvPr/>
          </p:nvSpPr>
          <p:spPr>
            <a:xfrm>
              <a:off x="0" y="4806731"/>
              <a:ext cx="12192000" cy="110799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6600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Manual &amp; Paper-based System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06424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91973-E307-0CB1-BBAA-DD06DA152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CD9C84B-3C5F-1187-64C0-B1C9F2A629F4}"/>
              </a:ext>
            </a:extLst>
          </p:cNvPr>
          <p:cNvSpPr/>
          <p:nvPr/>
        </p:nvSpPr>
        <p:spPr>
          <a:xfrm>
            <a:off x="516618" y="710746"/>
            <a:ext cx="60240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Managing Requests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B1DA88F-B5BC-7AB6-A11D-6A377D7AD9E5}"/>
              </a:ext>
            </a:extLst>
          </p:cNvPr>
          <p:cNvSpPr/>
          <p:nvPr/>
        </p:nvSpPr>
        <p:spPr>
          <a:xfrm>
            <a:off x="516618" y="2709427"/>
            <a:ext cx="53875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Tracking Supplies</a:t>
            </a:r>
            <a:endParaRPr lang="en-US" sz="5400" b="0" cap="none" spc="0" dirty="0">
              <a:ln w="0"/>
              <a:solidFill>
                <a:srgbClr val="00B0F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A9A7D1-CFA7-0F32-7C2D-7147D51E268D}"/>
              </a:ext>
            </a:extLst>
          </p:cNvPr>
          <p:cNvSpPr/>
          <p:nvPr/>
        </p:nvSpPr>
        <p:spPr>
          <a:xfrm>
            <a:off x="5257281" y="3879580"/>
            <a:ext cx="693471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Retrieving Documents </a:t>
            </a:r>
            <a:endParaRPr lang="en-US" sz="5400" b="0" cap="none" spc="0" dirty="0">
              <a:ln w="0"/>
              <a:solidFill>
                <a:srgbClr val="00B0F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341BFD-BE56-E006-66F9-D764EF536527}"/>
              </a:ext>
            </a:extLst>
          </p:cNvPr>
          <p:cNvSpPr/>
          <p:nvPr/>
        </p:nvSpPr>
        <p:spPr>
          <a:xfrm>
            <a:off x="926059" y="5579702"/>
            <a:ext cx="1033988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SLOW AND PRONE TO MISTAKES</a:t>
            </a:r>
            <a:endParaRPr lang="en-US" sz="5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DFF862-1CBF-187C-F31D-912846625D0B}"/>
              </a:ext>
            </a:extLst>
          </p:cNvPr>
          <p:cNvSpPr/>
          <p:nvPr/>
        </p:nvSpPr>
        <p:spPr>
          <a:xfrm>
            <a:off x="6540703" y="1728878"/>
            <a:ext cx="547093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Keeping Records</a:t>
            </a:r>
            <a:endParaRPr lang="en-US" sz="5400" b="0" cap="none" spc="0" dirty="0">
              <a:ln w="0"/>
              <a:solidFill>
                <a:srgbClr val="00B0F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502785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E8E7F-8BFB-0784-8F64-AC09D56D5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56235D0-221B-5172-9F1D-42B1455314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06" b="1764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0636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01720-73FD-6F95-A7D5-F7B878A07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57F26B1-9F19-4384-3F44-F607A97C4CB5}"/>
              </a:ext>
            </a:extLst>
          </p:cNvPr>
          <p:cNvSpPr/>
          <p:nvPr/>
        </p:nvSpPr>
        <p:spPr>
          <a:xfrm>
            <a:off x="295315" y="710746"/>
            <a:ext cx="6466706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Delays in Processing </a:t>
            </a:r>
            <a:br>
              <a:rPr lang="en-US" sz="5400" b="0" cap="none" spc="0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sz="5400" b="0" cap="none" spc="0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Requests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E3BAD26-BE1F-0956-CD90-9715C9F9E0E4}"/>
              </a:ext>
            </a:extLst>
          </p:cNvPr>
          <p:cNvSpPr/>
          <p:nvPr/>
        </p:nvSpPr>
        <p:spPr>
          <a:xfrm>
            <a:off x="180358" y="2967335"/>
            <a:ext cx="609275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Duplicated Records</a:t>
            </a:r>
            <a:endParaRPr lang="en-US" sz="5400" b="0" cap="none" spc="0" dirty="0">
              <a:ln w="0"/>
              <a:solidFill>
                <a:srgbClr val="00B0F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EBE935-AB9E-7003-9C8F-EDC15E4E57A0}"/>
              </a:ext>
            </a:extLst>
          </p:cNvPr>
          <p:cNvSpPr/>
          <p:nvPr/>
        </p:nvSpPr>
        <p:spPr>
          <a:xfrm>
            <a:off x="6273116" y="4039671"/>
            <a:ext cx="49556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Inaccurate Data</a:t>
            </a:r>
            <a:endParaRPr lang="en-US" sz="5400" b="0" cap="none" spc="0" dirty="0">
              <a:ln w="0"/>
              <a:solidFill>
                <a:srgbClr val="00B0F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B8CB98-2B6C-4C17-240E-2B8B18E3364C}"/>
              </a:ext>
            </a:extLst>
          </p:cNvPr>
          <p:cNvSpPr/>
          <p:nvPr/>
        </p:nvSpPr>
        <p:spPr>
          <a:xfrm>
            <a:off x="6540703" y="1728878"/>
            <a:ext cx="5470939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Documents Misplaced</a:t>
            </a:r>
            <a:endParaRPr lang="en-US" sz="5400" b="0" cap="none" spc="0" dirty="0">
              <a:ln w="0"/>
              <a:solidFill>
                <a:srgbClr val="00B0F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57F921-DC5C-8A06-FB69-2213E7220DF0}"/>
              </a:ext>
            </a:extLst>
          </p:cNvPr>
          <p:cNvSpPr/>
          <p:nvPr/>
        </p:nvSpPr>
        <p:spPr>
          <a:xfrm>
            <a:off x="180358" y="5465264"/>
            <a:ext cx="1184761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MISALLOCATION OF DOCUMENTS</a:t>
            </a:r>
            <a:endParaRPr lang="en-US" sz="5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212271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B2715-BCD5-49B6-2BE5-4403F550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58CE34C-A770-7FB2-D2C2-E880B170D295}"/>
              </a:ext>
            </a:extLst>
          </p:cNvPr>
          <p:cNvSpPr/>
          <p:nvPr/>
        </p:nvSpPr>
        <p:spPr>
          <a:xfrm>
            <a:off x="2232529" y="469406"/>
            <a:ext cx="7743274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Difficulty Tracking and</a:t>
            </a:r>
            <a:br>
              <a:rPr lang="en-US" sz="5400" b="0" cap="none" spc="0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sz="5400" b="0" cap="none" spc="0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Monitoring Supply Levels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9DD7BC-77EF-5E27-A01E-7447FCFC05B9}"/>
              </a:ext>
            </a:extLst>
          </p:cNvPr>
          <p:cNvSpPr/>
          <p:nvPr/>
        </p:nvSpPr>
        <p:spPr>
          <a:xfrm>
            <a:off x="180358" y="5465264"/>
            <a:ext cx="1184761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SHORTAGES OR OVERSTOCKING</a:t>
            </a:r>
            <a:endParaRPr lang="en-US" sz="5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121550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A52BF-D6FF-0C8B-7C3D-E6C71CF75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E8AD7BB-C094-EA5E-A38D-08C2797C2B5B}"/>
              </a:ext>
            </a:extLst>
          </p:cNvPr>
          <p:cNvSpPr/>
          <p:nvPr/>
        </p:nvSpPr>
        <p:spPr>
          <a:xfrm>
            <a:off x="28548" y="710746"/>
            <a:ext cx="700025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Reduced Transparency</a:t>
            </a:r>
            <a:endParaRPr lang="en-US" sz="5400" b="0" cap="none" spc="0" dirty="0">
              <a:ln w="0"/>
              <a:solidFill>
                <a:srgbClr val="00B0F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E2B60D6-55C8-F19C-7EA8-B00AAEF10DCB}"/>
              </a:ext>
            </a:extLst>
          </p:cNvPr>
          <p:cNvSpPr/>
          <p:nvPr/>
        </p:nvSpPr>
        <p:spPr>
          <a:xfrm>
            <a:off x="180358" y="2967335"/>
            <a:ext cx="609275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Duplicated Records</a:t>
            </a:r>
            <a:endParaRPr lang="en-US" sz="5400" b="0" cap="none" spc="0" dirty="0">
              <a:ln w="0"/>
              <a:solidFill>
                <a:srgbClr val="00B0F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2F8000-888C-A637-30D2-E4E903024D67}"/>
              </a:ext>
            </a:extLst>
          </p:cNvPr>
          <p:cNvSpPr/>
          <p:nvPr/>
        </p:nvSpPr>
        <p:spPr>
          <a:xfrm>
            <a:off x="6273116" y="4039671"/>
            <a:ext cx="49556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Inaccurate Data</a:t>
            </a:r>
            <a:endParaRPr lang="en-US" sz="5400" b="0" cap="none" spc="0" dirty="0">
              <a:ln w="0"/>
              <a:solidFill>
                <a:srgbClr val="00B0F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78EEAC-2731-1E89-1182-5BA7E2F85FD4}"/>
              </a:ext>
            </a:extLst>
          </p:cNvPr>
          <p:cNvSpPr/>
          <p:nvPr/>
        </p:nvSpPr>
        <p:spPr>
          <a:xfrm>
            <a:off x="6540703" y="1728878"/>
            <a:ext cx="547093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Accountability</a:t>
            </a:r>
            <a:endParaRPr lang="en-US" sz="5400" b="0" cap="none" spc="0" dirty="0">
              <a:ln w="0"/>
              <a:solidFill>
                <a:srgbClr val="00B0F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9C5B56-4F09-B8E7-163F-005648D25DCD}"/>
              </a:ext>
            </a:extLst>
          </p:cNvPr>
          <p:cNvSpPr/>
          <p:nvPr/>
        </p:nvSpPr>
        <p:spPr>
          <a:xfrm>
            <a:off x="180358" y="5465264"/>
            <a:ext cx="1184761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DIFFICULT AUDIT ACTIVITIES</a:t>
            </a:r>
            <a:endParaRPr lang="en-US" sz="5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418178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8EA97-42B0-EA80-06D7-FABD4EC8A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E059AAA-7088-55DD-8262-EBE72B59AA16}"/>
              </a:ext>
            </a:extLst>
          </p:cNvPr>
          <p:cNvSpPr/>
          <p:nvPr/>
        </p:nvSpPr>
        <p:spPr>
          <a:xfrm>
            <a:off x="0" y="1723292"/>
            <a:ext cx="11887200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lower</a:t>
            </a:r>
            <a:r>
              <a:rPr lang="en-US" sz="540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5400" b="1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productivity</a:t>
            </a:r>
            <a:r>
              <a:rPr lang="en-US" sz="540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and </a:t>
            </a:r>
            <a:r>
              <a:rPr lang="en-US" sz="5400" b="1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inefficiency</a:t>
            </a:r>
            <a:r>
              <a:rPr lang="en-US" sz="540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in office operations, limiting the ability of the City Agriculture Office to effectively serve its community.</a:t>
            </a:r>
            <a:endParaRPr lang="en-US" sz="5400" b="0" cap="none" spc="0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083871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PH" sz="1200"/>
          </a:p>
        </p:txBody>
      </p:sp>
      <p:grpSp>
        <p:nvGrpSpPr>
          <p:cNvPr id="3" name="Group 3"/>
          <p:cNvGrpSpPr/>
          <p:nvPr/>
        </p:nvGrpSpPr>
        <p:grpSpPr>
          <a:xfrm>
            <a:off x="685800" y="972491"/>
            <a:ext cx="10820400" cy="5199709"/>
            <a:chOff x="0" y="0"/>
            <a:chExt cx="4274726" cy="205420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054206"/>
            </a:xfrm>
            <a:custGeom>
              <a:avLst/>
              <a:gdLst/>
              <a:ahLst/>
              <a:cxnLst/>
              <a:rect l="l" t="t" r="r" b="b"/>
              <a:pathLst>
                <a:path w="4274726" h="2054206">
                  <a:moveTo>
                    <a:pt x="0" y="0"/>
                  </a:moveTo>
                  <a:lnTo>
                    <a:pt x="4274726" y="0"/>
                  </a:lnTo>
                  <a:lnTo>
                    <a:pt x="4274726" y="2054206"/>
                  </a:lnTo>
                  <a:lnTo>
                    <a:pt x="0" y="2054206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</p:spPr>
          <p:txBody>
            <a:bodyPr/>
            <a:lstStyle/>
            <a:p>
              <a:endParaRPr lang="en-PH" sz="120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74726" cy="209230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15572" y="1609087"/>
            <a:ext cx="8960857" cy="1166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64"/>
              </a:lnSpc>
            </a:pPr>
            <a:r>
              <a:rPr lang="en-US" sz="9064" b="1" spc="-453" dirty="0">
                <a:solidFill>
                  <a:srgbClr val="006838"/>
                </a:solidFill>
                <a:latin typeface="Inter Bold"/>
                <a:ea typeface="Inter Bold"/>
                <a:cs typeface="Inter Bold"/>
                <a:sym typeface="Inter Bold"/>
              </a:rPr>
              <a:t>AgriSys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59464" y="3635846"/>
            <a:ext cx="8516964" cy="1795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6"/>
              </a:lnSpc>
            </a:pPr>
            <a:r>
              <a:rPr lang="en-US" sz="3466" b="1" spc="693" dirty="0">
                <a:solidFill>
                  <a:srgbClr val="171A18"/>
                </a:solidFill>
                <a:latin typeface="Inter Bold"/>
                <a:ea typeface="Inter Bold"/>
                <a:cs typeface="Inter Bold"/>
                <a:sym typeface="Inter Bold"/>
              </a:rPr>
              <a:t>A DECISION SUPPORT SYSTEM WITH DESCRIPTIVE ANALYTICS FOR CITY AGRICULTURE OFFICES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777" b="-4777"/>
            </a:stretch>
          </a:blipFill>
        </p:spPr>
        <p:txBody>
          <a:bodyPr/>
          <a:lstStyle/>
          <a:p>
            <a:endParaRPr lang="en-PH" sz="1200"/>
          </a:p>
        </p:txBody>
      </p:sp>
      <p:grpSp>
        <p:nvGrpSpPr>
          <p:cNvPr id="3" name="Group 3"/>
          <p:cNvGrpSpPr/>
          <p:nvPr/>
        </p:nvGrpSpPr>
        <p:grpSpPr>
          <a:xfrm>
            <a:off x="1028700" y="972491"/>
            <a:ext cx="10820400" cy="5199709"/>
            <a:chOff x="0" y="0"/>
            <a:chExt cx="4274726" cy="205420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054206"/>
            </a:xfrm>
            <a:custGeom>
              <a:avLst/>
              <a:gdLst/>
              <a:ahLst/>
              <a:cxnLst/>
              <a:rect l="l" t="t" r="r" b="b"/>
              <a:pathLst>
                <a:path w="4274726" h="2054206">
                  <a:moveTo>
                    <a:pt x="0" y="0"/>
                  </a:moveTo>
                  <a:lnTo>
                    <a:pt x="4274726" y="0"/>
                  </a:lnTo>
                  <a:lnTo>
                    <a:pt x="4274726" y="2054206"/>
                  </a:lnTo>
                  <a:lnTo>
                    <a:pt x="0" y="2054206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</p:spPr>
          <p:txBody>
            <a:bodyPr/>
            <a:lstStyle/>
            <a:p>
              <a:endParaRPr lang="en-PH" sz="120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74726" cy="209230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972491"/>
            <a:ext cx="5692669" cy="5199709"/>
            <a:chOff x="0" y="0"/>
            <a:chExt cx="1322915" cy="12083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22915" cy="1208356"/>
            </a:xfrm>
            <a:custGeom>
              <a:avLst/>
              <a:gdLst/>
              <a:ahLst/>
              <a:cxnLst/>
              <a:rect l="l" t="t" r="r" b="b"/>
              <a:pathLst>
                <a:path w="1322915" h="1208356">
                  <a:moveTo>
                    <a:pt x="0" y="0"/>
                  </a:moveTo>
                  <a:lnTo>
                    <a:pt x="1322915" y="0"/>
                  </a:lnTo>
                  <a:lnTo>
                    <a:pt x="1322915" y="1208356"/>
                  </a:lnTo>
                  <a:lnTo>
                    <a:pt x="0" y="1208356"/>
                  </a:lnTo>
                  <a:close/>
                </a:path>
              </a:pathLst>
            </a:custGeom>
            <a:blipFill>
              <a:blip r:embed="rId3"/>
              <a:stretch>
                <a:fillRect t="-4740" b="-4740"/>
              </a:stretch>
            </a:blipFill>
          </p:spPr>
          <p:txBody>
            <a:bodyPr/>
            <a:lstStyle/>
            <a:p>
              <a:endParaRPr lang="en-PH" sz="1200"/>
            </a:p>
          </p:txBody>
        </p:sp>
      </p:grpSp>
      <p:sp>
        <p:nvSpPr>
          <p:cNvPr id="8" name="Freeform 8"/>
          <p:cNvSpPr/>
          <p:nvPr/>
        </p:nvSpPr>
        <p:spPr>
          <a:xfrm>
            <a:off x="6649391" y="972491"/>
            <a:ext cx="5199709" cy="5199709"/>
          </a:xfrm>
          <a:custGeom>
            <a:avLst/>
            <a:gdLst/>
            <a:ahLst/>
            <a:cxnLst/>
            <a:rect l="l" t="t" r="r" b="b"/>
            <a:pathLst>
              <a:path w="7799564" h="7799564">
                <a:moveTo>
                  <a:pt x="0" y="0"/>
                </a:moveTo>
                <a:lnTo>
                  <a:pt x="7799564" y="0"/>
                </a:lnTo>
                <a:lnTo>
                  <a:pt x="7799564" y="7799564"/>
                </a:lnTo>
                <a:lnTo>
                  <a:pt x="0" y="77995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H" sz="1200"/>
          </a:p>
        </p:txBody>
      </p:sp>
      <p:grpSp>
        <p:nvGrpSpPr>
          <p:cNvPr id="9" name="Group 9"/>
          <p:cNvGrpSpPr/>
          <p:nvPr/>
        </p:nvGrpSpPr>
        <p:grpSpPr>
          <a:xfrm>
            <a:off x="1028700" y="972491"/>
            <a:ext cx="10820400" cy="5199709"/>
            <a:chOff x="0" y="0"/>
            <a:chExt cx="4274726" cy="205420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74726" cy="2054206"/>
            </a:xfrm>
            <a:custGeom>
              <a:avLst/>
              <a:gdLst/>
              <a:ahLst/>
              <a:cxnLst/>
              <a:rect l="l" t="t" r="r" b="b"/>
              <a:pathLst>
                <a:path w="4274726" h="2054206">
                  <a:moveTo>
                    <a:pt x="0" y="0"/>
                  </a:moveTo>
                  <a:lnTo>
                    <a:pt x="4274726" y="0"/>
                  </a:lnTo>
                  <a:lnTo>
                    <a:pt x="4274726" y="2054206"/>
                  </a:lnTo>
                  <a:lnTo>
                    <a:pt x="0" y="2054206"/>
                  </a:lnTo>
                  <a:close/>
                </a:path>
              </a:pathLst>
            </a:custGeom>
            <a:solidFill>
              <a:srgbClr val="1E4541">
                <a:alpha val="4706"/>
              </a:srgbClr>
            </a:solidFill>
          </p:spPr>
          <p:txBody>
            <a:bodyPr/>
            <a:lstStyle/>
            <a:p>
              <a:endParaRPr lang="en-PH" sz="120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274726" cy="209230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PH" sz="1200"/>
          </a:p>
        </p:txBody>
      </p:sp>
      <p:grpSp>
        <p:nvGrpSpPr>
          <p:cNvPr id="3" name="Group 3"/>
          <p:cNvGrpSpPr/>
          <p:nvPr/>
        </p:nvGrpSpPr>
        <p:grpSpPr>
          <a:xfrm>
            <a:off x="0" y="685800"/>
            <a:ext cx="5857433" cy="2401949"/>
            <a:chOff x="0" y="0"/>
            <a:chExt cx="1361204" cy="5581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61204" cy="558187"/>
            </a:xfrm>
            <a:custGeom>
              <a:avLst/>
              <a:gdLst/>
              <a:ahLst/>
              <a:cxnLst/>
              <a:rect l="l" t="t" r="r" b="b"/>
              <a:pathLst>
                <a:path w="1361204" h="558187">
                  <a:moveTo>
                    <a:pt x="0" y="0"/>
                  </a:moveTo>
                  <a:lnTo>
                    <a:pt x="1361204" y="0"/>
                  </a:lnTo>
                  <a:lnTo>
                    <a:pt x="1361204" y="558187"/>
                  </a:lnTo>
                  <a:lnTo>
                    <a:pt x="0" y="558187"/>
                  </a:lnTo>
                  <a:close/>
                </a:path>
              </a:pathLst>
            </a:custGeom>
            <a:blipFill>
              <a:blip r:embed="rId3"/>
              <a:stretch>
                <a:fillRect t="-31236" b="-31236"/>
              </a:stretch>
            </a:blipFill>
          </p:spPr>
          <p:txBody>
            <a:bodyPr/>
            <a:lstStyle/>
            <a:p>
              <a:endParaRPr lang="en-PH" sz="12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096000" y="685800"/>
            <a:ext cx="6096000" cy="2401949"/>
            <a:chOff x="0" y="0"/>
            <a:chExt cx="1416645" cy="55818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16645" cy="558187"/>
            </a:xfrm>
            <a:custGeom>
              <a:avLst/>
              <a:gdLst/>
              <a:ahLst/>
              <a:cxnLst/>
              <a:rect l="l" t="t" r="r" b="b"/>
              <a:pathLst>
                <a:path w="1416645" h="558187">
                  <a:moveTo>
                    <a:pt x="0" y="0"/>
                  </a:moveTo>
                  <a:lnTo>
                    <a:pt x="1416645" y="0"/>
                  </a:lnTo>
                  <a:lnTo>
                    <a:pt x="1416645" y="558187"/>
                  </a:lnTo>
                  <a:lnTo>
                    <a:pt x="0" y="558187"/>
                  </a:lnTo>
                  <a:close/>
                </a:path>
              </a:pathLst>
            </a:custGeom>
            <a:blipFill>
              <a:blip r:embed="rId4"/>
              <a:stretch>
                <a:fillRect t="-21379" b="-21379"/>
              </a:stretch>
            </a:blipFill>
          </p:spPr>
          <p:txBody>
            <a:bodyPr/>
            <a:lstStyle/>
            <a:p>
              <a:endParaRPr lang="en-PH" sz="12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85800" y="307383"/>
            <a:ext cx="10820400" cy="6366035"/>
            <a:chOff x="0" y="0"/>
            <a:chExt cx="4274726" cy="251497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74726" cy="2514977"/>
            </a:xfrm>
            <a:custGeom>
              <a:avLst/>
              <a:gdLst/>
              <a:ahLst/>
              <a:cxnLst/>
              <a:rect l="l" t="t" r="r" b="b"/>
              <a:pathLst>
                <a:path w="4274726" h="2514977">
                  <a:moveTo>
                    <a:pt x="0" y="0"/>
                  </a:moveTo>
                  <a:lnTo>
                    <a:pt x="4274726" y="0"/>
                  </a:lnTo>
                  <a:lnTo>
                    <a:pt x="4274726" y="2514977"/>
                  </a:lnTo>
                  <a:lnTo>
                    <a:pt x="0" y="2514977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</p:spPr>
          <p:txBody>
            <a:bodyPr/>
            <a:lstStyle/>
            <a:p>
              <a:endParaRPr lang="en-PH" sz="120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274726" cy="255307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39946" y="1189491"/>
            <a:ext cx="8712109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02"/>
              </a:lnSpc>
            </a:pPr>
            <a:r>
              <a:rPr lang="en-US" sz="5202" b="1" spc="-260" dirty="0">
                <a:solidFill>
                  <a:srgbClr val="006838"/>
                </a:solidFill>
                <a:latin typeface="Inter Bold"/>
                <a:ea typeface="Inter Bold"/>
                <a:cs typeface="Inter Bold"/>
                <a:sym typeface="Inter Bold"/>
              </a:rPr>
              <a:t>Statement of the Problem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3651" y="1980327"/>
            <a:ext cx="9945088" cy="395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00"/>
              </a:lnSpc>
            </a:pPr>
            <a:r>
              <a:rPr lang="en-US" sz="2785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1. What are the common challenges encountered by </a:t>
            </a:r>
            <a:r>
              <a:rPr lang="en-US" sz="2785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CAgO</a:t>
            </a:r>
            <a:r>
              <a:rPr lang="en-US" sz="2785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in terms of:</a:t>
            </a:r>
          </a:p>
          <a:p>
            <a:pPr>
              <a:lnSpc>
                <a:spcPts val="3900"/>
              </a:lnSpc>
            </a:pPr>
            <a:endParaRPr lang="en-US" sz="2785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>
              <a:lnSpc>
                <a:spcPts val="3900"/>
              </a:lnSpc>
            </a:pPr>
            <a:r>
              <a:rPr lang="en-US" sz="2785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1.1.Manual Request Processing</a:t>
            </a:r>
          </a:p>
          <a:p>
            <a:pPr>
              <a:lnSpc>
                <a:spcPts val="3900"/>
              </a:lnSpc>
            </a:pPr>
            <a:r>
              <a:rPr lang="en-US" sz="2785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1.2.Record-Keeping</a:t>
            </a:r>
          </a:p>
          <a:p>
            <a:pPr>
              <a:lnSpc>
                <a:spcPts val="3900"/>
              </a:lnSpc>
            </a:pPr>
            <a:r>
              <a:rPr lang="en-US" sz="2785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1.3.Document Retrieval</a:t>
            </a:r>
          </a:p>
          <a:p>
            <a:pPr>
              <a:lnSpc>
                <a:spcPts val="3900"/>
              </a:lnSpc>
            </a:pPr>
            <a:r>
              <a:rPr lang="en-US" sz="2785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1.4.Supplies Dispersal</a:t>
            </a:r>
          </a:p>
          <a:p>
            <a:pPr>
              <a:lnSpc>
                <a:spcPts val="3900"/>
              </a:lnSpc>
            </a:pPr>
            <a:r>
              <a:rPr lang="en-US" sz="2785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1.5.Agricultural Supply Management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C667D-E1A2-5B06-1125-849D3A56B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F36DA8B-E6BB-BE07-3DF2-60E704CB5B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PH" sz="120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B4E9974-340C-451B-4747-31B6C1EE06A1}"/>
              </a:ext>
            </a:extLst>
          </p:cNvPr>
          <p:cNvGrpSpPr/>
          <p:nvPr/>
        </p:nvGrpSpPr>
        <p:grpSpPr>
          <a:xfrm>
            <a:off x="0" y="685800"/>
            <a:ext cx="5857433" cy="2401949"/>
            <a:chOff x="0" y="0"/>
            <a:chExt cx="1361204" cy="55818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1F38237-49A8-6143-B4F5-60FCF7A37FF4}"/>
                </a:ext>
              </a:extLst>
            </p:cNvPr>
            <p:cNvSpPr/>
            <p:nvPr/>
          </p:nvSpPr>
          <p:spPr>
            <a:xfrm>
              <a:off x="0" y="0"/>
              <a:ext cx="1361204" cy="558187"/>
            </a:xfrm>
            <a:custGeom>
              <a:avLst/>
              <a:gdLst/>
              <a:ahLst/>
              <a:cxnLst/>
              <a:rect l="l" t="t" r="r" b="b"/>
              <a:pathLst>
                <a:path w="1361204" h="558187">
                  <a:moveTo>
                    <a:pt x="0" y="0"/>
                  </a:moveTo>
                  <a:lnTo>
                    <a:pt x="1361204" y="0"/>
                  </a:lnTo>
                  <a:lnTo>
                    <a:pt x="1361204" y="558187"/>
                  </a:lnTo>
                  <a:lnTo>
                    <a:pt x="0" y="558187"/>
                  </a:lnTo>
                  <a:close/>
                </a:path>
              </a:pathLst>
            </a:custGeom>
            <a:blipFill>
              <a:blip r:embed="rId3"/>
              <a:stretch>
                <a:fillRect t="-31236" b="-31236"/>
              </a:stretch>
            </a:blipFill>
          </p:spPr>
          <p:txBody>
            <a:bodyPr/>
            <a:lstStyle/>
            <a:p>
              <a:endParaRPr lang="en-PH" sz="12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36B2CB88-B14D-058B-CAB1-447B00C75D77}"/>
              </a:ext>
            </a:extLst>
          </p:cNvPr>
          <p:cNvGrpSpPr/>
          <p:nvPr/>
        </p:nvGrpSpPr>
        <p:grpSpPr>
          <a:xfrm>
            <a:off x="6096000" y="685800"/>
            <a:ext cx="6096000" cy="2401949"/>
            <a:chOff x="0" y="0"/>
            <a:chExt cx="1416645" cy="5581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CDC817B-911E-38C2-57AE-3F8F2FA4FD3E}"/>
                </a:ext>
              </a:extLst>
            </p:cNvPr>
            <p:cNvSpPr/>
            <p:nvPr/>
          </p:nvSpPr>
          <p:spPr>
            <a:xfrm>
              <a:off x="0" y="0"/>
              <a:ext cx="1416645" cy="558187"/>
            </a:xfrm>
            <a:custGeom>
              <a:avLst/>
              <a:gdLst/>
              <a:ahLst/>
              <a:cxnLst/>
              <a:rect l="l" t="t" r="r" b="b"/>
              <a:pathLst>
                <a:path w="1416645" h="558187">
                  <a:moveTo>
                    <a:pt x="0" y="0"/>
                  </a:moveTo>
                  <a:lnTo>
                    <a:pt x="1416645" y="0"/>
                  </a:lnTo>
                  <a:lnTo>
                    <a:pt x="1416645" y="558187"/>
                  </a:lnTo>
                  <a:lnTo>
                    <a:pt x="0" y="558187"/>
                  </a:lnTo>
                  <a:close/>
                </a:path>
              </a:pathLst>
            </a:custGeom>
            <a:blipFill>
              <a:blip r:embed="rId4"/>
              <a:stretch>
                <a:fillRect t="-21379" b="-21379"/>
              </a:stretch>
            </a:blipFill>
          </p:spPr>
          <p:txBody>
            <a:bodyPr/>
            <a:lstStyle/>
            <a:p>
              <a:endParaRPr lang="en-PH" sz="1200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8EF46C3F-BD90-B082-297E-157436516EB7}"/>
              </a:ext>
            </a:extLst>
          </p:cNvPr>
          <p:cNvGrpSpPr/>
          <p:nvPr/>
        </p:nvGrpSpPr>
        <p:grpSpPr>
          <a:xfrm>
            <a:off x="685800" y="307383"/>
            <a:ext cx="10820400" cy="6366035"/>
            <a:chOff x="0" y="0"/>
            <a:chExt cx="4274726" cy="251497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2B07B5A-DF3C-CB79-3845-B72614927EF3}"/>
                </a:ext>
              </a:extLst>
            </p:cNvPr>
            <p:cNvSpPr/>
            <p:nvPr/>
          </p:nvSpPr>
          <p:spPr>
            <a:xfrm>
              <a:off x="0" y="0"/>
              <a:ext cx="4274726" cy="2514977"/>
            </a:xfrm>
            <a:custGeom>
              <a:avLst/>
              <a:gdLst/>
              <a:ahLst/>
              <a:cxnLst/>
              <a:rect l="l" t="t" r="r" b="b"/>
              <a:pathLst>
                <a:path w="4274726" h="2514977">
                  <a:moveTo>
                    <a:pt x="0" y="0"/>
                  </a:moveTo>
                  <a:lnTo>
                    <a:pt x="4274726" y="0"/>
                  </a:lnTo>
                  <a:lnTo>
                    <a:pt x="4274726" y="2514977"/>
                  </a:lnTo>
                  <a:lnTo>
                    <a:pt x="0" y="2514977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</p:spPr>
          <p:txBody>
            <a:bodyPr/>
            <a:lstStyle/>
            <a:p>
              <a:endParaRPr lang="en-PH" sz="1200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EFB2F616-CB1B-04D9-5772-9E039247AC16}"/>
                </a:ext>
              </a:extLst>
            </p:cNvPr>
            <p:cNvSpPr txBox="1"/>
            <p:nvPr/>
          </p:nvSpPr>
          <p:spPr>
            <a:xfrm>
              <a:off x="0" y="-38100"/>
              <a:ext cx="4274726" cy="255307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1467B8DC-2223-956F-3959-ECEBE97C2729}"/>
              </a:ext>
            </a:extLst>
          </p:cNvPr>
          <p:cNvSpPr txBox="1"/>
          <p:nvPr/>
        </p:nvSpPr>
        <p:spPr>
          <a:xfrm>
            <a:off x="1739946" y="1189491"/>
            <a:ext cx="8712109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02"/>
              </a:lnSpc>
            </a:pPr>
            <a:r>
              <a:rPr lang="en-US" sz="5202" b="1" spc="-260" dirty="0">
                <a:solidFill>
                  <a:srgbClr val="006838"/>
                </a:solidFill>
                <a:latin typeface="Inter Bold"/>
                <a:ea typeface="Inter Bold"/>
                <a:cs typeface="Inter Bold"/>
                <a:sym typeface="Inter Bold"/>
              </a:rPr>
              <a:t>Statement of the Problem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7793999-5B77-E247-9664-3CFE49C20B77}"/>
              </a:ext>
            </a:extLst>
          </p:cNvPr>
          <p:cNvSpPr txBox="1"/>
          <p:nvPr/>
        </p:nvSpPr>
        <p:spPr>
          <a:xfrm>
            <a:off x="1053651" y="1980327"/>
            <a:ext cx="9945088" cy="4957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00"/>
              </a:lnSpc>
            </a:pPr>
            <a:r>
              <a:rPr lang="en-US" sz="2785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2. What are the major features that are perceived important by the respondents?</a:t>
            </a:r>
          </a:p>
          <a:p>
            <a:pPr>
              <a:lnSpc>
                <a:spcPts val="3900"/>
              </a:lnSpc>
            </a:pPr>
            <a:endParaRPr lang="en-US" sz="2785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>
              <a:lnSpc>
                <a:spcPts val="3900"/>
              </a:lnSpc>
            </a:pPr>
            <a:r>
              <a:rPr lang="en-US" sz="2785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3. What is the level of satisfaction of the City Agriculture Office regarding AgriSys in terms of the ISO/IEC 25010:2023 quality characteristics? </a:t>
            </a:r>
          </a:p>
          <a:p>
            <a:pPr>
              <a:lnSpc>
                <a:spcPts val="3900"/>
              </a:lnSpc>
            </a:pPr>
            <a:r>
              <a:rPr lang="en-US" sz="2785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3.1.	Functional Suitability 	3.4.	Reliability </a:t>
            </a:r>
          </a:p>
          <a:p>
            <a:pPr>
              <a:lnSpc>
                <a:spcPts val="3900"/>
              </a:lnSpc>
            </a:pPr>
            <a:r>
              <a:rPr lang="en-US" sz="2785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3.2.	Interaction Capability 	3.5.	Performance Efficiency</a:t>
            </a:r>
          </a:p>
          <a:p>
            <a:pPr>
              <a:lnSpc>
                <a:spcPts val="3900"/>
              </a:lnSpc>
            </a:pPr>
            <a:r>
              <a:rPr lang="en-US" sz="2785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3.3.	Security </a:t>
            </a:r>
          </a:p>
          <a:p>
            <a:pPr>
              <a:lnSpc>
                <a:spcPts val="3900"/>
              </a:lnSpc>
            </a:pPr>
            <a:endParaRPr lang="en-US" sz="2785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315875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1EF42-18D5-F1C1-AC38-3AEDBC936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F7D7A29-F616-AADB-A30E-B2BB7FD7D1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PH" sz="120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F6C9B38-40C2-6361-095C-94D69AC98763}"/>
              </a:ext>
            </a:extLst>
          </p:cNvPr>
          <p:cNvGrpSpPr/>
          <p:nvPr/>
        </p:nvGrpSpPr>
        <p:grpSpPr>
          <a:xfrm>
            <a:off x="0" y="685800"/>
            <a:ext cx="5857433" cy="2401949"/>
            <a:chOff x="0" y="0"/>
            <a:chExt cx="1361204" cy="55818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66B4B18-54C9-4EBD-BAF6-11592B42AFDC}"/>
                </a:ext>
              </a:extLst>
            </p:cNvPr>
            <p:cNvSpPr/>
            <p:nvPr/>
          </p:nvSpPr>
          <p:spPr>
            <a:xfrm>
              <a:off x="0" y="0"/>
              <a:ext cx="1361204" cy="558187"/>
            </a:xfrm>
            <a:custGeom>
              <a:avLst/>
              <a:gdLst/>
              <a:ahLst/>
              <a:cxnLst/>
              <a:rect l="l" t="t" r="r" b="b"/>
              <a:pathLst>
                <a:path w="1361204" h="558187">
                  <a:moveTo>
                    <a:pt x="0" y="0"/>
                  </a:moveTo>
                  <a:lnTo>
                    <a:pt x="1361204" y="0"/>
                  </a:lnTo>
                  <a:lnTo>
                    <a:pt x="1361204" y="558187"/>
                  </a:lnTo>
                  <a:lnTo>
                    <a:pt x="0" y="558187"/>
                  </a:lnTo>
                  <a:close/>
                </a:path>
              </a:pathLst>
            </a:custGeom>
            <a:blipFill>
              <a:blip r:embed="rId3"/>
              <a:stretch>
                <a:fillRect t="-31236" b="-31236"/>
              </a:stretch>
            </a:blipFill>
          </p:spPr>
          <p:txBody>
            <a:bodyPr/>
            <a:lstStyle/>
            <a:p>
              <a:endParaRPr lang="en-PH" sz="12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C7135E64-5C3D-F0E3-3B2E-7B9E3A0F93A3}"/>
              </a:ext>
            </a:extLst>
          </p:cNvPr>
          <p:cNvGrpSpPr/>
          <p:nvPr/>
        </p:nvGrpSpPr>
        <p:grpSpPr>
          <a:xfrm>
            <a:off x="6096000" y="685800"/>
            <a:ext cx="6096000" cy="2401949"/>
            <a:chOff x="0" y="0"/>
            <a:chExt cx="1416645" cy="5581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FB783C2-31CE-B7F2-DDB4-18F6EF44F4A9}"/>
                </a:ext>
              </a:extLst>
            </p:cNvPr>
            <p:cNvSpPr/>
            <p:nvPr/>
          </p:nvSpPr>
          <p:spPr>
            <a:xfrm>
              <a:off x="0" y="0"/>
              <a:ext cx="1416645" cy="558187"/>
            </a:xfrm>
            <a:custGeom>
              <a:avLst/>
              <a:gdLst/>
              <a:ahLst/>
              <a:cxnLst/>
              <a:rect l="l" t="t" r="r" b="b"/>
              <a:pathLst>
                <a:path w="1416645" h="558187">
                  <a:moveTo>
                    <a:pt x="0" y="0"/>
                  </a:moveTo>
                  <a:lnTo>
                    <a:pt x="1416645" y="0"/>
                  </a:lnTo>
                  <a:lnTo>
                    <a:pt x="1416645" y="558187"/>
                  </a:lnTo>
                  <a:lnTo>
                    <a:pt x="0" y="558187"/>
                  </a:lnTo>
                  <a:close/>
                </a:path>
              </a:pathLst>
            </a:custGeom>
            <a:blipFill>
              <a:blip r:embed="rId4"/>
              <a:stretch>
                <a:fillRect t="-21379" b="-21379"/>
              </a:stretch>
            </a:blipFill>
          </p:spPr>
          <p:txBody>
            <a:bodyPr/>
            <a:lstStyle/>
            <a:p>
              <a:endParaRPr lang="en-PH" sz="1200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42629BAD-77C4-D4A2-65F0-91C801EE8121}"/>
              </a:ext>
            </a:extLst>
          </p:cNvPr>
          <p:cNvGrpSpPr/>
          <p:nvPr/>
        </p:nvGrpSpPr>
        <p:grpSpPr>
          <a:xfrm>
            <a:off x="685800" y="307383"/>
            <a:ext cx="10820400" cy="6366035"/>
            <a:chOff x="0" y="0"/>
            <a:chExt cx="4274726" cy="251497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104C6C7-5BAF-0162-6C93-4D406A8EAA3D}"/>
                </a:ext>
              </a:extLst>
            </p:cNvPr>
            <p:cNvSpPr/>
            <p:nvPr/>
          </p:nvSpPr>
          <p:spPr>
            <a:xfrm>
              <a:off x="0" y="0"/>
              <a:ext cx="4274726" cy="2514977"/>
            </a:xfrm>
            <a:custGeom>
              <a:avLst/>
              <a:gdLst/>
              <a:ahLst/>
              <a:cxnLst/>
              <a:rect l="l" t="t" r="r" b="b"/>
              <a:pathLst>
                <a:path w="4274726" h="2514977">
                  <a:moveTo>
                    <a:pt x="0" y="0"/>
                  </a:moveTo>
                  <a:lnTo>
                    <a:pt x="4274726" y="0"/>
                  </a:lnTo>
                  <a:lnTo>
                    <a:pt x="4274726" y="2514977"/>
                  </a:lnTo>
                  <a:lnTo>
                    <a:pt x="0" y="2514977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</p:spPr>
          <p:txBody>
            <a:bodyPr/>
            <a:lstStyle/>
            <a:p>
              <a:endParaRPr lang="en-PH" sz="1200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15672BFB-DBCF-432A-3FD4-9C4C31D411A1}"/>
                </a:ext>
              </a:extLst>
            </p:cNvPr>
            <p:cNvSpPr txBox="1"/>
            <p:nvPr/>
          </p:nvSpPr>
          <p:spPr>
            <a:xfrm>
              <a:off x="0" y="-38100"/>
              <a:ext cx="4274726" cy="255307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2201AA3B-0390-D4E6-D787-BCF5A3134187}"/>
              </a:ext>
            </a:extLst>
          </p:cNvPr>
          <p:cNvSpPr txBox="1"/>
          <p:nvPr/>
        </p:nvSpPr>
        <p:spPr>
          <a:xfrm>
            <a:off x="1739945" y="501218"/>
            <a:ext cx="8712109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02"/>
              </a:lnSpc>
            </a:pPr>
            <a:r>
              <a:rPr lang="en-US" sz="5202" b="1" spc="-260" dirty="0">
                <a:solidFill>
                  <a:srgbClr val="006838"/>
                </a:solidFill>
                <a:latin typeface="Inter Bold"/>
                <a:ea typeface="Inter Bold"/>
                <a:cs typeface="Inter Bold"/>
                <a:sym typeface="Inter Bold"/>
              </a:rPr>
              <a:t>Expected Output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6AC4E68-A361-FDC8-216D-4BD26B60EA44}"/>
              </a:ext>
            </a:extLst>
          </p:cNvPr>
          <p:cNvSpPr txBox="1"/>
          <p:nvPr/>
        </p:nvSpPr>
        <p:spPr>
          <a:xfrm>
            <a:off x="1209039" y="1168067"/>
            <a:ext cx="10177877" cy="54720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39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</a:rPr>
              <a:t>Digitalized and centralized data management system</a:t>
            </a:r>
          </a:p>
          <a:p>
            <a:pPr algn="just">
              <a:lnSpc>
                <a:spcPts val="3900"/>
              </a:lnSpc>
            </a:pPr>
            <a:endParaRPr lang="en-US" sz="2800" b="1" dirty="0"/>
          </a:p>
          <a:p>
            <a:pPr marL="457200" indent="-457200" algn="just">
              <a:lnSpc>
                <a:spcPts val="39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</a:rPr>
              <a:t>Enhanced Record Keeping</a:t>
            </a:r>
          </a:p>
          <a:p>
            <a:pPr algn="just">
              <a:lnSpc>
                <a:spcPts val="3900"/>
              </a:lnSpc>
            </a:pPr>
            <a:endParaRPr lang="en-US" sz="2800" b="1" dirty="0"/>
          </a:p>
          <a:p>
            <a:pPr marL="457200" indent="-457200" algn="just">
              <a:lnSpc>
                <a:spcPts val="39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</a:rPr>
              <a:t>Real-time tracking and monitoring of agricultural supply stock levels</a:t>
            </a:r>
          </a:p>
          <a:p>
            <a:pPr algn="just">
              <a:lnSpc>
                <a:spcPts val="3900"/>
              </a:lnSpc>
            </a:pPr>
            <a:endParaRPr lang="en-US" sz="2800" b="1" dirty="0"/>
          </a:p>
          <a:p>
            <a:pPr marL="457200" indent="-457200" algn="just">
              <a:lnSpc>
                <a:spcPts val="39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</a:rPr>
              <a:t>Efficient processing and tracking of requests for agricultural inputs</a:t>
            </a:r>
          </a:p>
          <a:p>
            <a:pPr algn="just">
              <a:lnSpc>
                <a:spcPts val="3900"/>
              </a:lnSpc>
            </a:pPr>
            <a:endParaRPr lang="en-US" sz="2800" b="1" dirty="0"/>
          </a:p>
          <a:p>
            <a:pPr marL="457200" indent="-457200" algn="just">
              <a:lnSpc>
                <a:spcPts val="39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</a:rPr>
              <a:t>Improved data accuracy, consistency and transparency</a:t>
            </a:r>
            <a:endParaRPr lang="en-US" sz="2785" b="1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02514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4CC7B-7752-5373-3451-5DD75FECC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22C3D32-5E75-472E-7BF3-CE651F30C0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PH" sz="120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016F310-2D49-FA19-7194-D7FCC3B1EA12}"/>
              </a:ext>
            </a:extLst>
          </p:cNvPr>
          <p:cNvGrpSpPr/>
          <p:nvPr/>
        </p:nvGrpSpPr>
        <p:grpSpPr>
          <a:xfrm>
            <a:off x="0" y="685800"/>
            <a:ext cx="5857433" cy="2401949"/>
            <a:chOff x="0" y="0"/>
            <a:chExt cx="1361204" cy="55818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F67369D-3933-8C7B-E811-8B216FF3A52C}"/>
                </a:ext>
              </a:extLst>
            </p:cNvPr>
            <p:cNvSpPr/>
            <p:nvPr/>
          </p:nvSpPr>
          <p:spPr>
            <a:xfrm>
              <a:off x="0" y="0"/>
              <a:ext cx="1361204" cy="558187"/>
            </a:xfrm>
            <a:custGeom>
              <a:avLst/>
              <a:gdLst/>
              <a:ahLst/>
              <a:cxnLst/>
              <a:rect l="l" t="t" r="r" b="b"/>
              <a:pathLst>
                <a:path w="1361204" h="558187">
                  <a:moveTo>
                    <a:pt x="0" y="0"/>
                  </a:moveTo>
                  <a:lnTo>
                    <a:pt x="1361204" y="0"/>
                  </a:lnTo>
                  <a:lnTo>
                    <a:pt x="1361204" y="558187"/>
                  </a:lnTo>
                  <a:lnTo>
                    <a:pt x="0" y="558187"/>
                  </a:lnTo>
                  <a:close/>
                </a:path>
              </a:pathLst>
            </a:custGeom>
            <a:blipFill>
              <a:blip r:embed="rId3"/>
              <a:stretch>
                <a:fillRect t="-31236" b="-31236"/>
              </a:stretch>
            </a:blipFill>
          </p:spPr>
          <p:txBody>
            <a:bodyPr/>
            <a:lstStyle/>
            <a:p>
              <a:endParaRPr lang="en-PH" sz="12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23E2ACB5-2983-60F7-0799-93FBDF12A2C0}"/>
              </a:ext>
            </a:extLst>
          </p:cNvPr>
          <p:cNvGrpSpPr/>
          <p:nvPr/>
        </p:nvGrpSpPr>
        <p:grpSpPr>
          <a:xfrm>
            <a:off x="6096000" y="685800"/>
            <a:ext cx="6096000" cy="2401949"/>
            <a:chOff x="0" y="0"/>
            <a:chExt cx="1416645" cy="5581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39EE4B7-E832-39E5-71A8-BC62EF5C26A5}"/>
                </a:ext>
              </a:extLst>
            </p:cNvPr>
            <p:cNvSpPr/>
            <p:nvPr/>
          </p:nvSpPr>
          <p:spPr>
            <a:xfrm>
              <a:off x="0" y="0"/>
              <a:ext cx="1416645" cy="558187"/>
            </a:xfrm>
            <a:custGeom>
              <a:avLst/>
              <a:gdLst/>
              <a:ahLst/>
              <a:cxnLst/>
              <a:rect l="l" t="t" r="r" b="b"/>
              <a:pathLst>
                <a:path w="1416645" h="558187">
                  <a:moveTo>
                    <a:pt x="0" y="0"/>
                  </a:moveTo>
                  <a:lnTo>
                    <a:pt x="1416645" y="0"/>
                  </a:lnTo>
                  <a:lnTo>
                    <a:pt x="1416645" y="558187"/>
                  </a:lnTo>
                  <a:lnTo>
                    <a:pt x="0" y="558187"/>
                  </a:lnTo>
                  <a:close/>
                </a:path>
              </a:pathLst>
            </a:custGeom>
            <a:blipFill>
              <a:blip r:embed="rId4"/>
              <a:stretch>
                <a:fillRect t="-21379" b="-21379"/>
              </a:stretch>
            </a:blipFill>
          </p:spPr>
          <p:txBody>
            <a:bodyPr/>
            <a:lstStyle/>
            <a:p>
              <a:endParaRPr lang="en-PH" sz="1200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EB0E92B4-4BDB-330F-E07F-ED8E6292727D}"/>
              </a:ext>
            </a:extLst>
          </p:cNvPr>
          <p:cNvGrpSpPr/>
          <p:nvPr/>
        </p:nvGrpSpPr>
        <p:grpSpPr>
          <a:xfrm>
            <a:off x="685800" y="307383"/>
            <a:ext cx="10820400" cy="6366035"/>
            <a:chOff x="0" y="0"/>
            <a:chExt cx="4274726" cy="251497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0A253EE5-F1F6-CB60-51AD-BC8351C74059}"/>
                </a:ext>
              </a:extLst>
            </p:cNvPr>
            <p:cNvSpPr/>
            <p:nvPr/>
          </p:nvSpPr>
          <p:spPr>
            <a:xfrm>
              <a:off x="0" y="0"/>
              <a:ext cx="4274726" cy="2514977"/>
            </a:xfrm>
            <a:custGeom>
              <a:avLst/>
              <a:gdLst/>
              <a:ahLst/>
              <a:cxnLst/>
              <a:rect l="l" t="t" r="r" b="b"/>
              <a:pathLst>
                <a:path w="4274726" h="2514977">
                  <a:moveTo>
                    <a:pt x="0" y="0"/>
                  </a:moveTo>
                  <a:lnTo>
                    <a:pt x="4274726" y="0"/>
                  </a:lnTo>
                  <a:lnTo>
                    <a:pt x="4274726" y="2514977"/>
                  </a:lnTo>
                  <a:lnTo>
                    <a:pt x="0" y="2514977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</p:spPr>
          <p:txBody>
            <a:bodyPr/>
            <a:lstStyle/>
            <a:p>
              <a:endParaRPr lang="en-PH" sz="1200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3E96F84D-DEA3-09FA-34D0-1F99FB1986D1}"/>
                </a:ext>
              </a:extLst>
            </p:cNvPr>
            <p:cNvSpPr txBox="1"/>
            <p:nvPr/>
          </p:nvSpPr>
          <p:spPr>
            <a:xfrm>
              <a:off x="0" y="-38100"/>
              <a:ext cx="4274726" cy="255307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E2C2899D-7B56-F813-045F-6D8A45CBE9BB}"/>
              </a:ext>
            </a:extLst>
          </p:cNvPr>
          <p:cNvSpPr txBox="1"/>
          <p:nvPr/>
        </p:nvSpPr>
        <p:spPr>
          <a:xfrm>
            <a:off x="1739945" y="3087748"/>
            <a:ext cx="9222695" cy="6928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02"/>
              </a:lnSpc>
            </a:pPr>
            <a:r>
              <a:rPr lang="en-US" sz="6600" b="1" spc="-260" dirty="0">
                <a:solidFill>
                  <a:srgbClr val="006838"/>
                </a:solidFill>
                <a:latin typeface="Inter Bold"/>
                <a:ea typeface="Inter Bold"/>
                <a:cs typeface="Inter Bold"/>
                <a:sym typeface="Inter Bold"/>
              </a:rPr>
              <a:t>System Demonstration</a:t>
            </a:r>
          </a:p>
        </p:txBody>
      </p:sp>
    </p:spTree>
    <p:extLst>
      <p:ext uri="{BB962C8B-B14F-4D97-AF65-F5344CB8AC3E}">
        <p14:creationId xmlns:p14="http://schemas.microsoft.com/office/powerpoint/2010/main" val="1829562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240</Words>
  <Application>Microsoft Office PowerPoint</Application>
  <PresentationFormat>Widescreen</PresentationFormat>
  <Paragraphs>48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Inter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Arvy M. Viado</dc:creator>
  <cp:lastModifiedBy>Arvy M. Viado</cp:lastModifiedBy>
  <cp:revision>1</cp:revision>
  <dcterms:created xsi:type="dcterms:W3CDTF">2025-08-29T23:35:30Z</dcterms:created>
  <dcterms:modified xsi:type="dcterms:W3CDTF">2025-08-30T01:05:30Z</dcterms:modified>
</cp:coreProperties>
</file>